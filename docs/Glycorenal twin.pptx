
<file path=[Content_Types].xml><?xml version="1.0" encoding="utf-8"?>
<Types xmlns="http://schemas.openxmlformats.org/package/2006/content-types">
  <Default Extension="jpg" ContentType="image/jpg"/>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charts/chart1.xml" ContentType="application/vnd.openxmlformats-officedocument.drawingml.chart+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3"/>
  </p:notesMasterIdLst>
  <p:sldIdLst>
    <p:sldId id="256" r:id="rId2"/>
    <p:sldId id="257" r:id="rId3"/>
    <p:sldId id="258" r:id="rId4"/>
    <p:sldId id="259" r:id="rId5"/>
    <p:sldId id="260" r:id="rId6"/>
    <p:sldId id="261" r:id="rId7"/>
    <p:sldId id="262" r:id="rId8"/>
    <p:sldId id="263" r:id="rId9"/>
    <p:sldId id="264" r:id="rId10"/>
    <p:sldId id="265" r:id="rId11"/>
    <p:sldId id="266" r:id="rId12"/>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987" autoAdjust="0"/>
    <p:restoredTop sz="94610"/>
  </p:normalViewPr>
  <p:slideViewPr>
    <p:cSldViewPr snapToGrid="0" snapToObjects="1">
      <p:cViewPr varScale="1">
        <p:scale>
          <a:sx n="94" d="100"/>
          <a:sy n="94" d="100"/>
        </p:scale>
        <p:origin x="226" y="86"/>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notesMaster" Target="notesMasters/notesMaster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viewProps" Target="viewProp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presProps" Target="presProps.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Worksheet.xlsx"/></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title>
      <c:tx>
        <c:rich>
          <a:bodyPr/>
          <a:lstStyle/>
          <a:p>
            <a:pPr>
              <a:defRPr sz="1100" b="0" i="0" u="none" strike="noStrike">
                <a:solidFill>
                  <a:srgbClr val="1B3A5C"/>
                </a:solidFill>
                <a:latin typeface="+mn-lt"/>
              </a:defRPr>
            </a:pPr>
            <a:r>
              <a:rPr lang="en-US" sz="1100" b="0" i="0" u="none" strike="noStrike">
                <a:solidFill>
                  <a:srgbClr val="1B3A5C"/>
                </a:solidFill>
                <a:latin typeface="+mn-lt"/>
              </a:rPr>
              <a:t>AUROC (teal: real patients, orange: synthetic)</a:t>
            </a:r>
          </a:p>
        </c:rich>
      </c:tx>
      <c:overlay val="0"/>
    </c:title>
    <c:autoTitleDeleted val="0"/>
    <c:plotArea>
      <c:layout/>
      <c:barChart>
        <c:barDir val="bar"/>
        <c:grouping val="clustered"/>
        <c:varyColors val="0"/>
        <c:ser>
          <c:idx val="0"/>
          <c:order val="0"/>
          <c:tx>
            <c:strRef>
              <c:f>Sheet1!$B$1</c:f>
              <c:strCache>
                <c:ptCount val="1"/>
                <c:pt idx="0">
                  <c:v>AUROC</c:v>
                </c:pt>
              </c:strCache>
            </c:strRef>
          </c:tx>
          <c:spPr>
            <a:solidFill>
              <a:srgbClr val="E9712F"/>
            </a:solidFill>
            <a:effectLst/>
          </c:spPr>
          <c:invertIfNegative val="0"/>
          <c:dPt>
            <c:idx val="0"/>
            <c:invertIfNegative val="0"/>
            <c:bubble3D val="0"/>
            <c:extLst>
              <c:ext xmlns:c16="http://schemas.microsoft.com/office/drawing/2014/chart" uri="{C3380CC4-5D6E-409C-BE32-E72D297353CC}">
                <c16:uniqueId val="{00000001-5D2D-47F9-8958-430B49DAAD2C}"/>
              </c:ext>
            </c:extLst>
          </c:dPt>
          <c:dPt>
            <c:idx val="1"/>
            <c:invertIfNegative val="0"/>
            <c:bubble3D val="0"/>
            <c:extLst>
              <c:ext xmlns:c16="http://schemas.microsoft.com/office/drawing/2014/chart" uri="{C3380CC4-5D6E-409C-BE32-E72D297353CC}">
                <c16:uniqueId val="{00000003-5D2D-47F9-8958-430B49DAAD2C}"/>
              </c:ext>
            </c:extLst>
          </c:dPt>
          <c:dPt>
            <c:idx val="2"/>
            <c:invertIfNegative val="0"/>
            <c:bubble3D val="0"/>
            <c:extLst>
              <c:ext xmlns:c16="http://schemas.microsoft.com/office/drawing/2014/chart" uri="{C3380CC4-5D6E-409C-BE32-E72D297353CC}">
                <c16:uniqueId val="{00000005-5D2D-47F9-8958-430B49DAAD2C}"/>
              </c:ext>
            </c:extLst>
          </c:dPt>
          <c:dPt>
            <c:idx val="3"/>
            <c:invertIfNegative val="0"/>
            <c:bubble3D val="0"/>
            <c:spPr>
              <a:solidFill>
                <a:srgbClr val="0F5B66"/>
              </a:solidFill>
              <a:effectLst/>
            </c:spPr>
            <c:extLst>
              <c:ext xmlns:c16="http://schemas.microsoft.com/office/drawing/2014/chart" uri="{C3380CC4-5D6E-409C-BE32-E72D297353CC}">
                <c16:uniqueId val="{00000007-5D2D-47F9-8958-430B49DAAD2C}"/>
              </c:ext>
            </c:extLst>
          </c:dPt>
          <c:dPt>
            <c:idx val="4"/>
            <c:invertIfNegative val="0"/>
            <c:bubble3D val="0"/>
            <c:spPr>
              <a:solidFill>
                <a:srgbClr val="0F5B66"/>
              </a:solidFill>
              <a:effectLst/>
            </c:spPr>
            <c:extLst>
              <c:ext xmlns:c16="http://schemas.microsoft.com/office/drawing/2014/chart" uri="{C3380CC4-5D6E-409C-BE32-E72D297353CC}">
                <c16:uniqueId val="{00000009-5D2D-47F9-8958-430B49DAAD2C}"/>
              </c:ext>
            </c:extLst>
          </c:dPt>
          <c:dPt>
            <c:idx val="5"/>
            <c:invertIfNegative val="0"/>
            <c:bubble3D val="0"/>
            <c:spPr>
              <a:solidFill>
                <a:srgbClr val="0F5B66"/>
              </a:solidFill>
              <a:effectLst/>
            </c:spPr>
            <c:extLst>
              <c:ext xmlns:c16="http://schemas.microsoft.com/office/drawing/2014/chart" uri="{C3380CC4-5D6E-409C-BE32-E72D297353CC}">
                <c16:uniqueId val="{0000000B-5D2D-47F9-8958-430B49DAAD2C}"/>
              </c:ext>
            </c:extLst>
          </c:dPt>
          <c:dLbls>
            <c:numFmt formatCode="0.00" sourceLinked="0"/>
            <c:spPr>
              <a:noFill/>
              <a:ln>
                <a:noFill/>
              </a:ln>
              <a:effectLst/>
            </c:spPr>
            <c:txPr>
              <a:bodyPr/>
              <a:lstStyle/>
              <a:p>
                <a:pPr>
                  <a:defRPr sz="1000" b="0" i="0" u="none" strike="noStrike">
                    <a:solidFill>
                      <a:srgbClr val="1F2A37"/>
                    </a:solidFill>
                    <a:latin typeface="+mn-lt"/>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Sheet1!$A$2:$A$7</c:f>
              <c:strCache>
                <c:ptCount val="6"/>
                <c:pt idx="0">
                  <c:v>spike_90m (synthetic)</c:v>
                </c:pt>
                <c:pt idx="1">
                  <c:v>progression (synthetic)</c:v>
                </c:pt>
                <c:pt idx="2">
                  <c:v>onset (synthetic)</c:v>
                </c:pt>
                <c:pt idx="3">
                  <c:v>progression, UCI India</c:v>
                </c:pt>
                <c:pt idx="4">
                  <c:v>current, Asian subgroup</c:v>
                </c:pt>
                <c:pt idx="5">
                  <c:v>current, NHANES</c:v>
                </c:pt>
              </c:strCache>
            </c:strRef>
          </c:cat>
          <c:val>
            <c:numRef>
              <c:f>Sheet1!$B$2:$B$7</c:f>
              <c:numCache>
                <c:formatCode>General</c:formatCode>
                <c:ptCount val="6"/>
                <c:pt idx="0">
                  <c:v>0.97</c:v>
                </c:pt>
                <c:pt idx="1">
                  <c:v>0.87</c:v>
                </c:pt>
                <c:pt idx="2">
                  <c:v>0.9</c:v>
                </c:pt>
                <c:pt idx="3">
                  <c:v>0.93</c:v>
                </c:pt>
                <c:pt idx="4">
                  <c:v>0.68</c:v>
                </c:pt>
                <c:pt idx="5">
                  <c:v>0.72</c:v>
                </c:pt>
              </c:numCache>
            </c:numRef>
          </c:val>
          <c:extLst>
            <c:ext xmlns:c16="http://schemas.microsoft.com/office/drawing/2014/chart" uri="{C3380CC4-5D6E-409C-BE32-E72D297353CC}">
              <c16:uniqueId val="{0000000C-5D2D-47F9-8958-430B49DAAD2C}"/>
            </c:ext>
          </c:extLst>
        </c:ser>
        <c:dLbls>
          <c:showLegendKey val="0"/>
          <c:showVal val="1"/>
          <c:showCatName val="0"/>
          <c:showSerName val="0"/>
          <c:showPercent val="0"/>
          <c:showBubbleSize val="0"/>
        </c:dLbls>
        <c:gapWidth val="55"/>
        <c:axId val="2094734554"/>
        <c:axId val="2094734552"/>
      </c:barChart>
      <c:catAx>
        <c:axId val="2094734554"/>
        <c:scaling>
          <c:orientation val="minMax"/>
        </c:scaling>
        <c:delete val="0"/>
        <c:axPos val="l"/>
        <c:numFmt formatCode="General" sourceLinked="1"/>
        <c:majorTickMark val="out"/>
        <c:minorTickMark val="none"/>
        <c:tickLblPos val="nextTo"/>
        <c:spPr>
          <a:ln w="12700" cap="flat">
            <a:solidFill>
              <a:srgbClr val="888888"/>
            </a:solidFill>
            <a:prstDash val="solid"/>
            <a:round/>
          </a:ln>
        </c:spPr>
        <c:txPr>
          <a:bodyPr/>
          <a:lstStyle/>
          <a:p>
            <a:pPr>
              <a:defRPr sz="950" b="0" i="0" u="none" strike="noStrike">
                <a:solidFill>
                  <a:srgbClr val="52606D"/>
                </a:solidFill>
                <a:latin typeface="+mn-lt"/>
              </a:defRPr>
            </a:pPr>
            <a:endParaRPr lang="en-US"/>
          </a:p>
        </c:txPr>
        <c:crossAx val="2094734552"/>
        <c:crosses val="autoZero"/>
        <c:auto val="1"/>
        <c:lblAlgn val="ctr"/>
        <c:lblOffset val="100"/>
        <c:noMultiLvlLbl val="1"/>
      </c:catAx>
      <c:valAx>
        <c:axId val="2094734552"/>
        <c:scaling>
          <c:orientation val="minMax"/>
          <c:max val="1"/>
          <c:min val="0.5"/>
        </c:scaling>
        <c:delete val="0"/>
        <c:axPos val="b"/>
        <c:majorGridlines>
          <c:spPr>
            <a:ln w="6350" cap="flat">
              <a:solidFill>
                <a:srgbClr val="E5E8EC"/>
              </a:solidFill>
              <a:prstDash val="solid"/>
              <a:round/>
            </a:ln>
          </c:spPr>
        </c:majorGridlines>
        <c:numFmt formatCode="0.0" sourceLinked="0"/>
        <c:majorTickMark val="out"/>
        <c:minorTickMark val="none"/>
        <c:tickLblPos val="low"/>
        <c:spPr>
          <a:ln w="12700" cap="flat">
            <a:solidFill>
              <a:srgbClr val="888888"/>
            </a:solidFill>
            <a:prstDash val="solid"/>
            <a:round/>
          </a:ln>
        </c:spPr>
        <c:txPr>
          <a:bodyPr/>
          <a:lstStyle/>
          <a:p>
            <a:pPr>
              <a:defRPr sz="900" b="0" i="0" u="none" strike="noStrike">
                <a:solidFill>
                  <a:srgbClr val="52606D"/>
                </a:solidFill>
                <a:latin typeface="+mn-lt"/>
              </a:defRPr>
            </a:pPr>
            <a:endParaRPr lang="en-US"/>
          </a:p>
        </c:txPr>
        <c:crossAx val="2094734554"/>
        <c:crosses val="autoZero"/>
        <c:crossBetween val="between"/>
        <c:majorUnit val="0.1"/>
      </c:valAx>
      <c:spPr>
        <a:noFill/>
        <a:ln>
          <a:noFill/>
        </a:ln>
        <a:effectLst/>
      </c:spPr>
    </c:plotArea>
    <c:plotVisOnly val="1"/>
    <c:dispBlanksAs val="span"/>
    <c:showDLblsOverMax val="1"/>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88717103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GlycoRenal Twin: our entry for the Digital Twin Challenge 2026. One model per patient with type 2 diabetes that predicts short-term glucose, 3-month HbA1c and 3-year kidney risk, then simulates treatments on the twin. Decision support only: the clinician decides.</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Six problems with DKD care in T2DM today, and our approach: one twin per patient that joins data sources, predicts glucose and kidney outcomes, simulates treatments and keeps the clinician in charge.</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Nine USPs, each with the screen that shows it. One: EHR and wearables fused to predict a glucose event today and kidney risk over 3 years. Two: spike early warning up to 90 minutes ahead. Three: a progressive twin that learns each patient. Four: doctors test a drug on the twin, using trial results and the patient's history, before prescribing. Five: a working doctor dashboard. Six: device agnostic. Seven: built for India. Eight: clinically grounded and privacy-safe. Nine: the twin watches over the patient like a parent, knowing which foods spike them, how much a walk helps and which dose they missed.</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Four data sources feed the translator, which maps everything to LOINC and stores it in SQLite. The twin state feeds the twin engine: T2DM predictor, DKD predictor, treatment advisor, alerts. Outputs go to the LLM assistant, PDF reports and the Streamlit app. All behind FastAPI with doctor, patient and admin roles. The twin is progressive: it starts at population values and refits every night on the patient's own sensor, meal and lab data, so it becomes more personal over time.</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Nine steps. Ingest: data in, translator, twin state. Predict and simulate: Track A glucose, Track B kidney, treatment advisor. Act and explain: alerts and reminders, AI assistant, screens and PDF reports.</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Each patient gets their own model on top of the population prediction. The glucose twin learns carb sensitivity, peak time and walking effect from the patient's own CGM. The kidney twin updates the eGFR and UACR path with Bayes' rule. Shrinkage means it starts at population values and becomes personal as data accumulates.</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advisor works like a funnel. Start from every option, keep only those eligible under KDIGO 2022 and ADA 2026 rules, simulate each on the twin, rank by kidney-risk reduction, and the clinician prescribes, which creates reminders. For Ramesh, adding dapagliflozin takes 3-year risk from 34% to 20%.</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Six models. Only dkd_current is trained on real patients (NHANES): AUROC 0.72, 0.68 in the Asian subgroup, and progression risk separates CKD on Indian UCI data at 0.93. The rest learn from a synthetic Indian cohort because no open Indian longitudinal dataset exists. Glucose forecast halves the error of a no-change baseline; the spike warning catches 99% of spikes, median 85 minutes ahead. Rebuild pipeline: download_data, nhanes_merge, build_synthetic_cohort, train_models, about 2 minutes plus downloads.</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Doctor side: live monitor during the demo, where a rice lunch pushes glucose to 226 and the forecast shows 284 at +30 minutes. Patients are sorted by kidney risk and every alert lands in one queue. Patient side: Ramesh uses Hindi, Sunita English; one tap switches. Patients see glucose, doses, meals and a guarded assistant. Also: medicines with 7/30-day adherence and My health with numbers vs goals.</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assistant explains the twin and makes no predictions of its own. Kimi first, Gemini fallback, templates if both fail. Only IDs and numbers leave the server. Patient answers pass an English and Hindi guardrail. Engineering: FastAPI + Streamlit, one docker compose command, CI with tests, secret check and the demo dry run. Clinical settings sit in clinical_rules.yaml with a source and verified flag on every block.</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Today we have a working prototype: it predicts sugar spikes and kidney risk, the twin learns each patient over time, and it works with any sensor or hospital system. Next we want to run it in a real Indian hospital, test it with more devices, send WhatsApp and SMS alerts in Hindi and other Indian languages, and get CDSCO approval with data kept in India. It helps hospitals spot high-risk patients early, insurers catch kidney decline while it is cheaper to treat, pharma test ideas on virtual patients, and public health programmes plan outreach for the areas at highest risk. Thank you.</a:t>
            </a:r>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CONTENT_1">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548640"/>
            <a:ext cx="12191695" cy="0"/>
          </a:xfrm>
          <a:prstGeom prst="line">
            <a:avLst/>
          </a:prstGeom>
          <a:noFill/>
          <a:ln w="28575">
            <a:solidFill>
              <a:srgbClr val="1B3A5C"/>
            </a:solidFill>
            <a:prstDash val="solid"/>
          </a:ln>
        </p:spPr>
      </p:sp>
      <p:sp>
        <p:nvSpPr>
          <p:cNvPr id="3" name="Shape 1"/>
          <p:cNvSpPr/>
          <p:nvPr/>
        </p:nvSpPr>
        <p:spPr>
          <a:xfrm>
            <a:off x="0" y="621792"/>
            <a:ext cx="12191695" cy="0"/>
          </a:xfrm>
          <a:prstGeom prst="line">
            <a:avLst/>
          </a:prstGeom>
          <a:noFill/>
          <a:ln w="9525">
            <a:solidFill>
              <a:srgbClr val="2F6DB5"/>
            </a:solidFill>
            <a:prstDash val="solid"/>
          </a:ln>
        </p:spPr>
      </p:sp>
      <p:pic>
        <p:nvPicPr>
          <p:cNvPr id="4" name="Image 0" descr="/home/claude/gr/assets/mark.png"/>
          <p:cNvPicPr>
            <a:picLocks noChangeAspect="1"/>
          </p:cNvPicPr>
          <p:nvPr/>
        </p:nvPicPr>
        <p:blipFill>
          <a:blip r:embed="rId2"/>
          <a:stretch>
            <a:fillRect/>
          </a:stretch>
        </p:blipFill>
        <p:spPr>
          <a:xfrm>
            <a:off x="9436608" y="91440"/>
            <a:ext cx="384048" cy="384048"/>
          </a:xfrm>
          <a:prstGeom prst="rect">
            <a:avLst/>
          </a:prstGeom>
        </p:spPr>
      </p:pic>
      <p:sp>
        <p:nvSpPr>
          <p:cNvPr id="5" name="Text 2"/>
          <p:cNvSpPr/>
          <p:nvPr/>
        </p:nvSpPr>
        <p:spPr>
          <a:xfrm>
            <a:off x="9875520" y="54864"/>
            <a:ext cx="2194560" cy="274320"/>
          </a:xfrm>
          <a:prstGeom prst="rect">
            <a:avLst/>
          </a:prstGeom>
          <a:noFill/>
          <a:ln/>
        </p:spPr>
        <p:txBody>
          <a:bodyPr wrap="square" lIns="0" tIns="0" rIns="0" bIns="0" rtlCol="0" anchor="ctr"/>
          <a:lstStyle/>
          <a:p>
            <a:pPr marL="0" indent="0">
              <a:buNone/>
            </a:pPr>
            <a:r>
              <a:rPr lang="en-US" sz="1500" b="1" dirty="0">
                <a:solidFill>
                  <a:srgbClr val="1B3A5C"/>
                </a:solidFill>
              </a:rPr>
              <a:t>GlycoRenal Twin</a:t>
            </a:r>
            <a:endParaRPr lang="en-US" sz="1500" dirty="0"/>
          </a:p>
        </p:txBody>
      </p:sp>
      <p:sp>
        <p:nvSpPr>
          <p:cNvPr id="6" name="Text 3"/>
          <p:cNvSpPr/>
          <p:nvPr/>
        </p:nvSpPr>
        <p:spPr>
          <a:xfrm>
            <a:off x="9875520" y="310896"/>
            <a:ext cx="2194560" cy="182880"/>
          </a:xfrm>
          <a:prstGeom prst="rect">
            <a:avLst/>
          </a:prstGeom>
          <a:noFill/>
          <a:ln/>
        </p:spPr>
        <p:txBody>
          <a:bodyPr wrap="square" lIns="0" tIns="0" rIns="0" bIns="0" rtlCol="0" anchor="ctr"/>
          <a:lstStyle/>
          <a:p>
            <a:pPr marL="0" indent="0">
              <a:buNone/>
            </a:pPr>
            <a:r>
              <a:rPr lang="en-US" sz="900" dirty="0">
                <a:solidFill>
                  <a:srgbClr val="52606D"/>
                </a:solidFill>
              </a:rPr>
              <a:t>Digital Twin Challenge 2026</a:t>
            </a:r>
            <a:endParaRPr lang="en-US" sz="900" dirty="0"/>
          </a:p>
        </p:txBody>
      </p:sp>
      <p:sp>
        <p:nvSpPr>
          <p:cNvPr id="7" name="Shape 4"/>
          <p:cNvSpPr/>
          <p:nvPr/>
        </p:nvSpPr>
        <p:spPr>
          <a:xfrm>
            <a:off x="0" y="6382512"/>
            <a:ext cx="12191695" cy="475488"/>
          </a:xfrm>
          <a:prstGeom prst="rect">
            <a:avLst/>
          </a:prstGeom>
          <a:solidFill>
            <a:srgbClr val="2F6DB5"/>
          </a:solidFill>
          <a:ln/>
        </p:spPr>
      </p:sp>
      <p:sp>
        <p:nvSpPr>
          <p:cNvPr id="8" name="Text 5"/>
          <p:cNvSpPr/>
          <p:nvPr/>
        </p:nvSpPr>
        <p:spPr>
          <a:xfrm>
            <a:off x="320040" y="6455664"/>
            <a:ext cx="2148840" cy="329184"/>
          </a:xfrm>
          <a:prstGeom prst="roundRect">
            <a:avLst>
              <a:gd name="adj" fmla="val 16667"/>
            </a:avLst>
          </a:prstGeom>
          <a:solidFill>
            <a:srgbClr val="FFFFFF"/>
          </a:solidFill>
          <a:ln w="12700">
            <a:solidFill>
              <a:srgbClr val="FFFFFF"/>
            </a:solidFill>
          </a:ln>
        </p:spPr>
        <p:txBody>
          <a:bodyPr wrap="square" lIns="0" tIns="0" rIns="0" bIns="0" rtlCol="0" anchor="ctr"/>
          <a:lstStyle/>
          <a:p>
            <a:pPr marL="0" indent="0" algn="ctr">
              <a:buNone/>
            </a:pPr>
            <a:r>
              <a:rPr lang="en-US" sz="1100" b="1" dirty="0">
                <a:solidFill>
                  <a:srgbClr val="2F6DB5"/>
                </a:solidFill>
              </a:rPr>
              <a:t>Problem &amp; Approach</a:t>
            </a:r>
            <a:endParaRPr lang="en-US" sz="1100" dirty="0"/>
          </a:p>
        </p:txBody>
      </p:sp>
      <p:sp>
        <p:nvSpPr>
          <p:cNvPr id="9" name="Text 6"/>
          <p:cNvSpPr/>
          <p:nvPr/>
        </p:nvSpPr>
        <p:spPr>
          <a:xfrm>
            <a:off x="2697480" y="6455664"/>
            <a:ext cx="2148840" cy="329184"/>
          </a:xfrm>
          <a:prstGeom prst="roundRect">
            <a:avLst>
              <a:gd name="adj" fmla="val 16667"/>
            </a:avLst>
          </a:prstGeom>
          <a:solidFill>
            <a:srgbClr val="2F6DB5"/>
          </a:solidFill>
          <a:ln w="12700">
            <a:solidFill>
              <a:srgbClr val="FFFFFF"/>
            </a:solidFill>
          </a:ln>
        </p:spPr>
        <p:txBody>
          <a:bodyPr wrap="square" lIns="0" tIns="0" rIns="0" bIns="0" rtlCol="0" anchor="ctr"/>
          <a:lstStyle/>
          <a:p>
            <a:pPr marL="0" indent="0" algn="ctr">
              <a:buNone/>
            </a:pPr>
            <a:r>
              <a:rPr lang="en-US" sz="1100" b="1" dirty="0">
                <a:solidFill>
                  <a:srgbClr val="FFFFFF"/>
                </a:solidFill>
              </a:rPr>
              <a:t>Architecture &amp; Methodology</a:t>
            </a:r>
            <a:endParaRPr lang="en-US" sz="1100" dirty="0"/>
          </a:p>
        </p:txBody>
      </p:sp>
      <p:sp>
        <p:nvSpPr>
          <p:cNvPr id="10" name="Text 7"/>
          <p:cNvSpPr/>
          <p:nvPr/>
        </p:nvSpPr>
        <p:spPr>
          <a:xfrm>
            <a:off x="5074920" y="6455664"/>
            <a:ext cx="2148840" cy="329184"/>
          </a:xfrm>
          <a:prstGeom prst="roundRect">
            <a:avLst>
              <a:gd name="adj" fmla="val 16667"/>
            </a:avLst>
          </a:prstGeom>
          <a:solidFill>
            <a:srgbClr val="2F6DB5"/>
          </a:solidFill>
          <a:ln w="12700">
            <a:solidFill>
              <a:srgbClr val="FFFFFF"/>
            </a:solidFill>
          </a:ln>
        </p:spPr>
        <p:txBody>
          <a:bodyPr wrap="square" lIns="0" tIns="0" rIns="0" bIns="0" rtlCol="0" anchor="ctr"/>
          <a:lstStyle/>
          <a:p>
            <a:pPr marL="0" indent="0" algn="ctr">
              <a:buNone/>
            </a:pPr>
            <a:r>
              <a:rPr lang="en-US" sz="1100" b="1" dirty="0">
                <a:solidFill>
                  <a:srgbClr val="FFFFFF"/>
                </a:solidFill>
              </a:rPr>
              <a:t>Models &amp; Evaluation</a:t>
            </a:r>
            <a:endParaRPr lang="en-US" sz="1100" dirty="0"/>
          </a:p>
        </p:txBody>
      </p:sp>
      <p:sp>
        <p:nvSpPr>
          <p:cNvPr id="11" name="Text 8"/>
          <p:cNvSpPr/>
          <p:nvPr/>
        </p:nvSpPr>
        <p:spPr>
          <a:xfrm>
            <a:off x="7452360" y="6455664"/>
            <a:ext cx="2148840" cy="329184"/>
          </a:xfrm>
          <a:prstGeom prst="roundRect">
            <a:avLst>
              <a:gd name="adj" fmla="val 16667"/>
            </a:avLst>
          </a:prstGeom>
          <a:solidFill>
            <a:srgbClr val="2F6DB5"/>
          </a:solidFill>
          <a:ln w="12700">
            <a:solidFill>
              <a:srgbClr val="FFFFFF"/>
            </a:solidFill>
          </a:ln>
        </p:spPr>
        <p:txBody>
          <a:bodyPr wrap="square" lIns="0" tIns="0" rIns="0" bIns="0" rtlCol="0" anchor="ctr"/>
          <a:lstStyle/>
          <a:p>
            <a:pPr marL="0" indent="0" algn="ctr">
              <a:buNone/>
            </a:pPr>
            <a:r>
              <a:rPr lang="en-US" sz="1100" b="1" dirty="0">
                <a:solidFill>
                  <a:srgbClr val="FFFFFF"/>
                </a:solidFill>
              </a:rPr>
              <a:t>Product &amp; Demo</a:t>
            </a:r>
            <a:endParaRPr lang="en-US" sz="1100" dirty="0"/>
          </a:p>
        </p:txBody>
      </p:sp>
      <p:sp>
        <p:nvSpPr>
          <p:cNvPr id="12" name="Text 9"/>
          <p:cNvSpPr/>
          <p:nvPr/>
        </p:nvSpPr>
        <p:spPr>
          <a:xfrm>
            <a:off x="9829800" y="6455664"/>
            <a:ext cx="2148840" cy="329184"/>
          </a:xfrm>
          <a:prstGeom prst="roundRect">
            <a:avLst>
              <a:gd name="adj" fmla="val 16667"/>
            </a:avLst>
          </a:prstGeom>
          <a:solidFill>
            <a:srgbClr val="2F6DB5"/>
          </a:solidFill>
          <a:ln w="12700">
            <a:solidFill>
              <a:srgbClr val="FFFFFF"/>
            </a:solidFill>
          </a:ln>
        </p:spPr>
        <p:txBody>
          <a:bodyPr wrap="square" lIns="0" tIns="0" rIns="0" bIns="0" rtlCol="0" anchor="ctr"/>
          <a:lstStyle/>
          <a:p>
            <a:pPr marL="0" indent="0" algn="ctr">
              <a:buNone/>
            </a:pPr>
            <a:r>
              <a:rPr lang="en-US" sz="1100" b="1" dirty="0">
                <a:solidFill>
                  <a:srgbClr val="FFFFFF"/>
                </a:solidFill>
              </a:rPr>
              <a:t>Conclusion &amp; Next Steps</a:t>
            </a:r>
            <a:endParaRPr lang="en-US" sz="1100" dirty="0"/>
          </a:p>
        </p:txBody>
      </p:sp>
      <p:sp>
        <p:nvSpPr>
          <p:cNvPr id="13" name="Text 10"/>
          <p:cNvSpPr>
            <a:spLocks noGrp="1"/>
          </p:cNvSpPr>
          <p:nvPr>
            <p:ph type="title" idx="111" hasCustomPrompt="1"/>
          </p:nvPr>
        </p:nvSpPr>
        <p:spPr>
          <a:xfrm>
            <a:off x="384048" y="128016"/>
            <a:ext cx="8686800" cy="566928"/>
          </a:xfrm>
          <a:prstGeom prst="rect">
            <a:avLst/>
          </a:prstGeom>
          <a:noFill/>
          <a:ln/>
        </p:spPr>
        <p:txBody>
          <a:bodyPr wrap="square" rtlCol="0"/>
          <a:lstStyle>
            <a:lvl1pPr marL="0" indent="0" algn="l">
              <a:buNone/>
              <a:defRPr lang="en-US" sz="2600" b="1" dirty="0">
                <a:solidFill>
                  <a:srgbClr val="E9712F"/>
                </a:solidFill>
              </a:defRPr>
            </a:lvl1pPr>
          </a:lstStyle>
          <a:p>
            <a:pPr marL="0" indent="0" algn="l">
              <a:buNone/>
            </a:pPr>
            <a:endParaRPr lang="en-US" sz="2600"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ONTENT_2">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548640"/>
            <a:ext cx="12191695" cy="0"/>
          </a:xfrm>
          <a:prstGeom prst="line">
            <a:avLst/>
          </a:prstGeom>
          <a:noFill/>
          <a:ln w="28575">
            <a:solidFill>
              <a:srgbClr val="1B3A5C"/>
            </a:solidFill>
            <a:prstDash val="solid"/>
          </a:ln>
        </p:spPr>
      </p:sp>
      <p:sp>
        <p:nvSpPr>
          <p:cNvPr id="3" name="Shape 1"/>
          <p:cNvSpPr/>
          <p:nvPr/>
        </p:nvSpPr>
        <p:spPr>
          <a:xfrm>
            <a:off x="0" y="621792"/>
            <a:ext cx="12191695" cy="0"/>
          </a:xfrm>
          <a:prstGeom prst="line">
            <a:avLst/>
          </a:prstGeom>
          <a:noFill/>
          <a:ln w="9525">
            <a:solidFill>
              <a:srgbClr val="2F6DB5"/>
            </a:solidFill>
            <a:prstDash val="solid"/>
          </a:ln>
        </p:spPr>
      </p:sp>
      <p:pic>
        <p:nvPicPr>
          <p:cNvPr id="4" name="Image 0" descr="/home/claude/gr/assets/mark.png"/>
          <p:cNvPicPr>
            <a:picLocks noChangeAspect="1"/>
          </p:cNvPicPr>
          <p:nvPr/>
        </p:nvPicPr>
        <p:blipFill>
          <a:blip r:embed="rId2"/>
          <a:stretch>
            <a:fillRect/>
          </a:stretch>
        </p:blipFill>
        <p:spPr>
          <a:xfrm>
            <a:off x="9436608" y="91440"/>
            <a:ext cx="384048" cy="384048"/>
          </a:xfrm>
          <a:prstGeom prst="rect">
            <a:avLst/>
          </a:prstGeom>
        </p:spPr>
      </p:pic>
      <p:sp>
        <p:nvSpPr>
          <p:cNvPr id="5" name="Text 2"/>
          <p:cNvSpPr/>
          <p:nvPr/>
        </p:nvSpPr>
        <p:spPr>
          <a:xfrm>
            <a:off x="9875520" y="54864"/>
            <a:ext cx="2194560" cy="274320"/>
          </a:xfrm>
          <a:prstGeom prst="rect">
            <a:avLst/>
          </a:prstGeom>
          <a:noFill/>
          <a:ln/>
        </p:spPr>
        <p:txBody>
          <a:bodyPr wrap="square" lIns="0" tIns="0" rIns="0" bIns="0" rtlCol="0" anchor="ctr"/>
          <a:lstStyle/>
          <a:p>
            <a:pPr marL="0" indent="0">
              <a:buNone/>
            </a:pPr>
            <a:r>
              <a:rPr lang="en-US" sz="1500" b="1" dirty="0">
                <a:solidFill>
                  <a:srgbClr val="1B3A5C"/>
                </a:solidFill>
              </a:rPr>
              <a:t>GlycoRenal Twin</a:t>
            </a:r>
            <a:endParaRPr lang="en-US" sz="1500" dirty="0"/>
          </a:p>
        </p:txBody>
      </p:sp>
      <p:sp>
        <p:nvSpPr>
          <p:cNvPr id="6" name="Text 3"/>
          <p:cNvSpPr/>
          <p:nvPr/>
        </p:nvSpPr>
        <p:spPr>
          <a:xfrm>
            <a:off x="9875520" y="310896"/>
            <a:ext cx="2194560" cy="182880"/>
          </a:xfrm>
          <a:prstGeom prst="rect">
            <a:avLst/>
          </a:prstGeom>
          <a:noFill/>
          <a:ln/>
        </p:spPr>
        <p:txBody>
          <a:bodyPr wrap="square" lIns="0" tIns="0" rIns="0" bIns="0" rtlCol="0" anchor="ctr"/>
          <a:lstStyle/>
          <a:p>
            <a:pPr marL="0" indent="0">
              <a:buNone/>
            </a:pPr>
            <a:r>
              <a:rPr lang="en-US" sz="900" dirty="0">
                <a:solidFill>
                  <a:srgbClr val="52606D"/>
                </a:solidFill>
              </a:rPr>
              <a:t>Digital Twin Challenge 2026</a:t>
            </a:r>
            <a:endParaRPr lang="en-US" sz="900" dirty="0"/>
          </a:p>
        </p:txBody>
      </p:sp>
      <p:sp>
        <p:nvSpPr>
          <p:cNvPr id="7" name="Shape 4"/>
          <p:cNvSpPr/>
          <p:nvPr/>
        </p:nvSpPr>
        <p:spPr>
          <a:xfrm>
            <a:off x="0" y="6382512"/>
            <a:ext cx="12191695" cy="475488"/>
          </a:xfrm>
          <a:prstGeom prst="rect">
            <a:avLst/>
          </a:prstGeom>
          <a:solidFill>
            <a:srgbClr val="2F6DB5"/>
          </a:solidFill>
          <a:ln/>
        </p:spPr>
      </p:sp>
      <p:sp>
        <p:nvSpPr>
          <p:cNvPr id="8" name="Text 5"/>
          <p:cNvSpPr/>
          <p:nvPr/>
        </p:nvSpPr>
        <p:spPr>
          <a:xfrm>
            <a:off x="320040" y="6455664"/>
            <a:ext cx="2148840" cy="329184"/>
          </a:xfrm>
          <a:prstGeom prst="roundRect">
            <a:avLst>
              <a:gd name="adj" fmla="val 16667"/>
            </a:avLst>
          </a:prstGeom>
          <a:solidFill>
            <a:srgbClr val="2F6DB5"/>
          </a:solidFill>
          <a:ln w="12700">
            <a:solidFill>
              <a:srgbClr val="FFFFFF"/>
            </a:solidFill>
          </a:ln>
        </p:spPr>
        <p:txBody>
          <a:bodyPr wrap="square" lIns="0" tIns="0" rIns="0" bIns="0" rtlCol="0" anchor="ctr"/>
          <a:lstStyle/>
          <a:p>
            <a:pPr marL="0" indent="0" algn="ctr">
              <a:buNone/>
            </a:pPr>
            <a:r>
              <a:rPr lang="en-US" sz="1100" b="1" dirty="0">
                <a:solidFill>
                  <a:srgbClr val="FFFFFF"/>
                </a:solidFill>
              </a:rPr>
              <a:t>Problem &amp; Approach</a:t>
            </a:r>
            <a:endParaRPr lang="en-US" sz="1100" dirty="0"/>
          </a:p>
        </p:txBody>
      </p:sp>
      <p:sp>
        <p:nvSpPr>
          <p:cNvPr id="9" name="Text 6"/>
          <p:cNvSpPr/>
          <p:nvPr/>
        </p:nvSpPr>
        <p:spPr>
          <a:xfrm>
            <a:off x="2697480" y="6455664"/>
            <a:ext cx="2148840" cy="329184"/>
          </a:xfrm>
          <a:prstGeom prst="roundRect">
            <a:avLst>
              <a:gd name="adj" fmla="val 16667"/>
            </a:avLst>
          </a:prstGeom>
          <a:solidFill>
            <a:srgbClr val="FFFFFF"/>
          </a:solidFill>
          <a:ln w="12700">
            <a:solidFill>
              <a:srgbClr val="FFFFFF"/>
            </a:solidFill>
          </a:ln>
        </p:spPr>
        <p:txBody>
          <a:bodyPr wrap="square" lIns="0" tIns="0" rIns="0" bIns="0" rtlCol="0" anchor="ctr"/>
          <a:lstStyle/>
          <a:p>
            <a:pPr marL="0" indent="0" algn="ctr">
              <a:buNone/>
            </a:pPr>
            <a:r>
              <a:rPr lang="en-US" sz="1100" b="1" dirty="0">
                <a:solidFill>
                  <a:srgbClr val="2F6DB5"/>
                </a:solidFill>
              </a:rPr>
              <a:t>Architecture &amp; Methodology</a:t>
            </a:r>
            <a:endParaRPr lang="en-US" sz="1100" dirty="0"/>
          </a:p>
        </p:txBody>
      </p:sp>
      <p:sp>
        <p:nvSpPr>
          <p:cNvPr id="10" name="Text 7"/>
          <p:cNvSpPr/>
          <p:nvPr/>
        </p:nvSpPr>
        <p:spPr>
          <a:xfrm>
            <a:off x="5074920" y="6455664"/>
            <a:ext cx="2148840" cy="329184"/>
          </a:xfrm>
          <a:prstGeom prst="roundRect">
            <a:avLst>
              <a:gd name="adj" fmla="val 16667"/>
            </a:avLst>
          </a:prstGeom>
          <a:solidFill>
            <a:srgbClr val="2F6DB5"/>
          </a:solidFill>
          <a:ln w="12700">
            <a:solidFill>
              <a:srgbClr val="FFFFFF"/>
            </a:solidFill>
          </a:ln>
        </p:spPr>
        <p:txBody>
          <a:bodyPr wrap="square" lIns="0" tIns="0" rIns="0" bIns="0" rtlCol="0" anchor="ctr"/>
          <a:lstStyle/>
          <a:p>
            <a:pPr marL="0" indent="0" algn="ctr">
              <a:buNone/>
            </a:pPr>
            <a:r>
              <a:rPr lang="en-US" sz="1100" b="1" dirty="0">
                <a:solidFill>
                  <a:srgbClr val="FFFFFF"/>
                </a:solidFill>
              </a:rPr>
              <a:t>Models &amp; Evaluation</a:t>
            </a:r>
            <a:endParaRPr lang="en-US" sz="1100" dirty="0"/>
          </a:p>
        </p:txBody>
      </p:sp>
      <p:sp>
        <p:nvSpPr>
          <p:cNvPr id="11" name="Text 8"/>
          <p:cNvSpPr/>
          <p:nvPr/>
        </p:nvSpPr>
        <p:spPr>
          <a:xfrm>
            <a:off x="7452360" y="6455664"/>
            <a:ext cx="2148840" cy="329184"/>
          </a:xfrm>
          <a:prstGeom prst="roundRect">
            <a:avLst>
              <a:gd name="adj" fmla="val 16667"/>
            </a:avLst>
          </a:prstGeom>
          <a:solidFill>
            <a:srgbClr val="2F6DB5"/>
          </a:solidFill>
          <a:ln w="12700">
            <a:solidFill>
              <a:srgbClr val="FFFFFF"/>
            </a:solidFill>
          </a:ln>
        </p:spPr>
        <p:txBody>
          <a:bodyPr wrap="square" lIns="0" tIns="0" rIns="0" bIns="0" rtlCol="0" anchor="ctr"/>
          <a:lstStyle/>
          <a:p>
            <a:pPr marL="0" indent="0" algn="ctr">
              <a:buNone/>
            </a:pPr>
            <a:r>
              <a:rPr lang="en-US" sz="1100" b="1" dirty="0">
                <a:solidFill>
                  <a:srgbClr val="FFFFFF"/>
                </a:solidFill>
              </a:rPr>
              <a:t>Product &amp; Demo</a:t>
            </a:r>
            <a:endParaRPr lang="en-US" sz="1100" dirty="0"/>
          </a:p>
        </p:txBody>
      </p:sp>
      <p:sp>
        <p:nvSpPr>
          <p:cNvPr id="12" name="Text 9"/>
          <p:cNvSpPr/>
          <p:nvPr/>
        </p:nvSpPr>
        <p:spPr>
          <a:xfrm>
            <a:off x="9829800" y="6455664"/>
            <a:ext cx="2148840" cy="329184"/>
          </a:xfrm>
          <a:prstGeom prst="roundRect">
            <a:avLst>
              <a:gd name="adj" fmla="val 16667"/>
            </a:avLst>
          </a:prstGeom>
          <a:solidFill>
            <a:srgbClr val="2F6DB5"/>
          </a:solidFill>
          <a:ln w="12700">
            <a:solidFill>
              <a:srgbClr val="FFFFFF"/>
            </a:solidFill>
          </a:ln>
        </p:spPr>
        <p:txBody>
          <a:bodyPr wrap="square" lIns="0" tIns="0" rIns="0" bIns="0" rtlCol="0" anchor="ctr"/>
          <a:lstStyle/>
          <a:p>
            <a:pPr marL="0" indent="0" algn="ctr">
              <a:buNone/>
            </a:pPr>
            <a:r>
              <a:rPr lang="en-US" sz="1100" b="1" dirty="0">
                <a:solidFill>
                  <a:srgbClr val="FFFFFF"/>
                </a:solidFill>
              </a:rPr>
              <a:t>Conclusion &amp; Next Steps</a:t>
            </a:r>
            <a:endParaRPr lang="en-US" sz="1100" dirty="0"/>
          </a:p>
        </p:txBody>
      </p:sp>
      <p:sp>
        <p:nvSpPr>
          <p:cNvPr id="13" name="Text 10"/>
          <p:cNvSpPr>
            <a:spLocks noGrp="1"/>
          </p:cNvSpPr>
          <p:nvPr>
            <p:ph type="title" idx="111" hasCustomPrompt="1"/>
          </p:nvPr>
        </p:nvSpPr>
        <p:spPr>
          <a:xfrm>
            <a:off x="384048" y="128016"/>
            <a:ext cx="8686800" cy="566928"/>
          </a:xfrm>
          <a:prstGeom prst="rect">
            <a:avLst/>
          </a:prstGeom>
          <a:noFill/>
          <a:ln/>
        </p:spPr>
        <p:txBody>
          <a:bodyPr wrap="square" rtlCol="0"/>
          <a:lstStyle>
            <a:lvl1pPr marL="0" indent="0" algn="l">
              <a:buNone/>
              <a:defRPr lang="en-US" sz="2600" b="1" dirty="0">
                <a:solidFill>
                  <a:srgbClr val="E9712F"/>
                </a:solidFill>
              </a:defRPr>
            </a:lvl1pPr>
          </a:lstStyle>
          <a:p>
            <a:pPr marL="0" indent="0" algn="l">
              <a:buNone/>
            </a:pPr>
            <a:endParaRPr lang="en-US" sz="2600" dirty="0"/>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CONTENT_3">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548640"/>
            <a:ext cx="12191695" cy="0"/>
          </a:xfrm>
          <a:prstGeom prst="line">
            <a:avLst/>
          </a:prstGeom>
          <a:noFill/>
          <a:ln w="28575">
            <a:solidFill>
              <a:srgbClr val="1B3A5C"/>
            </a:solidFill>
            <a:prstDash val="solid"/>
          </a:ln>
        </p:spPr>
      </p:sp>
      <p:sp>
        <p:nvSpPr>
          <p:cNvPr id="3" name="Shape 1"/>
          <p:cNvSpPr/>
          <p:nvPr/>
        </p:nvSpPr>
        <p:spPr>
          <a:xfrm>
            <a:off x="0" y="621792"/>
            <a:ext cx="12191695" cy="0"/>
          </a:xfrm>
          <a:prstGeom prst="line">
            <a:avLst/>
          </a:prstGeom>
          <a:noFill/>
          <a:ln w="9525">
            <a:solidFill>
              <a:srgbClr val="2F6DB5"/>
            </a:solidFill>
            <a:prstDash val="solid"/>
          </a:ln>
        </p:spPr>
      </p:sp>
      <p:pic>
        <p:nvPicPr>
          <p:cNvPr id="4" name="Image 0" descr="/home/claude/gr/assets/mark.png"/>
          <p:cNvPicPr>
            <a:picLocks noChangeAspect="1"/>
          </p:cNvPicPr>
          <p:nvPr/>
        </p:nvPicPr>
        <p:blipFill>
          <a:blip r:embed="rId2"/>
          <a:stretch>
            <a:fillRect/>
          </a:stretch>
        </p:blipFill>
        <p:spPr>
          <a:xfrm>
            <a:off x="9436608" y="91440"/>
            <a:ext cx="384048" cy="384048"/>
          </a:xfrm>
          <a:prstGeom prst="rect">
            <a:avLst/>
          </a:prstGeom>
        </p:spPr>
      </p:pic>
      <p:sp>
        <p:nvSpPr>
          <p:cNvPr id="5" name="Text 2"/>
          <p:cNvSpPr/>
          <p:nvPr/>
        </p:nvSpPr>
        <p:spPr>
          <a:xfrm>
            <a:off x="9875520" y="54864"/>
            <a:ext cx="2194560" cy="274320"/>
          </a:xfrm>
          <a:prstGeom prst="rect">
            <a:avLst/>
          </a:prstGeom>
          <a:noFill/>
          <a:ln/>
        </p:spPr>
        <p:txBody>
          <a:bodyPr wrap="square" lIns="0" tIns="0" rIns="0" bIns="0" rtlCol="0" anchor="ctr"/>
          <a:lstStyle/>
          <a:p>
            <a:pPr marL="0" indent="0">
              <a:buNone/>
            </a:pPr>
            <a:r>
              <a:rPr lang="en-US" sz="1500" b="1" dirty="0">
                <a:solidFill>
                  <a:srgbClr val="1B3A5C"/>
                </a:solidFill>
              </a:rPr>
              <a:t>GlycoRenal Twin</a:t>
            </a:r>
            <a:endParaRPr lang="en-US" sz="1500" dirty="0"/>
          </a:p>
        </p:txBody>
      </p:sp>
      <p:sp>
        <p:nvSpPr>
          <p:cNvPr id="6" name="Text 3"/>
          <p:cNvSpPr/>
          <p:nvPr/>
        </p:nvSpPr>
        <p:spPr>
          <a:xfrm>
            <a:off x="9875520" y="310896"/>
            <a:ext cx="2194560" cy="182880"/>
          </a:xfrm>
          <a:prstGeom prst="rect">
            <a:avLst/>
          </a:prstGeom>
          <a:noFill/>
          <a:ln/>
        </p:spPr>
        <p:txBody>
          <a:bodyPr wrap="square" lIns="0" tIns="0" rIns="0" bIns="0" rtlCol="0" anchor="ctr"/>
          <a:lstStyle/>
          <a:p>
            <a:pPr marL="0" indent="0">
              <a:buNone/>
            </a:pPr>
            <a:r>
              <a:rPr lang="en-US" sz="900" dirty="0">
                <a:solidFill>
                  <a:srgbClr val="52606D"/>
                </a:solidFill>
              </a:rPr>
              <a:t>Digital Twin Challenge 2026</a:t>
            </a:r>
            <a:endParaRPr lang="en-US" sz="900" dirty="0"/>
          </a:p>
        </p:txBody>
      </p:sp>
      <p:sp>
        <p:nvSpPr>
          <p:cNvPr id="7" name="Shape 4"/>
          <p:cNvSpPr/>
          <p:nvPr/>
        </p:nvSpPr>
        <p:spPr>
          <a:xfrm>
            <a:off x="0" y="6382512"/>
            <a:ext cx="12191695" cy="475488"/>
          </a:xfrm>
          <a:prstGeom prst="rect">
            <a:avLst/>
          </a:prstGeom>
          <a:solidFill>
            <a:srgbClr val="2F6DB5"/>
          </a:solidFill>
          <a:ln/>
        </p:spPr>
      </p:sp>
      <p:sp>
        <p:nvSpPr>
          <p:cNvPr id="8" name="Text 5"/>
          <p:cNvSpPr/>
          <p:nvPr/>
        </p:nvSpPr>
        <p:spPr>
          <a:xfrm>
            <a:off x="320040" y="6455664"/>
            <a:ext cx="2148840" cy="329184"/>
          </a:xfrm>
          <a:prstGeom prst="roundRect">
            <a:avLst>
              <a:gd name="adj" fmla="val 16667"/>
            </a:avLst>
          </a:prstGeom>
          <a:solidFill>
            <a:srgbClr val="2F6DB5"/>
          </a:solidFill>
          <a:ln w="12700">
            <a:solidFill>
              <a:srgbClr val="FFFFFF"/>
            </a:solidFill>
          </a:ln>
        </p:spPr>
        <p:txBody>
          <a:bodyPr wrap="square" lIns="0" tIns="0" rIns="0" bIns="0" rtlCol="0" anchor="ctr"/>
          <a:lstStyle/>
          <a:p>
            <a:pPr marL="0" indent="0" algn="ctr">
              <a:buNone/>
            </a:pPr>
            <a:r>
              <a:rPr lang="en-US" sz="1100" b="1" dirty="0">
                <a:solidFill>
                  <a:srgbClr val="FFFFFF"/>
                </a:solidFill>
              </a:rPr>
              <a:t>Problem &amp; Approach</a:t>
            </a:r>
            <a:endParaRPr lang="en-US" sz="1100" dirty="0"/>
          </a:p>
        </p:txBody>
      </p:sp>
      <p:sp>
        <p:nvSpPr>
          <p:cNvPr id="9" name="Text 6"/>
          <p:cNvSpPr/>
          <p:nvPr/>
        </p:nvSpPr>
        <p:spPr>
          <a:xfrm>
            <a:off x="2697480" y="6455664"/>
            <a:ext cx="2148840" cy="329184"/>
          </a:xfrm>
          <a:prstGeom prst="roundRect">
            <a:avLst>
              <a:gd name="adj" fmla="val 16667"/>
            </a:avLst>
          </a:prstGeom>
          <a:solidFill>
            <a:srgbClr val="2F6DB5"/>
          </a:solidFill>
          <a:ln w="12700">
            <a:solidFill>
              <a:srgbClr val="FFFFFF"/>
            </a:solidFill>
          </a:ln>
        </p:spPr>
        <p:txBody>
          <a:bodyPr wrap="square" lIns="0" tIns="0" rIns="0" bIns="0" rtlCol="0" anchor="ctr"/>
          <a:lstStyle/>
          <a:p>
            <a:pPr marL="0" indent="0" algn="ctr">
              <a:buNone/>
            </a:pPr>
            <a:r>
              <a:rPr lang="en-US" sz="1100" b="1" dirty="0">
                <a:solidFill>
                  <a:srgbClr val="FFFFFF"/>
                </a:solidFill>
              </a:rPr>
              <a:t>Architecture &amp; Methodology</a:t>
            </a:r>
            <a:endParaRPr lang="en-US" sz="1100" dirty="0"/>
          </a:p>
        </p:txBody>
      </p:sp>
      <p:sp>
        <p:nvSpPr>
          <p:cNvPr id="10" name="Text 7"/>
          <p:cNvSpPr/>
          <p:nvPr/>
        </p:nvSpPr>
        <p:spPr>
          <a:xfrm>
            <a:off x="5074920" y="6455664"/>
            <a:ext cx="2148840" cy="329184"/>
          </a:xfrm>
          <a:prstGeom prst="roundRect">
            <a:avLst>
              <a:gd name="adj" fmla="val 16667"/>
            </a:avLst>
          </a:prstGeom>
          <a:solidFill>
            <a:srgbClr val="FFFFFF"/>
          </a:solidFill>
          <a:ln w="12700">
            <a:solidFill>
              <a:srgbClr val="FFFFFF"/>
            </a:solidFill>
          </a:ln>
        </p:spPr>
        <p:txBody>
          <a:bodyPr wrap="square" lIns="0" tIns="0" rIns="0" bIns="0" rtlCol="0" anchor="ctr"/>
          <a:lstStyle/>
          <a:p>
            <a:pPr marL="0" indent="0" algn="ctr">
              <a:buNone/>
            </a:pPr>
            <a:r>
              <a:rPr lang="en-US" sz="1100" b="1" dirty="0">
                <a:solidFill>
                  <a:srgbClr val="2F6DB5"/>
                </a:solidFill>
              </a:rPr>
              <a:t>Models &amp; Evaluation</a:t>
            </a:r>
            <a:endParaRPr lang="en-US" sz="1100" dirty="0"/>
          </a:p>
        </p:txBody>
      </p:sp>
      <p:sp>
        <p:nvSpPr>
          <p:cNvPr id="11" name="Text 8"/>
          <p:cNvSpPr/>
          <p:nvPr/>
        </p:nvSpPr>
        <p:spPr>
          <a:xfrm>
            <a:off x="7452360" y="6455664"/>
            <a:ext cx="2148840" cy="329184"/>
          </a:xfrm>
          <a:prstGeom prst="roundRect">
            <a:avLst>
              <a:gd name="adj" fmla="val 16667"/>
            </a:avLst>
          </a:prstGeom>
          <a:solidFill>
            <a:srgbClr val="2F6DB5"/>
          </a:solidFill>
          <a:ln w="12700">
            <a:solidFill>
              <a:srgbClr val="FFFFFF"/>
            </a:solidFill>
          </a:ln>
        </p:spPr>
        <p:txBody>
          <a:bodyPr wrap="square" lIns="0" tIns="0" rIns="0" bIns="0" rtlCol="0" anchor="ctr"/>
          <a:lstStyle/>
          <a:p>
            <a:pPr marL="0" indent="0" algn="ctr">
              <a:buNone/>
            </a:pPr>
            <a:r>
              <a:rPr lang="en-US" sz="1100" b="1" dirty="0">
                <a:solidFill>
                  <a:srgbClr val="FFFFFF"/>
                </a:solidFill>
              </a:rPr>
              <a:t>Product &amp; Demo</a:t>
            </a:r>
            <a:endParaRPr lang="en-US" sz="1100" dirty="0"/>
          </a:p>
        </p:txBody>
      </p:sp>
      <p:sp>
        <p:nvSpPr>
          <p:cNvPr id="12" name="Text 9"/>
          <p:cNvSpPr/>
          <p:nvPr/>
        </p:nvSpPr>
        <p:spPr>
          <a:xfrm>
            <a:off x="9829800" y="6455664"/>
            <a:ext cx="2148840" cy="329184"/>
          </a:xfrm>
          <a:prstGeom prst="roundRect">
            <a:avLst>
              <a:gd name="adj" fmla="val 16667"/>
            </a:avLst>
          </a:prstGeom>
          <a:solidFill>
            <a:srgbClr val="2F6DB5"/>
          </a:solidFill>
          <a:ln w="12700">
            <a:solidFill>
              <a:srgbClr val="FFFFFF"/>
            </a:solidFill>
          </a:ln>
        </p:spPr>
        <p:txBody>
          <a:bodyPr wrap="square" lIns="0" tIns="0" rIns="0" bIns="0" rtlCol="0" anchor="ctr"/>
          <a:lstStyle/>
          <a:p>
            <a:pPr marL="0" indent="0" algn="ctr">
              <a:buNone/>
            </a:pPr>
            <a:r>
              <a:rPr lang="en-US" sz="1100" b="1" dirty="0">
                <a:solidFill>
                  <a:srgbClr val="FFFFFF"/>
                </a:solidFill>
              </a:rPr>
              <a:t>Conclusion &amp; Next Steps</a:t>
            </a:r>
            <a:endParaRPr lang="en-US" sz="1100" dirty="0"/>
          </a:p>
        </p:txBody>
      </p:sp>
      <p:sp>
        <p:nvSpPr>
          <p:cNvPr id="13" name="Text 10"/>
          <p:cNvSpPr>
            <a:spLocks noGrp="1"/>
          </p:cNvSpPr>
          <p:nvPr>
            <p:ph type="title" idx="111" hasCustomPrompt="1"/>
          </p:nvPr>
        </p:nvSpPr>
        <p:spPr>
          <a:xfrm>
            <a:off x="384048" y="128016"/>
            <a:ext cx="8686800" cy="566928"/>
          </a:xfrm>
          <a:prstGeom prst="rect">
            <a:avLst/>
          </a:prstGeom>
          <a:noFill/>
          <a:ln/>
        </p:spPr>
        <p:txBody>
          <a:bodyPr wrap="square" rtlCol="0"/>
          <a:lstStyle>
            <a:lvl1pPr marL="0" indent="0" algn="l">
              <a:buNone/>
              <a:defRPr lang="en-US" sz="2600" b="1" dirty="0">
                <a:solidFill>
                  <a:srgbClr val="E9712F"/>
                </a:solidFill>
              </a:defRPr>
            </a:lvl1pPr>
          </a:lstStyle>
          <a:p>
            <a:pPr marL="0" indent="0" algn="l">
              <a:buNone/>
            </a:pPr>
            <a:endParaRPr lang="en-US" sz="2600" dirty="0"/>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CONTENT_4">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548640"/>
            <a:ext cx="12191695" cy="0"/>
          </a:xfrm>
          <a:prstGeom prst="line">
            <a:avLst/>
          </a:prstGeom>
          <a:noFill/>
          <a:ln w="28575">
            <a:solidFill>
              <a:srgbClr val="1B3A5C"/>
            </a:solidFill>
            <a:prstDash val="solid"/>
          </a:ln>
        </p:spPr>
      </p:sp>
      <p:sp>
        <p:nvSpPr>
          <p:cNvPr id="3" name="Shape 1"/>
          <p:cNvSpPr/>
          <p:nvPr/>
        </p:nvSpPr>
        <p:spPr>
          <a:xfrm>
            <a:off x="0" y="621792"/>
            <a:ext cx="12191695" cy="0"/>
          </a:xfrm>
          <a:prstGeom prst="line">
            <a:avLst/>
          </a:prstGeom>
          <a:noFill/>
          <a:ln w="9525">
            <a:solidFill>
              <a:srgbClr val="2F6DB5"/>
            </a:solidFill>
            <a:prstDash val="solid"/>
          </a:ln>
        </p:spPr>
      </p:sp>
      <p:pic>
        <p:nvPicPr>
          <p:cNvPr id="4" name="Image 0" descr="/home/claude/gr/assets/mark.png"/>
          <p:cNvPicPr>
            <a:picLocks noChangeAspect="1"/>
          </p:cNvPicPr>
          <p:nvPr/>
        </p:nvPicPr>
        <p:blipFill>
          <a:blip r:embed="rId2"/>
          <a:stretch>
            <a:fillRect/>
          </a:stretch>
        </p:blipFill>
        <p:spPr>
          <a:xfrm>
            <a:off x="9436608" y="91440"/>
            <a:ext cx="384048" cy="384048"/>
          </a:xfrm>
          <a:prstGeom prst="rect">
            <a:avLst/>
          </a:prstGeom>
        </p:spPr>
      </p:pic>
      <p:sp>
        <p:nvSpPr>
          <p:cNvPr id="5" name="Text 2"/>
          <p:cNvSpPr/>
          <p:nvPr/>
        </p:nvSpPr>
        <p:spPr>
          <a:xfrm>
            <a:off x="9875520" y="54864"/>
            <a:ext cx="2194560" cy="274320"/>
          </a:xfrm>
          <a:prstGeom prst="rect">
            <a:avLst/>
          </a:prstGeom>
          <a:noFill/>
          <a:ln/>
        </p:spPr>
        <p:txBody>
          <a:bodyPr wrap="square" lIns="0" tIns="0" rIns="0" bIns="0" rtlCol="0" anchor="ctr"/>
          <a:lstStyle/>
          <a:p>
            <a:pPr marL="0" indent="0">
              <a:buNone/>
            </a:pPr>
            <a:r>
              <a:rPr lang="en-US" sz="1500" b="1" dirty="0">
                <a:solidFill>
                  <a:srgbClr val="1B3A5C"/>
                </a:solidFill>
              </a:rPr>
              <a:t>GlycoRenal Twin</a:t>
            </a:r>
            <a:endParaRPr lang="en-US" sz="1500" dirty="0"/>
          </a:p>
        </p:txBody>
      </p:sp>
      <p:sp>
        <p:nvSpPr>
          <p:cNvPr id="6" name="Text 3"/>
          <p:cNvSpPr/>
          <p:nvPr/>
        </p:nvSpPr>
        <p:spPr>
          <a:xfrm>
            <a:off x="9875520" y="310896"/>
            <a:ext cx="2194560" cy="182880"/>
          </a:xfrm>
          <a:prstGeom prst="rect">
            <a:avLst/>
          </a:prstGeom>
          <a:noFill/>
          <a:ln/>
        </p:spPr>
        <p:txBody>
          <a:bodyPr wrap="square" lIns="0" tIns="0" rIns="0" bIns="0" rtlCol="0" anchor="ctr"/>
          <a:lstStyle/>
          <a:p>
            <a:pPr marL="0" indent="0">
              <a:buNone/>
            </a:pPr>
            <a:r>
              <a:rPr lang="en-US" sz="900" dirty="0">
                <a:solidFill>
                  <a:srgbClr val="52606D"/>
                </a:solidFill>
              </a:rPr>
              <a:t>Digital Twin Challenge 2026</a:t>
            </a:r>
            <a:endParaRPr lang="en-US" sz="900" dirty="0"/>
          </a:p>
        </p:txBody>
      </p:sp>
      <p:sp>
        <p:nvSpPr>
          <p:cNvPr id="7" name="Shape 4"/>
          <p:cNvSpPr/>
          <p:nvPr/>
        </p:nvSpPr>
        <p:spPr>
          <a:xfrm>
            <a:off x="0" y="6382512"/>
            <a:ext cx="12191695" cy="475488"/>
          </a:xfrm>
          <a:prstGeom prst="rect">
            <a:avLst/>
          </a:prstGeom>
          <a:solidFill>
            <a:srgbClr val="2F6DB5"/>
          </a:solidFill>
          <a:ln/>
        </p:spPr>
      </p:sp>
      <p:sp>
        <p:nvSpPr>
          <p:cNvPr id="8" name="Text 5"/>
          <p:cNvSpPr/>
          <p:nvPr/>
        </p:nvSpPr>
        <p:spPr>
          <a:xfrm>
            <a:off x="320040" y="6455664"/>
            <a:ext cx="2148840" cy="329184"/>
          </a:xfrm>
          <a:prstGeom prst="roundRect">
            <a:avLst>
              <a:gd name="adj" fmla="val 16667"/>
            </a:avLst>
          </a:prstGeom>
          <a:solidFill>
            <a:srgbClr val="2F6DB5"/>
          </a:solidFill>
          <a:ln w="12700">
            <a:solidFill>
              <a:srgbClr val="FFFFFF"/>
            </a:solidFill>
          </a:ln>
        </p:spPr>
        <p:txBody>
          <a:bodyPr wrap="square" lIns="0" tIns="0" rIns="0" bIns="0" rtlCol="0" anchor="ctr"/>
          <a:lstStyle/>
          <a:p>
            <a:pPr marL="0" indent="0" algn="ctr">
              <a:buNone/>
            </a:pPr>
            <a:r>
              <a:rPr lang="en-US" sz="1100" b="1" dirty="0">
                <a:solidFill>
                  <a:srgbClr val="FFFFFF"/>
                </a:solidFill>
              </a:rPr>
              <a:t>Problem &amp; Approach</a:t>
            </a:r>
            <a:endParaRPr lang="en-US" sz="1100" dirty="0"/>
          </a:p>
        </p:txBody>
      </p:sp>
      <p:sp>
        <p:nvSpPr>
          <p:cNvPr id="9" name="Text 6"/>
          <p:cNvSpPr/>
          <p:nvPr/>
        </p:nvSpPr>
        <p:spPr>
          <a:xfrm>
            <a:off x="2697480" y="6455664"/>
            <a:ext cx="2148840" cy="329184"/>
          </a:xfrm>
          <a:prstGeom prst="roundRect">
            <a:avLst>
              <a:gd name="adj" fmla="val 16667"/>
            </a:avLst>
          </a:prstGeom>
          <a:solidFill>
            <a:srgbClr val="2F6DB5"/>
          </a:solidFill>
          <a:ln w="12700">
            <a:solidFill>
              <a:srgbClr val="FFFFFF"/>
            </a:solidFill>
          </a:ln>
        </p:spPr>
        <p:txBody>
          <a:bodyPr wrap="square" lIns="0" tIns="0" rIns="0" bIns="0" rtlCol="0" anchor="ctr"/>
          <a:lstStyle/>
          <a:p>
            <a:pPr marL="0" indent="0" algn="ctr">
              <a:buNone/>
            </a:pPr>
            <a:r>
              <a:rPr lang="en-US" sz="1100" b="1" dirty="0">
                <a:solidFill>
                  <a:srgbClr val="FFFFFF"/>
                </a:solidFill>
              </a:rPr>
              <a:t>Architecture &amp; Methodology</a:t>
            </a:r>
            <a:endParaRPr lang="en-US" sz="1100" dirty="0"/>
          </a:p>
        </p:txBody>
      </p:sp>
      <p:sp>
        <p:nvSpPr>
          <p:cNvPr id="10" name="Text 7"/>
          <p:cNvSpPr/>
          <p:nvPr/>
        </p:nvSpPr>
        <p:spPr>
          <a:xfrm>
            <a:off x="5074920" y="6455664"/>
            <a:ext cx="2148840" cy="329184"/>
          </a:xfrm>
          <a:prstGeom prst="roundRect">
            <a:avLst>
              <a:gd name="adj" fmla="val 16667"/>
            </a:avLst>
          </a:prstGeom>
          <a:solidFill>
            <a:srgbClr val="2F6DB5"/>
          </a:solidFill>
          <a:ln w="12700">
            <a:solidFill>
              <a:srgbClr val="FFFFFF"/>
            </a:solidFill>
          </a:ln>
        </p:spPr>
        <p:txBody>
          <a:bodyPr wrap="square" lIns="0" tIns="0" rIns="0" bIns="0" rtlCol="0" anchor="ctr"/>
          <a:lstStyle/>
          <a:p>
            <a:pPr marL="0" indent="0" algn="ctr">
              <a:buNone/>
            </a:pPr>
            <a:r>
              <a:rPr lang="en-US" sz="1100" b="1" dirty="0">
                <a:solidFill>
                  <a:srgbClr val="FFFFFF"/>
                </a:solidFill>
              </a:rPr>
              <a:t>Models &amp; Evaluation</a:t>
            </a:r>
            <a:endParaRPr lang="en-US" sz="1100" dirty="0"/>
          </a:p>
        </p:txBody>
      </p:sp>
      <p:sp>
        <p:nvSpPr>
          <p:cNvPr id="11" name="Text 8"/>
          <p:cNvSpPr/>
          <p:nvPr/>
        </p:nvSpPr>
        <p:spPr>
          <a:xfrm>
            <a:off x="7452360" y="6455664"/>
            <a:ext cx="2148840" cy="329184"/>
          </a:xfrm>
          <a:prstGeom prst="roundRect">
            <a:avLst>
              <a:gd name="adj" fmla="val 16667"/>
            </a:avLst>
          </a:prstGeom>
          <a:solidFill>
            <a:srgbClr val="FFFFFF"/>
          </a:solidFill>
          <a:ln w="12700">
            <a:solidFill>
              <a:srgbClr val="FFFFFF"/>
            </a:solidFill>
          </a:ln>
        </p:spPr>
        <p:txBody>
          <a:bodyPr wrap="square" lIns="0" tIns="0" rIns="0" bIns="0" rtlCol="0" anchor="ctr"/>
          <a:lstStyle/>
          <a:p>
            <a:pPr marL="0" indent="0" algn="ctr">
              <a:buNone/>
            </a:pPr>
            <a:r>
              <a:rPr lang="en-US" sz="1100" b="1" dirty="0">
                <a:solidFill>
                  <a:srgbClr val="2F6DB5"/>
                </a:solidFill>
              </a:rPr>
              <a:t>Product &amp; Demo</a:t>
            </a:r>
            <a:endParaRPr lang="en-US" sz="1100" dirty="0"/>
          </a:p>
        </p:txBody>
      </p:sp>
      <p:sp>
        <p:nvSpPr>
          <p:cNvPr id="12" name="Text 9"/>
          <p:cNvSpPr/>
          <p:nvPr/>
        </p:nvSpPr>
        <p:spPr>
          <a:xfrm>
            <a:off x="9829800" y="6455664"/>
            <a:ext cx="2148840" cy="329184"/>
          </a:xfrm>
          <a:prstGeom prst="roundRect">
            <a:avLst>
              <a:gd name="adj" fmla="val 16667"/>
            </a:avLst>
          </a:prstGeom>
          <a:solidFill>
            <a:srgbClr val="2F6DB5"/>
          </a:solidFill>
          <a:ln w="12700">
            <a:solidFill>
              <a:srgbClr val="FFFFFF"/>
            </a:solidFill>
          </a:ln>
        </p:spPr>
        <p:txBody>
          <a:bodyPr wrap="square" lIns="0" tIns="0" rIns="0" bIns="0" rtlCol="0" anchor="ctr"/>
          <a:lstStyle/>
          <a:p>
            <a:pPr marL="0" indent="0" algn="ctr">
              <a:buNone/>
            </a:pPr>
            <a:r>
              <a:rPr lang="en-US" sz="1100" b="1" dirty="0">
                <a:solidFill>
                  <a:srgbClr val="FFFFFF"/>
                </a:solidFill>
              </a:rPr>
              <a:t>Conclusion &amp; Next Steps</a:t>
            </a:r>
            <a:endParaRPr lang="en-US" sz="1100" dirty="0"/>
          </a:p>
        </p:txBody>
      </p:sp>
      <p:sp>
        <p:nvSpPr>
          <p:cNvPr id="13" name="Text 10"/>
          <p:cNvSpPr>
            <a:spLocks noGrp="1"/>
          </p:cNvSpPr>
          <p:nvPr>
            <p:ph type="title" idx="111" hasCustomPrompt="1"/>
          </p:nvPr>
        </p:nvSpPr>
        <p:spPr>
          <a:xfrm>
            <a:off x="384048" y="128016"/>
            <a:ext cx="8686800" cy="566928"/>
          </a:xfrm>
          <a:prstGeom prst="rect">
            <a:avLst/>
          </a:prstGeom>
          <a:noFill/>
          <a:ln/>
        </p:spPr>
        <p:txBody>
          <a:bodyPr wrap="square" rtlCol="0"/>
          <a:lstStyle>
            <a:lvl1pPr marL="0" indent="0" algn="l">
              <a:buNone/>
              <a:defRPr lang="en-US" sz="2600" b="1" dirty="0">
                <a:solidFill>
                  <a:srgbClr val="E9712F"/>
                </a:solidFill>
              </a:defRPr>
            </a:lvl1pPr>
          </a:lstStyle>
          <a:p>
            <a:pPr marL="0" indent="0" algn="l">
              <a:buNone/>
            </a:pPr>
            <a:endParaRPr lang="en-US" sz="2600" dirty="0"/>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p:cSld name="CONTENT_5">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548640"/>
            <a:ext cx="12191695" cy="0"/>
          </a:xfrm>
          <a:prstGeom prst="line">
            <a:avLst/>
          </a:prstGeom>
          <a:noFill/>
          <a:ln w="28575">
            <a:solidFill>
              <a:srgbClr val="1B3A5C"/>
            </a:solidFill>
            <a:prstDash val="solid"/>
          </a:ln>
        </p:spPr>
      </p:sp>
      <p:sp>
        <p:nvSpPr>
          <p:cNvPr id="3" name="Shape 1"/>
          <p:cNvSpPr/>
          <p:nvPr/>
        </p:nvSpPr>
        <p:spPr>
          <a:xfrm>
            <a:off x="0" y="621792"/>
            <a:ext cx="12191695" cy="0"/>
          </a:xfrm>
          <a:prstGeom prst="line">
            <a:avLst/>
          </a:prstGeom>
          <a:noFill/>
          <a:ln w="9525">
            <a:solidFill>
              <a:srgbClr val="2F6DB5"/>
            </a:solidFill>
            <a:prstDash val="solid"/>
          </a:ln>
        </p:spPr>
      </p:sp>
      <p:pic>
        <p:nvPicPr>
          <p:cNvPr id="4" name="Image 0" descr="/home/claude/gr/assets/mark.png"/>
          <p:cNvPicPr>
            <a:picLocks noChangeAspect="1"/>
          </p:cNvPicPr>
          <p:nvPr/>
        </p:nvPicPr>
        <p:blipFill>
          <a:blip r:embed="rId2"/>
          <a:stretch>
            <a:fillRect/>
          </a:stretch>
        </p:blipFill>
        <p:spPr>
          <a:xfrm>
            <a:off x="9436608" y="91440"/>
            <a:ext cx="384048" cy="384048"/>
          </a:xfrm>
          <a:prstGeom prst="rect">
            <a:avLst/>
          </a:prstGeom>
        </p:spPr>
      </p:pic>
      <p:sp>
        <p:nvSpPr>
          <p:cNvPr id="5" name="Text 2"/>
          <p:cNvSpPr/>
          <p:nvPr/>
        </p:nvSpPr>
        <p:spPr>
          <a:xfrm>
            <a:off x="9875520" y="54864"/>
            <a:ext cx="2194560" cy="274320"/>
          </a:xfrm>
          <a:prstGeom prst="rect">
            <a:avLst/>
          </a:prstGeom>
          <a:noFill/>
          <a:ln/>
        </p:spPr>
        <p:txBody>
          <a:bodyPr wrap="square" lIns="0" tIns="0" rIns="0" bIns="0" rtlCol="0" anchor="ctr"/>
          <a:lstStyle/>
          <a:p>
            <a:pPr marL="0" indent="0">
              <a:buNone/>
            </a:pPr>
            <a:r>
              <a:rPr lang="en-US" sz="1500" b="1" dirty="0">
                <a:solidFill>
                  <a:srgbClr val="1B3A5C"/>
                </a:solidFill>
              </a:rPr>
              <a:t>GlycoRenal Twin</a:t>
            </a:r>
            <a:endParaRPr lang="en-US" sz="1500" dirty="0"/>
          </a:p>
        </p:txBody>
      </p:sp>
      <p:sp>
        <p:nvSpPr>
          <p:cNvPr id="6" name="Text 3"/>
          <p:cNvSpPr/>
          <p:nvPr/>
        </p:nvSpPr>
        <p:spPr>
          <a:xfrm>
            <a:off x="9875520" y="310896"/>
            <a:ext cx="2194560" cy="182880"/>
          </a:xfrm>
          <a:prstGeom prst="rect">
            <a:avLst/>
          </a:prstGeom>
          <a:noFill/>
          <a:ln/>
        </p:spPr>
        <p:txBody>
          <a:bodyPr wrap="square" lIns="0" tIns="0" rIns="0" bIns="0" rtlCol="0" anchor="ctr"/>
          <a:lstStyle/>
          <a:p>
            <a:pPr marL="0" indent="0">
              <a:buNone/>
            </a:pPr>
            <a:r>
              <a:rPr lang="en-US" sz="900" dirty="0">
                <a:solidFill>
                  <a:srgbClr val="52606D"/>
                </a:solidFill>
              </a:rPr>
              <a:t>Digital Twin Challenge 2026</a:t>
            </a:r>
            <a:endParaRPr lang="en-US" sz="900" dirty="0"/>
          </a:p>
        </p:txBody>
      </p:sp>
      <p:sp>
        <p:nvSpPr>
          <p:cNvPr id="7" name="Shape 4"/>
          <p:cNvSpPr/>
          <p:nvPr/>
        </p:nvSpPr>
        <p:spPr>
          <a:xfrm>
            <a:off x="0" y="6382512"/>
            <a:ext cx="12191695" cy="475488"/>
          </a:xfrm>
          <a:prstGeom prst="rect">
            <a:avLst/>
          </a:prstGeom>
          <a:solidFill>
            <a:srgbClr val="2F6DB5"/>
          </a:solidFill>
          <a:ln/>
        </p:spPr>
      </p:sp>
      <p:sp>
        <p:nvSpPr>
          <p:cNvPr id="8" name="Text 5"/>
          <p:cNvSpPr/>
          <p:nvPr/>
        </p:nvSpPr>
        <p:spPr>
          <a:xfrm>
            <a:off x="320040" y="6455664"/>
            <a:ext cx="2148840" cy="329184"/>
          </a:xfrm>
          <a:prstGeom prst="roundRect">
            <a:avLst>
              <a:gd name="adj" fmla="val 16667"/>
            </a:avLst>
          </a:prstGeom>
          <a:solidFill>
            <a:srgbClr val="2F6DB5"/>
          </a:solidFill>
          <a:ln w="12700">
            <a:solidFill>
              <a:srgbClr val="FFFFFF"/>
            </a:solidFill>
          </a:ln>
        </p:spPr>
        <p:txBody>
          <a:bodyPr wrap="square" lIns="0" tIns="0" rIns="0" bIns="0" rtlCol="0" anchor="ctr"/>
          <a:lstStyle/>
          <a:p>
            <a:pPr marL="0" indent="0" algn="ctr">
              <a:buNone/>
            </a:pPr>
            <a:r>
              <a:rPr lang="en-US" sz="1100" b="1" dirty="0">
                <a:solidFill>
                  <a:srgbClr val="FFFFFF"/>
                </a:solidFill>
              </a:rPr>
              <a:t>Problem &amp; Approach</a:t>
            </a:r>
            <a:endParaRPr lang="en-US" sz="1100" dirty="0"/>
          </a:p>
        </p:txBody>
      </p:sp>
      <p:sp>
        <p:nvSpPr>
          <p:cNvPr id="9" name="Text 6"/>
          <p:cNvSpPr/>
          <p:nvPr/>
        </p:nvSpPr>
        <p:spPr>
          <a:xfrm>
            <a:off x="2697480" y="6455664"/>
            <a:ext cx="2148840" cy="329184"/>
          </a:xfrm>
          <a:prstGeom prst="roundRect">
            <a:avLst>
              <a:gd name="adj" fmla="val 16667"/>
            </a:avLst>
          </a:prstGeom>
          <a:solidFill>
            <a:srgbClr val="2F6DB5"/>
          </a:solidFill>
          <a:ln w="12700">
            <a:solidFill>
              <a:srgbClr val="FFFFFF"/>
            </a:solidFill>
          </a:ln>
        </p:spPr>
        <p:txBody>
          <a:bodyPr wrap="square" lIns="0" tIns="0" rIns="0" bIns="0" rtlCol="0" anchor="ctr"/>
          <a:lstStyle/>
          <a:p>
            <a:pPr marL="0" indent="0" algn="ctr">
              <a:buNone/>
            </a:pPr>
            <a:r>
              <a:rPr lang="en-US" sz="1100" b="1" dirty="0">
                <a:solidFill>
                  <a:srgbClr val="FFFFFF"/>
                </a:solidFill>
              </a:rPr>
              <a:t>Architecture &amp; Methodology</a:t>
            </a:r>
            <a:endParaRPr lang="en-US" sz="1100" dirty="0"/>
          </a:p>
        </p:txBody>
      </p:sp>
      <p:sp>
        <p:nvSpPr>
          <p:cNvPr id="10" name="Text 7"/>
          <p:cNvSpPr/>
          <p:nvPr/>
        </p:nvSpPr>
        <p:spPr>
          <a:xfrm>
            <a:off x="5074920" y="6455664"/>
            <a:ext cx="2148840" cy="329184"/>
          </a:xfrm>
          <a:prstGeom prst="roundRect">
            <a:avLst>
              <a:gd name="adj" fmla="val 16667"/>
            </a:avLst>
          </a:prstGeom>
          <a:solidFill>
            <a:srgbClr val="2F6DB5"/>
          </a:solidFill>
          <a:ln w="12700">
            <a:solidFill>
              <a:srgbClr val="FFFFFF"/>
            </a:solidFill>
          </a:ln>
        </p:spPr>
        <p:txBody>
          <a:bodyPr wrap="square" lIns="0" tIns="0" rIns="0" bIns="0" rtlCol="0" anchor="ctr"/>
          <a:lstStyle/>
          <a:p>
            <a:pPr marL="0" indent="0" algn="ctr">
              <a:buNone/>
            </a:pPr>
            <a:r>
              <a:rPr lang="en-US" sz="1100" b="1" dirty="0">
                <a:solidFill>
                  <a:srgbClr val="FFFFFF"/>
                </a:solidFill>
              </a:rPr>
              <a:t>Models &amp; Evaluation</a:t>
            </a:r>
            <a:endParaRPr lang="en-US" sz="1100" dirty="0"/>
          </a:p>
        </p:txBody>
      </p:sp>
      <p:sp>
        <p:nvSpPr>
          <p:cNvPr id="11" name="Text 8"/>
          <p:cNvSpPr/>
          <p:nvPr/>
        </p:nvSpPr>
        <p:spPr>
          <a:xfrm>
            <a:off x="7452360" y="6455664"/>
            <a:ext cx="2148840" cy="329184"/>
          </a:xfrm>
          <a:prstGeom prst="roundRect">
            <a:avLst>
              <a:gd name="adj" fmla="val 16667"/>
            </a:avLst>
          </a:prstGeom>
          <a:solidFill>
            <a:srgbClr val="2F6DB5"/>
          </a:solidFill>
          <a:ln w="12700">
            <a:solidFill>
              <a:srgbClr val="FFFFFF"/>
            </a:solidFill>
          </a:ln>
        </p:spPr>
        <p:txBody>
          <a:bodyPr wrap="square" lIns="0" tIns="0" rIns="0" bIns="0" rtlCol="0" anchor="ctr"/>
          <a:lstStyle/>
          <a:p>
            <a:pPr marL="0" indent="0" algn="ctr">
              <a:buNone/>
            </a:pPr>
            <a:r>
              <a:rPr lang="en-US" sz="1100" b="1" dirty="0">
                <a:solidFill>
                  <a:srgbClr val="FFFFFF"/>
                </a:solidFill>
              </a:rPr>
              <a:t>Product &amp; Demo</a:t>
            </a:r>
            <a:endParaRPr lang="en-US" sz="1100" dirty="0"/>
          </a:p>
        </p:txBody>
      </p:sp>
      <p:sp>
        <p:nvSpPr>
          <p:cNvPr id="12" name="Text 9"/>
          <p:cNvSpPr/>
          <p:nvPr/>
        </p:nvSpPr>
        <p:spPr>
          <a:xfrm>
            <a:off x="9829800" y="6455664"/>
            <a:ext cx="2148840" cy="329184"/>
          </a:xfrm>
          <a:prstGeom prst="roundRect">
            <a:avLst>
              <a:gd name="adj" fmla="val 16667"/>
            </a:avLst>
          </a:prstGeom>
          <a:solidFill>
            <a:srgbClr val="FFFFFF"/>
          </a:solidFill>
          <a:ln w="12700">
            <a:solidFill>
              <a:srgbClr val="FFFFFF"/>
            </a:solidFill>
          </a:ln>
        </p:spPr>
        <p:txBody>
          <a:bodyPr wrap="square" lIns="0" tIns="0" rIns="0" bIns="0" rtlCol="0" anchor="ctr"/>
          <a:lstStyle/>
          <a:p>
            <a:pPr marL="0" indent="0" algn="ctr">
              <a:buNone/>
            </a:pPr>
            <a:r>
              <a:rPr lang="en-US" sz="1100" b="1" dirty="0">
                <a:solidFill>
                  <a:srgbClr val="2F6DB5"/>
                </a:solidFill>
              </a:rPr>
              <a:t>Conclusion &amp; Next Steps</a:t>
            </a:r>
            <a:endParaRPr lang="en-US" sz="1100" dirty="0"/>
          </a:p>
        </p:txBody>
      </p:sp>
      <p:sp>
        <p:nvSpPr>
          <p:cNvPr id="13" name="Text 10"/>
          <p:cNvSpPr>
            <a:spLocks noGrp="1"/>
          </p:cNvSpPr>
          <p:nvPr>
            <p:ph type="title" idx="111" hasCustomPrompt="1"/>
          </p:nvPr>
        </p:nvSpPr>
        <p:spPr>
          <a:xfrm>
            <a:off x="384048" y="128016"/>
            <a:ext cx="8686800" cy="566928"/>
          </a:xfrm>
          <a:prstGeom prst="rect">
            <a:avLst/>
          </a:prstGeom>
          <a:noFill/>
          <a:ln/>
        </p:spPr>
        <p:txBody>
          <a:bodyPr wrap="square" rtlCol="0"/>
          <a:lstStyle>
            <a:lvl1pPr marL="0" indent="0" algn="l">
              <a:buNone/>
              <a:defRPr lang="en-US" sz="2600" b="1" dirty="0">
                <a:solidFill>
                  <a:srgbClr val="E9712F"/>
                </a:solidFill>
              </a:defRPr>
            </a:lvl1pPr>
          </a:lstStyle>
          <a:p>
            <a:pPr marL="0" indent="0" algn="l">
              <a:buNone/>
            </a:pPr>
            <a:endParaRPr lang="en-US" sz="2600" dirty="0"/>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p:cSld name="COVER">
    <p:bg>
      <p:bgPr>
        <a:solidFill>
          <a:srgbClr val="FFFFFF"/>
        </a:solidFill>
        <a:effectLst/>
      </p:bgPr>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xml"/><Relationship Id="rId1" Type="http://schemas.openxmlformats.org/officeDocument/2006/relationships/slideLayout" Target="../slideLayouts/slideLayout7.xml"/><Relationship Id="rId4" Type="http://schemas.openxmlformats.org/officeDocument/2006/relationships/image" Target="../media/image1.png"/></Relationships>
</file>

<file path=ppt/slides/_rels/slide2.xml.rels><?xml version="1.0" encoding="UTF-8" standalone="yes"?>
<Relationships xmlns="http://schemas.openxmlformats.org/package/2006/relationships"><Relationship Id="rId8" Type="http://schemas.openxmlformats.org/officeDocument/2006/relationships/image" Target="../media/image8.png"/><Relationship Id="rId3" Type="http://schemas.openxmlformats.org/officeDocument/2006/relationships/image" Target="../media/image3.png"/><Relationship Id="rId7" Type="http://schemas.openxmlformats.org/officeDocument/2006/relationships/image" Target="../media/image7.png"/><Relationship Id="rId2" Type="http://schemas.openxmlformats.org/officeDocument/2006/relationships/notesSlide" Target="../notesSlides/notesSlide2.xml"/><Relationship Id="rId1" Type="http://schemas.openxmlformats.org/officeDocument/2006/relationships/slideLayout" Target="../slideLayouts/slideLayout2.xml"/><Relationship Id="rId6" Type="http://schemas.openxmlformats.org/officeDocument/2006/relationships/image" Target="../media/image6.png"/><Relationship Id="rId5" Type="http://schemas.openxmlformats.org/officeDocument/2006/relationships/image" Target="../media/image5.png"/><Relationship Id="rId4" Type="http://schemas.openxmlformats.org/officeDocument/2006/relationships/image" Target="../media/image4.png"/></Relationships>
</file>

<file path=ppt/slides/_rels/slide3.xml.rels><?xml version="1.0" encoding="UTF-8" standalone="yes"?>
<Relationships xmlns="http://schemas.openxmlformats.org/package/2006/relationships"><Relationship Id="rId8" Type="http://schemas.openxmlformats.org/officeDocument/2006/relationships/image" Target="../media/image14.jpg"/><Relationship Id="rId3" Type="http://schemas.openxmlformats.org/officeDocument/2006/relationships/image" Target="../media/image9.jpg"/><Relationship Id="rId7" Type="http://schemas.openxmlformats.org/officeDocument/2006/relationships/image" Target="../media/image13.jpg"/><Relationship Id="rId2" Type="http://schemas.openxmlformats.org/officeDocument/2006/relationships/notesSlide" Target="../notesSlides/notesSlide3.xml"/><Relationship Id="rId1" Type="http://schemas.openxmlformats.org/officeDocument/2006/relationships/slideLayout" Target="../slideLayouts/slideLayout2.xml"/><Relationship Id="rId6" Type="http://schemas.openxmlformats.org/officeDocument/2006/relationships/image" Target="../media/image12.jpg"/><Relationship Id="rId11" Type="http://schemas.openxmlformats.org/officeDocument/2006/relationships/image" Target="../media/image17.jpg"/><Relationship Id="rId5" Type="http://schemas.openxmlformats.org/officeDocument/2006/relationships/image" Target="../media/image11.jpg"/><Relationship Id="rId10" Type="http://schemas.openxmlformats.org/officeDocument/2006/relationships/image" Target="../media/image16.jpg"/><Relationship Id="rId4" Type="http://schemas.openxmlformats.org/officeDocument/2006/relationships/image" Target="../media/image10.jpg"/><Relationship Id="rId9" Type="http://schemas.openxmlformats.org/officeDocument/2006/relationships/image" Target="../media/image15.jpg"/></Relationships>
</file>

<file path=ppt/slides/_rels/slide4.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4.xml"/><Relationship Id="rId1" Type="http://schemas.openxmlformats.org/officeDocument/2006/relationships/slideLayout" Target="../slideLayouts/slideLayout3.xml"/></Relationships>
</file>

<file path=ppt/slides/_rels/slide5.xml.rels><?xml version="1.0" encoding="UTF-8" standalone="yes"?>
<Relationships xmlns="http://schemas.openxmlformats.org/package/2006/relationships"><Relationship Id="rId8" Type="http://schemas.openxmlformats.org/officeDocument/2006/relationships/image" Target="../media/image24.png"/><Relationship Id="rId3" Type="http://schemas.openxmlformats.org/officeDocument/2006/relationships/image" Target="../media/image19.png"/><Relationship Id="rId7" Type="http://schemas.openxmlformats.org/officeDocument/2006/relationships/image" Target="../media/image23.png"/><Relationship Id="rId2" Type="http://schemas.openxmlformats.org/officeDocument/2006/relationships/notesSlide" Target="../notesSlides/notesSlide5.xml"/><Relationship Id="rId1" Type="http://schemas.openxmlformats.org/officeDocument/2006/relationships/slideLayout" Target="../slideLayouts/slideLayout3.xml"/><Relationship Id="rId6" Type="http://schemas.openxmlformats.org/officeDocument/2006/relationships/image" Target="../media/image22.png"/><Relationship Id="rId11" Type="http://schemas.openxmlformats.org/officeDocument/2006/relationships/image" Target="../media/image27.png"/><Relationship Id="rId5" Type="http://schemas.openxmlformats.org/officeDocument/2006/relationships/image" Target="../media/image21.png"/><Relationship Id="rId10" Type="http://schemas.openxmlformats.org/officeDocument/2006/relationships/image" Target="../media/image26.png"/><Relationship Id="rId4" Type="http://schemas.openxmlformats.org/officeDocument/2006/relationships/image" Target="../media/image20.png"/><Relationship Id="rId9" Type="http://schemas.openxmlformats.org/officeDocument/2006/relationships/image" Target="../media/image25.png"/></Relationships>
</file>

<file path=ppt/slides/_rels/slide6.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notesSlide" Target="../notesSlides/notesSlide6.xml"/><Relationship Id="rId1" Type="http://schemas.openxmlformats.org/officeDocument/2006/relationships/slideLayout" Target="../slideLayouts/slideLayout3.xml"/><Relationship Id="rId5" Type="http://schemas.openxmlformats.org/officeDocument/2006/relationships/image" Target="../media/image4.png"/><Relationship Id="rId4" Type="http://schemas.openxmlformats.org/officeDocument/2006/relationships/image" Target="../media/image29.png"/></Relationships>
</file>

<file path=ppt/slides/_rels/slide7.xml.rels><?xml version="1.0" encoding="UTF-8" standalone="yes"?>
<Relationships xmlns="http://schemas.openxmlformats.org/package/2006/relationships"><Relationship Id="rId3" Type="http://schemas.openxmlformats.org/officeDocument/2006/relationships/image" Target="../media/image30.jpg"/><Relationship Id="rId2" Type="http://schemas.openxmlformats.org/officeDocument/2006/relationships/notesSlide" Target="../notesSlides/notesSlide7.xml"/><Relationship Id="rId1" Type="http://schemas.openxmlformats.org/officeDocument/2006/relationships/slideLayout" Target="../slideLayouts/slideLayout3.xml"/></Relationships>
</file>

<file path=ppt/slides/_rels/slide8.xml.rels><?xml version="1.0" encoding="UTF-8" standalone="yes"?>
<Relationships xmlns="http://schemas.openxmlformats.org/package/2006/relationships"><Relationship Id="rId3" Type="http://schemas.openxmlformats.org/officeDocument/2006/relationships/chart" Target="../charts/chart1.xml"/><Relationship Id="rId2" Type="http://schemas.openxmlformats.org/officeDocument/2006/relationships/notesSlide" Target="../notesSlides/notesSlide8.xml"/><Relationship Id="rId1" Type="http://schemas.openxmlformats.org/officeDocument/2006/relationships/slideLayout" Target="../slideLayouts/slideLayout4.xml"/></Relationships>
</file>

<file path=ppt/slides/_rels/slide9.xml.rels><?xml version="1.0" encoding="UTF-8" standalone="yes"?>
<Relationships xmlns="http://schemas.openxmlformats.org/package/2006/relationships"><Relationship Id="rId8" Type="http://schemas.openxmlformats.org/officeDocument/2006/relationships/image" Target="../media/image35.jpg"/><Relationship Id="rId3" Type="http://schemas.openxmlformats.org/officeDocument/2006/relationships/image" Target="../media/image31.jpg"/><Relationship Id="rId7" Type="http://schemas.openxmlformats.org/officeDocument/2006/relationships/image" Target="../media/image34.jpg"/><Relationship Id="rId2" Type="http://schemas.openxmlformats.org/officeDocument/2006/relationships/notesSlide" Target="../notesSlides/notesSlide9.xml"/><Relationship Id="rId1" Type="http://schemas.openxmlformats.org/officeDocument/2006/relationships/slideLayout" Target="../slideLayouts/slideLayout5.xml"/><Relationship Id="rId6" Type="http://schemas.openxmlformats.org/officeDocument/2006/relationships/image" Target="../media/image3.png"/><Relationship Id="rId5" Type="http://schemas.openxmlformats.org/officeDocument/2006/relationships/image" Target="../media/image33.png"/><Relationship Id="rId4" Type="http://schemas.openxmlformats.org/officeDocument/2006/relationships/image" Target="../media/image32.png"/><Relationship Id="rId9" Type="http://schemas.openxmlformats.org/officeDocument/2006/relationships/image" Target="../media/image36.jpg"/></Relationships>
</file>

<file path=ppt/slides/_rels/slide10.xml.rels><?xml version="1.0" encoding="UTF-8" standalone="yes"?>
<Relationships xmlns="http://schemas.openxmlformats.org/package/2006/relationships"><Relationship Id="rId8" Type="http://schemas.openxmlformats.org/officeDocument/2006/relationships/image" Target="../media/image41.png"/><Relationship Id="rId3" Type="http://schemas.openxmlformats.org/officeDocument/2006/relationships/image" Target="../media/image37.jpg"/><Relationship Id="rId7" Type="http://schemas.openxmlformats.org/officeDocument/2006/relationships/image" Target="../media/image40.jpg"/><Relationship Id="rId2" Type="http://schemas.openxmlformats.org/officeDocument/2006/relationships/notesSlide" Target="../notesSlides/notesSlide10.xml"/><Relationship Id="rId1" Type="http://schemas.openxmlformats.org/officeDocument/2006/relationships/slideLayout" Target="../slideLayouts/slideLayout5.xml"/><Relationship Id="rId6" Type="http://schemas.openxmlformats.org/officeDocument/2006/relationships/image" Target="../media/image8.png"/><Relationship Id="rId5" Type="http://schemas.openxmlformats.org/officeDocument/2006/relationships/image" Target="../media/image39.png"/><Relationship Id="rId4" Type="http://schemas.openxmlformats.org/officeDocument/2006/relationships/image" Target="../media/image38.png"/></Relationships>
</file>

<file path=ppt/slides/_rels/slide11.xml.rels><?xml version="1.0" encoding="UTF-8" standalone="yes"?>
<Relationships xmlns="http://schemas.openxmlformats.org/package/2006/relationships"><Relationship Id="rId8" Type="http://schemas.openxmlformats.org/officeDocument/2006/relationships/image" Target="../media/image44.png"/><Relationship Id="rId3" Type="http://schemas.openxmlformats.org/officeDocument/2006/relationships/image" Target="../media/image41.png"/><Relationship Id="rId7" Type="http://schemas.openxmlformats.org/officeDocument/2006/relationships/image" Target="../media/image8.png"/><Relationship Id="rId2" Type="http://schemas.openxmlformats.org/officeDocument/2006/relationships/notesSlide" Target="../notesSlides/notesSlide11.xml"/><Relationship Id="rId1" Type="http://schemas.openxmlformats.org/officeDocument/2006/relationships/slideLayout" Target="../slideLayouts/slideLayout6.xml"/><Relationship Id="rId6" Type="http://schemas.openxmlformats.org/officeDocument/2006/relationships/image" Target="../media/image39.png"/><Relationship Id="rId5" Type="http://schemas.openxmlformats.org/officeDocument/2006/relationships/image" Target="../media/image43.png"/><Relationship Id="rId4" Type="http://schemas.openxmlformats.org/officeDocument/2006/relationships/image" Target="../media/image42.png"/><Relationship Id="rId9" Type="http://schemas.openxmlformats.org/officeDocument/2006/relationships/image" Target="../media/image32.png"/></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pic>
        <p:nvPicPr>
          <p:cNvPr id="2" name="Cover art" descr="/home/claude/gr/assets/blob_title.png"/>
          <p:cNvPicPr>
            <a:picLocks noChangeAspect="1"/>
          </p:cNvPicPr>
          <p:nvPr/>
        </p:nvPicPr>
        <p:blipFill>
          <a:blip r:embed="rId3"/>
          <a:stretch>
            <a:fillRect/>
          </a:stretch>
        </p:blipFill>
        <p:spPr>
          <a:xfrm>
            <a:off x="7985455" y="0"/>
            <a:ext cx="4206240" cy="6858000"/>
          </a:xfrm>
          <a:prstGeom prst="rect">
            <a:avLst/>
          </a:prstGeom>
        </p:spPr>
      </p:pic>
      <p:sp>
        <p:nvSpPr>
          <p:cNvPr id="3" name="Text 0"/>
          <p:cNvSpPr txBox="1"/>
          <p:nvPr/>
        </p:nvSpPr>
        <p:spPr>
          <a:xfrm>
            <a:off x="755752" y="885825"/>
            <a:ext cx="6949440" cy="502920"/>
          </a:xfrm>
          <a:prstGeom prst="rect">
            <a:avLst/>
          </a:prstGeom>
          <a:noFill/>
          <a:ln/>
        </p:spPr>
        <p:txBody>
          <a:bodyPr wrap="square" lIns="0" tIns="0" rIns="0" bIns="0" rtlCol="0" anchor="t"/>
          <a:lstStyle/>
          <a:p>
            <a:pPr marL="0" indent="0">
              <a:buNone/>
            </a:pPr>
            <a:r>
              <a:rPr lang="en-US" sz="3200" b="1" dirty="0">
                <a:solidFill>
                  <a:srgbClr val="1B3A5C"/>
                </a:solidFill>
                <a:latin typeface="Calibri" pitchFamily="34" charset="0"/>
                <a:ea typeface="Calibri" pitchFamily="34" charset="-122"/>
                <a:cs typeface="Calibri" pitchFamily="34" charset="-120"/>
              </a:rPr>
              <a:t>DIGITAL TWIN CHALLENGE 2026</a:t>
            </a:r>
            <a:endParaRPr lang="en-US" sz="3200" dirty="0"/>
          </a:p>
        </p:txBody>
      </p:sp>
      <p:grpSp>
        <p:nvGrpSpPr>
          <p:cNvPr id="13" name="Group 12">
            <a:extLst>
              <a:ext uri="{FF2B5EF4-FFF2-40B4-BE49-F238E27FC236}">
                <a16:creationId xmlns:a16="http://schemas.microsoft.com/office/drawing/2014/main" id="{37029A7B-E500-60A4-D4BB-24BD62D3065E}"/>
              </a:ext>
            </a:extLst>
          </p:cNvPr>
          <p:cNvGrpSpPr/>
          <p:nvPr/>
        </p:nvGrpSpPr>
        <p:grpSpPr>
          <a:xfrm>
            <a:off x="749808" y="2048256"/>
            <a:ext cx="5346192" cy="1024128"/>
            <a:chOff x="749808" y="2560320"/>
            <a:chExt cx="5346192" cy="1024128"/>
          </a:xfrm>
        </p:grpSpPr>
        <p:sp>
          <p:nvSpPr>
            <p:cNvPr id="6" name="Shape 3"/>
            <p:cNvSpPr/>
            <p:nvPr/>
          </p:nvSpPr>
          <p:spPr>
            <a:xfrm>
              <a:off x="749808" y="2560320"/>
              <a:ext cx="5346192" cy="1024128"/>
            </a:xfrm>
            <a:prstGeom prst="rect">
              <a:avLst/>
            </a:prstGeom>
            <a:solidFill>
              <a:srgbClr val="FFFFFF"/>
            </a:solidFill>
            <a:ln w="19050">
              <a:solidFill>
                <a:srgbClr val="E9712F"/>
              </a:solidFill>
              <a:prstDash val="solid"/>
            </a:ln>
            <a:effectLst>
              <a:outerShdw blurRad="50800" dist="25400" dir="2700000" algn="bl" rotWithShape="0">
                <a:srgbClr val="000000">
                  <a:alpha val="18000"/>
                </a:srgbClr>
              </a:outerShdw>
            </a:effectLst>
          </p:spPr>
        </p:sp>
        <p:sp>
          <p:nvSpPr>
            <p:cNvPr id="7" name="Text 4"/>
            <p:cNvSpPr txBox="1"/>
            <p:nvPr/>
          </p:nvSpPr>
          <p:spPr>
            <a:xfrm>
              <a:off x="896112" y="2596896"/>
              <a:ext cx="5039324" cy="950976"/>
            </a:xfrm>
            <a:prstGeom prst="rect">
              <a:avLst/>
            </a:prstGeom>
            <a:noFill/>
            <a:ln/>
          </p:spPr>
          <p:txBody>
            <a:bodyPr wrap="square" lIns="0" tIns="0" rIns="0" bIns="0" rtlCol="0" anchor="ctr"/>
            <a:lstStyle/>
            <a:p>
              <a:pPr marL="0" indent="0">
                <a:buNone/>
              </a:pPr>
              <a:r>
                <a:rPr lang="en-US" sz="5600" b="1" dirty="0">
                  <a:solidFill>
                    <a:srgbClr val="E9712F"/>
                  </a:solidFill>
                  <a:latin typeface="Calibri" pitchFamily="34" charset="0"/>
                  <a:ea typeface="Calibri" pitchFamily="34" charset="-122"/>
                  <a:cs typeface="Calibri" pitchFamily="34" charset="-120"/>
                </a:rPr>
                <a:t>GlycoRenal Twin</a:t>
              </a:r>
              <a:endParaRPr lang="en-US" sz="5600" dirty="0"/>
            </a:p>
          </p:txBody>
        </p:sp>
      </p:grpSp>
      <p:sp>
        <p:nvSpPr>
          <p:cNvPr id="8" name="Text 5"/>
          <p:cNvSpPr txBox="1"/>
          <p:nvPr/>
        </p:nvSpPr>
        <p:spPr>
          <a:xfrm>
            <a:off x="749808" y="3396997"/>
            <a:ext cx="6766560" cy="777240"/>
          </a:xfrm>
          <a:prstGeom prst="rect">
            <a:avLst/>
          </a:prstGeom>
          <a:noFill/>
          <a:ln/>
        </p:spPr>
        <p:txBody>
          <a:bodyPr wrap="square" lIns="0" tIns="0" rIns="0" bIns="0" rtlCol="0" anchor="t"/>
          <a:lstStyle/>
          <a:p>
            <a:pPr marL="0" indent="0">
              <a:buNone/>
            </a:pPr>
            <a:r>
              <a:rPr lang="en-US" sz="1800" dirty="0">
                <a:solidFill>
                  <a:srgbClr val="2F6DB5"/>
                </a:solidFill>
                <a:latin typeface="Calibri" pitchFamily="34" charset="0"/>
                <a:ea typeface="Calibri" pitchFamily="34" charset="-122"/>
                <a:cs typeface="Calibri" pitchFamily="34" charset="-120"/>
              </a:rPr>
              <a:t>A digital twin for type 2 diabetes and kidney disease that forecasts glucose and kidney risk and tests treatments before prescribing</a:t>
            </a:r>
            <a:endParaRPr lang="en-US" sz="1800" dirty="0"/>
          </a:p>
        </p:txBody>
      </p:sp>
      <p:sp>
        <p:nvSpPr>
          <p:cNvPr id="9" name="Text 6"/>
          <p:cNvSpPr/>
          <p:nvPr/>
        </p:nvSpPr>
        <p:spPr>
          <a:xfrm>
            <a:off x="822960" y="4681728"/>
            <a:ext cx="1177290" cy="384048"/>
          </a:xfrm>
          <a:prstGeom prst="roundRect">
            <a:avLst>
              <a:gd name="adj" fmla="val 19048"/>
            </a:avLst>
          </a:prstGeom>
          <a:solidFill>
            <a:srgbClr val="F5B08A"/>
          </a:solidFill>
          <a:ln w="12700">
            <a:solidFill>
              <a:srgbClr val="E9712F"/>
            </a:solidFill>
            <a:prstDash val="sysDot"/>
          </a:ln>
        </p:spPr>
        <p:txBody>
          <a:bodyPr wrap="square" lIns="0" tIns="0" rIns="0" bIns="0" rtlCol="0" anchor="ctr"/>
          <a:lstStyle/>
          <a:p>
            <a:pPr marL="0" indent="0" algn="ctr">
              <a:buNone/>
            </a:pPr>
            <a:r>
              <a:rPr lang="en-US" sz="1500" b="1" dirty="0">
                <a:solidFill>
                  <a:srgbClr val="1F2A37"/>
                </a:solidFill>
              </a:rPr>
              <a:t>Presented By</a:t>
            </a:r>
            <a:endParaRPr lang="en-US" sz="1500" dirty="0"/>
          </a:p>
        </p:txBody>
      </p:sp>
      <p:sp>
        <p:nvSpPr>
          <p:cNvPr id="10" name="Text 7"/>
          <p:cNvSpPr txBox="1"/>
          <p:nvPr/>
        </p:nvSpPr>
        <p:spPr>
          <a:xfrm>
            <a:off x="841248" y="5166360"/>
            <a:ext cx="6583680" cy="1188720"/>
          </a:xfrm>
          <a:prstGeom prst="rect">
            <a:avLst/>
          </a:prstGeom>
          <a:noFill/>
          <a:ln/>
        </p:spPr>
        <p:txBody>
          <a:bodyPr wrap="square" lIns="0" tIns="0" rIns="0" bIns="0" rtlCol="0" anchor="t"/>
          <a:lstStyle/>
          <a:p>
            <a:pPr marL="0" indent="0">
              <a:buNone/>
            </a:pPr>
            <a:r>
              <a:rPr lang="en-US" sz="1700" b="1" dirty="0">
                <a:solidFill>
                  <a:srgbClr val="1F2A37"/>
                </a:solidFill>
                <a:latin typeface="Calibri" pitchFamily="34" charset="0"/>
                <a:ea typeface="Calibri" pitchFamily="34" charset="-122"/>
                <a:cs typeface="Calibri" pitchFamily="34" charset="-120"/>
              </a:rPr>
              <a:t>Shiwangi Singh</a:t>
            </a:r>
            <a:endParaRPr lang="en-US" sz="1700" dirty="0"/>
          </a:p>
          <a:p>
            <a:pPr marL="0" indent="0">
              <a:buNone/>
            </a:pPr>
            <a:r>
              <a:rPr lang="en-US" sz="1200" dirty="0" err="1">
                <a:solidFill>
                  <a:srgbClr val="52606D"/>
                </a:solidFill>
                <a:latin typeface="Calibri" pitchFamily="34" charset="0"/>
                <a:ea typeface="Calibri" pitchFamily="34" charset="-122"/>
                <a:cs typeface="Calibri" pitchFamily="34" charset="-120"/>
              </a:rPr>
              <a:t>B.Pharm</a:t>
            </a:r>
            <a:r>
              <a:rPr lang="en-US" sz="1200" dirty="0">
                <a:solidFill>
                  <a:srgbClr val="52606D"/>
                </a:solidFill>
                <a:latin typeface="Calibri" pitchFamily="34" charset="0"/>
                <a:ea typeface="Calibri" pitchFamily="34" charset="-122"/>
                <a:cs typeface="Calibri" pitchFamily="34" charset="-120"/>
              </a:rPr>
              <a:t>, Jamia Hamdard</a:t>
            </a:r>
            <a:endParaRPr lang="en-US" sz="1700" dirty="0"/>
          </a:p>
          <a:p>
            <a:pPr marL="0" indent="0">
              <a:buNone/>
            </a:pPr>
            <a:r>
              <a:rPr lang="en-US" sz="1700" b="1" dirty="0">
                <a:solidFill>
                  <a:srgbClr val="1F2A37"/>
                </a:solidFill>
                <a:latin typeface="Calibri" pitchFamily="34" charset="0"/>
                <a:ea typeface="Calibri" pitchFamily="34" charset="-122"/>
                <a:cs typeface="Calibri" pitchFamily="34" charset="-120"/>
              </a:rPr>
              <a:t>Shalu Singh</a:t>
            </a:r>
            <a:endParaRPr lang="en-US" sz="1700" dirty="0"/>
          </a:p>
          <a:p>
            <a:pPr marL="0" indent="0">
              <a:buNone/>
            </a:pPr>
            <a:r>
              <a:rPr lang="en-US" sz="1200" dirty="0">
                <a:solidFill>
                  <a:srgbClr val="52606D"/>
                </a:solidFill>
                <a:latin typeface="Calibri" pitchFamily="34" charset="0"/>
                <a:ea typeface="Calibri" pitchFamily="34" charset="-122"/>
                <a:cs typeface="Calibri" pitchFamily="34" charset="-120"/>
              </a:rPr>
              <a:t>B.Tech, KIET </a:t>
            </a:r>
            <a:endParaRPr lang="en-US" sz="1700" dirty="0"/>
          </a:p>
        </p:txBody>
      </p:sp>
      <p:pic>
        <p:nvPicPr>
          <p:cNvPr id="11" name="Image 1" descr="/home/claude/gr/assets/mark.png"/>
          <p:cNvPicPr>
            <a:picLocks noChangeAspect="1"/>
          </p:cNvPicPr>
          <p:nvPr/>
        </p:nvPicPr>
        <p:blipFill>
          <a:blip r:embed="rId4"/>
          <a:stretch>
            <a:fillRect/>
          </a:stretch>
        </p:blipFill>
        <p:spPr>
          <a:xfrm>
            <a:off x="6453607" y="502920"/>
            <a:ext cx="1351450" cy="1351450"/>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itle tag"/>
          <p:cNvSpPr/>
          <p:nvPr/>
        </p:nvSpPr>
        <p:spPr>
          <a:xfrm>
            <a:off x="274320" y="109728"/>
            <a:ext cx="3178454" cy="603504"/>
          </a:xfrm>
          <a:prstGeom prst="rect">
            <a:avLst/>
          </a:prstGeom>
          <a:solidFill>
            <a:srgbClr val="FFFFFF"/>
          </a:solidFill>
          <a:ln w="22225">
            <a:solidFill>
              <a:srgbClr val="2F6DB5"/>
            </a:solidFill>
            <a:prstDash val="solid"/>
          </a:ln>
        </p:spPr>
      </p:sp>
      <p:sp>
        <p:nvSpPr>
          <p:cNvPr id="3" name="Text 10"/>
          <p:cNvSpPr>
            <a:spLocks noGrp="1"/>
          </p:cNvSpPr>
          <p:nvPr>
            <p:ph type="title" idx="111" hasCustomPrompt="1"/>
          </p:nvPr>
        </p:nvSpPr>
        <p:spPr>
          <a:xfrm>
            <a:off x="384048" y="128016"/>
            <a:ext cx="8686800" cy="566928"/>
          </a:xfrm>
          <a:prstGeom prst="rect">
            <a:avLst/>
          </a:prstGeom>
          <a:noFill/>
          <a:ln/>
        </p:spPr>
        <p:txBody>
          <a:bodyPr wrap="square" lIns="0" tIns="0" rIns="0" bIns="0" rtlCol="0" anchor="ctr"/>
          <a:lstStyle/>
          <a:p>
            <a:pPr marL="0" indent="0" algn="l">
              <a:buNone/>
            </a:pPr>
            <a:r>
              <a:rPr lang="en-US" sz="2600" b="1" dirty="0">
                <a:solidFill>
                  <a:srgbClr val="E9712F"/>
                </a:solidFill>
              </a:rPr>
              <a:t>Problem &amp; Approach</a:t>
            </a:r>
            <a:endParaRPr lang="en-US" sz="2600" dirty="0"/>
          </a:p>
        </p:txBody>
      </p:sp>
      <p:sp>
        <p:nvSpPr>
          <p:cNvPr id="4" name="Text 2"/>
          <p:cNvSpPr txBox="1"/>
          <p:nvPr/>
        </p:nvSpPr>
        <p:spPr>
          <a:xfrm>
            <a:off x="365760" y="841248"/>
            <a:ext cx="3657600" cy="256032"/>
          </a:xfrm>
          <a:prstGeom prst="rect">
            <a:avLst/>
          </a:prstGeom>
          <a:noFill/>
          <a:ln/>
        </p:spPr>
        <p:txBody>
          <a:bodyPr wrap="square" lIns="0" tIns="0" rIns="0" bIns="0" rtlCol="0" anchor="t"/>
          <a:lstStyle/>
          <a:p>
            <a:pPr marL="0" indent="0">
              <a:buNone/>
            </a:pPr>
            <a:r>
              <a:rPr lang="en-US" sz="1200" b="1" kern="0" spc="100" dirty="0">
                <a:solidFill>
                  <a:srgbClr val="1B3A5C"/>
                </a:solidFill>
                <a:latin typeface="Calibri" pitchFamily="34" charset="0"/>
                <a:ea typeface="Calibri" pitchFamily="34" charset="-122"/>
                <a:cs typeface="Calibri" pitchFamily="34" charset="-120"/>
              </a:rPr>
              <a:t>KEY PROBLEMS</a:t>
            </a:r>
            <a:endParaRPr lang="en-US" sz="1200" dirty="0"/>
          </a:p>
        </p:txBody>
      </p:sp>
      <p:sp>
        <p:nvSpPr>
          <p:cNvPr id="5" name="Problem 1"/>
          <p:cNvSpPr/>
          <p:nvPr/>
        </p:nvSpPr>
        <p:spPr>
          <a:xfrm>
            <a:off x="320040" y="1170432"/>
            <a:ext cx="3090672" cy="1143000"/>
          </a:xfrm>
          <a:prstGeom prst="roundRect">
            <a:avLst>
              <a:gd name="adj" fmla="val 8000"/>
            </a:avLst>
          </a:prstGeom>
          <a:solidFill>
            <a:srgbClr val="FDEBDF"/>
          </a:solidFill>
          <a:ln w="15875">
            <a:solidFill>
              <a:srgbClr val="F2A679"/>
            </a:solidFill>
            <a:prstDash val="dash"/>
          </a:ln>
        </p:spPr>
      </p:sp>
      <p:sp>
        <p:nvSpPr>
          <p:cNvPr id="6" name="Text 4"/>
          <p:cNvSpPr/>
          <p:nvPr/>
        </p:nvSpPr>
        <p:spPr>
          <a:xfrm>
            <a:off x="448056" y="1298448"/>
            <a:ext cx="310896" cy="310896"/>
          </a:xfrm>
          <a:prstGeom prst="ellipse">
            <a:avLst/>
          </a:prstGeom>
          <a:solidFill>
            <a:srgbClr val="E9712F"/>
          </a:solidFill>
          <a:ln/>
        </p:spPr>
        <p:txBody>
          <a:bodyPr wrap="square" lIns="0" tIns="0" rIns="0" bIns="0" rtlCol="0" anchor="ctr"/>
          <a:lstStyle/>
          <a:p>
            <a:pPr marL="0" indent="0" algn="ctr">
              <a:buNone/>
            </a:pPr>
            <a:r>
              <a:rPr lang="en-US" sz="1200" b="1" dirty="0">
                <a:solidFill>
                  <a:srgbClr val="FFFFFF"/>
                </a:solidFill>
              </a:rPr>
              <a:t>1</a:t>
            </a:r>
            <a:endParaRPr lang="en-US" sz="1200" dirty="0"/>
          </a:p>
        </p:txBody>
      </p:sp>
      <p:sp>
        <p:nvSpPr>
          <p:cNvPr id="7" name="Text 5"/>
          <p:cNvSpPr txBox="1"/>
          <p:nvPr/>
        </p:nvSpPr>
        <p:spPr>
          <a:xfrm>
            <a:off x="832104" y="1280160"/>
            <a:ext cx="2468880" cy="347472"/>
          </a:xfrm>
          <a:prstGeom prst="rect">
            <a:avLst/>
          </a:prstGeom>
          <a:noFill/>
          <a:ln/>
        </p:spPr>
        <p:txBody>
          <a:bodyPr wrap="square" lIns="0" tIns="0" rIns="0" bIns="0" rtlCol="0" anchor="ctr"/>
          <a:lstStyle/>
          <a:p>
            <a:pPr marL="0" indent="0">
              <a:buNone/>
            </a:pPr>
            <a:r>
              <a:rPr lang="en-US" sz="1300" b="1" dirty="0">
                <a:solidFill>
                  <a:srgbClr val="1B3A5C"/>
                </a:solidFill>
                <a:latin typeface="Calibri" pitchFamily="34" charset="0"/>
                <a:ea typeface="Calibri" pitchFamily="34" charset="-122"/>
                <a:cs typeface="Calibri" pitchFamily="34" charset="-120"/>
              </a:rPr>
              <a:t>Kidney damage is found late</a:t>
            </a:r>
            <a:endParaRPr lang="en-US" sz="1300" dirty="0"/>
          </a:p>
        </p:txBody>
      </p:sp>
      <p:sp>
        <p:nvSpPr>
          <p:cNvPr id="8" name="Text 6"/>
          <p:cNvSpPr txBox="1"/>
          <p:nvPr/>
        </p:nvSpPr>
        <p:spPr>
          <a:xfrm>
            <a:off x="484632" y="1664208"/>
            <a:ext cx="2788920" cy="603504"/>
          </a:xfrm>
          <a:prstGeom prst="rect">
            <a:avLst/>
          </a:prstGeom>
          <a:noFill/>
          <a:ln/>
        </p:spPr>
        <p:txBody>
          <a:bodyPr wrap="square" lIns="0" tIns="0" rIns="0" bIns="0" rtlCol="0" anchor="t"/>
          <a:lstStyle/>
          <a:p>
            <a:pPr marL="0" indent="0">
              <a:buNone/>
            </a:pPr>
            <a:r>
              <a:rPr lang="en-US" sz="1100" dirty="0">
                <a:solidFill>
                  <a:srgbClr val="1F2A37"/>
                </a:solidFill>
                <a:latin typeface="Calibri" pitchFamily="34" charset="0"/>
                <a:ea typeface="Calibri" pitchFamily="34" charset="-122"/>
                <a:cs typeface="Calibri" pitchFamily="34" charset="-120"/>
              </a:rPr>
              <a:t>UACR and eGFR are tested irregularly, so DKD is often caught after function is already lost</a:t>
            </a:r>
            <a:endParaRPr lang="en-US" sz="1100" dirty="0"/>
          </a:p>
        </p:txBody>
      </p:sp>
      <p:sp>
        <p:nvSpPr>
          <p:cNvPr id="9" name="Problem 2"/>
          <p:cNvSpPr/>
          <p:nvPr/>
        </p:nvSpPr>
        <p:spPr>
          <a:xfrm>
            <a:off x="3630168" y="1170432"/>
            <a:ext cx="3090672" cy="1143000"/>
          </a:xfrm>
          <a:prstGeom prst="roundRect">
            <a:avLst>
              <a:gd name="adj" fmla="val 8000"/>
            </a:avLst>
          </a:prstGeom>
          <a:solidFill>
            <a:srgbClr val="FDEBDF"/>
          </a:solidFill>
          <a:ln w="15875">
            <a:solidFill>
              <a:srgbClr val="F2A679"/>
            </a:solidFill>
            <a:prstDash val="dash"/>
          </a:ln>
        </p:spPr>
      </p:sp>
      <p:sp>
        <p:nvSpPr>
          <p:cNvPr id="10" name="Text 8"/>
          <p:cNvSpPr/>
          <p:nvPr/>
        </p:nvSpPr>
        <p:spPr>
          <a:xfrm>
            <a:off x="3758184" y="1298448"/>
            <a:ext cx="310896" cy="310896"/>
          </a:xfrm>
          <a:prstGeom prst="ellipse">
            <a:avLst/>
          </a:prstGeom>
          <a:solidFill>
            <a:srgbClr val="E9712F"/>
          </a:solidFill>
          <a:ln/>
        </p:spPr>
        <p:txBody>
          <a:bodyPr wrap="square" lIns="0" tIns="0" rIns="0" bIns="0" rtlCol="0" anchor="ctr"/>
          <a:lstStyle/>
          <a:p>
            <a:pPr marL="0" indent="0" algn="ctr">
              <a:buNone/>
            </a:pPr>
            <a:r>
              <a:rPr lang="en-US" sz="1200" b="1" dirty="0">
                <a:solidFill>
                  <a:srgbClr val="FFFFFF"/>
                </a:solidFill>
              </a:rPr>
              <a:t>2</a:t>
            </a:r>
            <a:endParaRPr lang="en-US" sz="1200" dirty="0"/>
          </a:p>
        </p:txBody>
      </p:sp>
      <p:sp>
        <p:nvSpPr>
          <p:cNvPr id="11" name="Text 9"/>
          <p:cNvSpPr txBox="1"/>
          <p:nvPr/>
        </p:nvSpPr>
        <p:spPr>
          <a:xfrm>
            <a:off x="4142232" y="1280160"/>
            <a:ext cx="2468880" cy="347472"/>
          </a:xfrm>
          <a:prstGeom prst="rect">
            <a:avLst/>
          </a:prstGeom>
          <a:noFill/>
          <a:ln/>
        </p:spPr>
        <p:txBody>
          <a:bodyPr wrap="square" lIns="0" tIns="0" rIns="0" bIns="0" rtlCol="0" anchor="ctr"/>
          <a:lstStyle/>
          <a:p>
            <a:pPr marL="0" indent="0">
              <a:buNone/>
            </a:pPr>
            <a:r>
              <a:rPr lang="en-US" sz="1300" b="1" dirty="0">
                <a:solidFill>
                  <a:srgbClr val="1B3A5C"/>
                </a:solidFill>
                <a:latin typeface="Calibri" pitchFamily="34" charset="0"/>
                <a:ea typeface="Calibri" pitchFamily="34" charset="-122"/>
                <a:cs typeface="Calibri" pitchFamily="34" charset="-120"/>
              </a:rPr>
              <a:t>Data sits in separate systems</a:t>
            </a:r>
            <a:endParaRPr lang="en-US" sz="1300" dirty="0"/>
          </a:p>
        </p:txBody>
      </p:sp>
      <p:sp>
        <p:nvSpPr>
          <p:cNvPr id="12" name="Text 10"/>
          <p:cNvSpPr txBox="1"/>
          <p:nvPr/>
        </p:nvSpPr>
        <p:spPr>
          <a:xfrm>
            <a:off x="3794760" y="1664208"/>
            <a:ext cx="2788920" cy="603504"/>
          </a:xfrm>
          <a:prstGeom prst="rect">
            <a:avLst/>
          </a:prstGeom>
          <a:noFill/>
          <a:ln/>
        </p:spPr>
        <p:txBody>
          <a:bodyPr wrap="square" lIns="0" tIns="0" rIns="0" bIns="0" rtlCol="0" anchor="t"/>
          <a:lstStyle/>
          <a:p>
            <a:pPr marL="0" indent="0">
              <a:buNone/>
            </a:pPr>
            <a:r>
              <a:rPr lang="en-US" sz="1100" dirty="0">
                <a:solidFill>
                  <a:srgbClr val="1F2A37"/>
                </a:solidFill>
                <a:latin typeface="Calibri" pitchFamily="34" charset="0"/>
                <a:ea typeface="Calibri" pitchFamily="34" charset="-122"/>
                <a:cs typeface="Calibri" pitchFamily="34" charset="-120"/>
              </a:rPr>
              <a:t>Hospital EHR, CGM, home BP and meals rarely appear in one view of the patient</a:t>
            </a:r>
            <a:endParaRPr lang="en-US" sz="1100" dirty="0"/>
          </a:p>
        </p:txBody>
      </p:sp>
      <p:sp>
        <p:nvSpPr>
          <p:cNvPr id="13" name="Problem 3"/>
          <p:cNvSpPr/>
          <p:nvPr/>
        </p:nvSpPr>
        <p:spPr>
          <a:xfrm>
            <a:off x="320040" y="2468880"/>
            <a:ext cx="3090672" cy="1143000"/>
          </a:xfrm>
          <a:prstGeom prst="roundRect">
            <a:avLst>
              <a:gd name="adj" fmla="val 8000"/>
            </a:avLst>
          </a:prstGeom>
          <a:solidFill>
            <a:srgbClr val="FDEBDF"/>
          </a:solidFill>
          <a:ln w="15875">
            <a:solidFill>
              <a:srgbClr val="F2A679"/>
            </a:solidFill>
            <a:prstDash val="dash"/>
          </a:ln>
        </p:spPr>
      </p:sp>
      <p:sp>
        <p:nvSpPr>
          <p:cNvPr id="14" name="Text 12"/>
          <p:cNvSpPr/>
          <p:nvPr/>
        </p:nvSpPr>
        <p:spPr>
          <a:xfrm>
            <a:off x="448056" y="2596896"/>
            <a:ext cx="310896" cy="310896"/>
          </a:xfrm>
          <a:prstGeom prst="ellipse">
            <a:avLst/>
          </a:prstGeom>
          <a:solidFill>
            <a:srgbClr val="E9712F"/>
          </a:solidFill>
          <a:ln/>
        </p:spPr>
        <p:txBody>
          <a:bodyPr wrap="square" lIns="0" tIns="0" rIns="0" bIns="0" rtlCol="0" anchor="ctr"/>
          <a:lstStyle/>
          <a:p>
            <a:pPr marL="0" indent="0" algn="ctr">
              <a:buNone/>
            </a:pPr>
            <a:r>
              <a:rPr lang="en-US" sz="1200" b="1" dirty="0">
                <a:solidFill>
                  <a:srgbClr val="FFFFFF"/>
                </a:solidFill>
              </a:rPr>
              <a:t>3</a:t>
            </a:r>
            <a:endParaRPr lang="en-US" sz="1200" dirty="0"/>
          </a:p>
        </p:txBody>
      </p:sp>
      <p:sp>
        <p:nvSpPr>
          <p:cNvPr id="15" name="Text 13"/>
          <p:cNvSpPr txBox="1"/>
          <p:nvPr/>
        </p:nvSpPr>
        <p:spPr>
          <a:xfrm>
            <a:off x="832104" y="2578608"/>
            <a:ext cx="2468880" cy="347472"/>
          </a:xfrm>
          <a:prstGeom prst="rect">
            <a:avLst/>
          </a:prstGeom>
          <a:noFill/>
          <a:ln/>
        </p:spPr>
        <p:txBody>
          <a:bodyPr wrap="square" lIns="0" tIns="0" rIns="0" bIns="0" rtlCol="0" anchor="ctr"/>
          <a:lstStyle/>
          <a:p>
            <a:pPr marL="0" indent="0">
              <a:buNone/>
            </a:pPr>
            <a:r>
              <a:rPr lang="en-US" sz="1300" b="1" dirty="0">
                <a:solidFill>
                  <a:srgbClr val="1B3A5C"/>
                </a:solidFill>
                <a:latin typeface="Calibri" pitchFamily="34" charset="0"/>
                <a:ea typeface="Calibri" pitchFamily="34" charset="-122"/>
                <a:cs typeface="Calibri" pitchFamily="34" charset="-120"/>
              </a:rPr>
              <a:t>Risk scores ignore the individual</a:t>
            </a:r>
            <a:endParaRPr lang="en-US" sz="1300" dirty="0"/>
          </a:p>
        </p:txBody>
      </p:sp>
      <p:sp>
        <p:nvSpPr>
          <p:cNvPr id="16" name="Text 14"/>
          <p:cNvSpPr txBox="1"/>
          <p:nvPr/>
        </p:nvSpPr>
        <p:spPr>
          <a:xfrm>
            <a:off x="484632" y="2962656"/>
            <a:ext cx="2788920" cy="603504"/>
          </a:xfrm>
          <a:prstGeom prst="rect">
            <a:avLst/>
          </a:prstGeom>
          <a:noFill/>
          <a:ln/>
        </p:spPr>
        <p:txBody>
          <a:bodyPr wrap="square" lIns="0" tIns="0" rIns="0" bIns="0" rtlCol="0" anchor="t"/>
          <a:lstStyle/>
          <a:p>
            <a:pPr marL="0" indent="0">
              <a:buNone/>
            </a:pPr>
            <a:r>
              <a:rPr lang="en-US" sz="1100" dirty="0">
                <a:solidFill>
                  <a:srgbClr val="1F2A37"/>
                </a:solidFill>
                <a:latin typeface="Calibri" pitchFamily="34" charset="0"/>
                <a:ea typeface="Calibri" pitchFamily="34" charset="-122"/>
                <a:cs typeface="Calibri" pitchFamily="34" charset="-120"/>
              </a:rPr>
              <a:t>Population calculators ignore how this patient responds to food, walks and drugs</a:t>
            </a:r>
            <a:endParaRPr lang="en-US" sz="1100" dirty="0"/>
          </a:p>
        </p:txBody>
      </p:sp>
      <p:sp>
        <p:nvSpPr>
          <p:cNvPr id="17" name="Problem 4"/>
          <p:cNvSpPr/>
          <p:nvPr/>
        </p:nvSpPr>
        <p:spPr>
          <a:xfrm>
            <a:off x="3630168" y="2468880"/>
            <a:ext cx="3090672" cy="1143000"/>
          </a:xfrm>
          <a:prstGeom prst="roundRect">
            <a:avLst>
              <a:gd name="adj" fmla="val 8000"/>
            </a:avLst>
          </a:prstGeom>
          <a:solidFill>
            <a:srgbClr val="FDEBDF"/>
          </a:solidFill>
          <a:ln w="15875">
            <a:solidFill>
              <a:srgbClr val="F2A679"/>
            </a:solidFill>
            <a:prstDash val="dash"/>
          </a:ln>
        </p:spPr>
      </p:sp>
      <p:sp>
        <p:nvSpPr>
          <p:cNvPr id="18" name="Text 16"/>
          <p:cNvSpPr/>
          <p:nvPr/>
        </p:nvSpPr>
        <p:spPr>
          <a:xfrm>
            <a:off x="3758184" y="2596896"/>
            <a:ext cx="310896" cy="310896"/>
          </a:xfrm>
          <a:prstGeom prst="ellipse">
            <a:avLst/>
          </a:prstGeom>
          <a:solidFill>
            <a:srgbClr val="E9712F"/>
          </a:solidFill>
          <a:ln/>
        </p:spPr>
        <p:txBody>
          <a:bodyPr wrap="square" lIns="0" tIns="0" rIns="0" bIns="0" rtlCol="0" anchor="ctr"/>
          <a:lstStyle/>
          <a:p>
            <a:pPr marL="0" indent="0" algn="ctr">
              <a:buNone/>
            </a:pPr>
            <a:r>
              <a:rPr lang="en-US" sz="1200" b="1" dirty="0">
                <a:solidFill>
                  <a:srgbClr val="FFFFFF"/>
                </a:solidFill>
              </a:rPr>
              <a:t>4</a:t>
            </a:r>
            <a:endParaRPr lang="en-US" sz="1200" dirty="0"/>
          </a:p>
        </p:txBody>
      </p:sp>
      <p:sp>
        <p:nvSpPr>
          <p:cNvPr id="19" name="Text 17"/>
          <p:cNvSpPr txBox="1"/>
          <p:nvPr/>
        </p:nvSpPr>
        <p:spPr>
          <a:xfrm>
            <a:off x="4142232" y="2578608"/>
            <a:ext cx="2468880" cy="347472"/>
          </a:xfrm>
          <a:prstGeom prst="rect">
            <a:avLst/>
          </a:prstGeom>
          <a:noFill/>
          <a:ln/>
        </p:spPr>
        <p:txBody>
          <a:bodyPr wrap="square" lIns="0" tIns="0" rIns="0" bIns="0" rtlCol="0" anchor="ctr"/>
          <a:lstStyle/>
          <a:p>
            <a:pPr marL="0" indent="0">
              <a:buNone/>
            </a:pPr>
            <a:r>
              <a:rPr lang="en-US" sz="1300" b="1" dirty="0">
                <a:solidFill>
                  <a:srgbClr val="1B3A5C"/>
                </a:solidFill>
                <a:latin typeface="Calibri" pitchFamily="34" charset="0"/>
                <a:ea typeface="Calibri" pitchFamily="34" charset="-122"/>
                <a:cs typeface="Calibri" pitchFamily="34" charset="-120"/>
              </a:rPr>
              <a:t>Treatment choice is complex</a:t>
            </a:r>
            <a:endParaRPr lang="en-US" sz="1300" dirty="0"/>
          </a:p>
        </p:txBody>
      </p:sp>
      <p:sp>
        <p:nvSpPr>
          <p:cNvPr id="20" name="Text 18"/>
          <p:cNvSpPr txBox="1"/>
          <p:nvPr/>
        </p:nvSpPr>
        <p:spPr>
          <a:xfrm>
            <a:off x="3794760" y="2962656"/>
            <a:ext cx="2788920" cy="603504"/>
          </a:xfrm>
          <a:prstGeom prst="rect">
            <a:avLst/>
          </a:prstGeom>
          <a:noFill/>
          <a:ln/>
        </p:spPr>
        <p:txBody>
          <a:bodyPr wrap="square" lIns="0" tIns="0" rIns="0" bIns="0" rtlCol="0" anchor="t"/>
          <a:lstStyle/>
          <a:p>
            <a:pPr marL="0" indent="0">
              <a:buNone/>
            </a:pPr>
            <a:r>
              <a:rPr lang="en-US" sz="1100" dirty="0">
                <a:solidFill>
                  <a:srgbClr val="1F2A37"/>
                </a:solidFill>
                <a:latin typeface="Calibri" pitchFamily="34" charset="0"/>
                <a:ea typeface="Calibri" pitchFamily="34" charset="-122"/>
                <a:cs typeface="Calibri" pitchFamily="34" charset="-120"/>
              </a:rPr>
              <a:t>SGLT2i, GLP-1 RA, finerenone: eligibility depends on eGFR, UACR, potassium, current drugs</a:t>
            </a:r>
            <a:endParaRPr lang="en-US" sz="1100" dirty="0"/>
          </a:p>
        </p:txBody>
      </p:sp>
      <p:sp>
        <p:nvSpPr>
          <p:cNvPr id="21" name="Problem 5"/>
          <p:cNvSpPr/>
          <p:nvPr/>
        </p:nvSpPr>
        <p:spPr>
          <a:xfrm>
            <a:off x="320040" y="3767328"/>
            <a:ext cx="3090672" cy="1143000"/>
          </a:xfrm>
          <a:prstGeom prst="roundRect">
            <a:avLst>
              <a:gd name="adj" fmla="val 8000"/>
            </a:avLst>
          </a:prstGeom>
          <a:solidFill>
            <a:srgbClr val="FDEBDF"/>
          </a:solidFill>
          <a:ln w="15875">
            <a:solidFill>
              <a:srgbClr val="F2A679"/>
            </a:solidFill>
            <a:prstDash val="dash"/>
          </a:ln>
        </p:spPr>
      </p:sp>
      <p:sp>
        <p:nvSpPr>
          <p:cNvPr id="22" name="Text 20"/>
          <p:cNvSpPr/>
          <p:nvPr/>
        </p:nvSpPr>
        <p:spPr>
          <a:xfrm>
            <a:off x="448056" y="3895344"/>
            <a:ext cx="310896" cy="310896"/>
          </a:xfrm>
          <a:prstGeom prst="ellipse">
            <a:avLst/>
          </a:prstGeom>
          <a:solidFill>
            <a:srgbClr val="E9712F"/>
          </a:solidFill>
          <a:ln/>
        </p:spPr>
        <p:txBody>
          <a:bodyPr wrap="square" lIns="0" tIns="0" rIns="0" bIns="0" rtlCol="0" anchor="ctr"/>
          <a:lstStyle/>
          <a:p>
            <a:pPr marL="0" indent="0" algn="ctr">
              <a:buNone/>
            </a:pPr>
            <a:r>
              <a:rPr lang="en-US" sz="1200" b="1" dirty="0">
                <a:solidFill>
                  <a:srgbClr val="FFFFFF"/>
                </a:solidFill>
              </a:rPr>
              <a:t>5</a:t>
            </a:r>
            <a:endParaRPr lang="en-US" sz="1200" dirty="0"/>
          </a:p>
        </p:txBody>
      </p:sp>
      <p:sp>
        <p:nvSpPr>
          <p:cNvPr id="23" name="Text 21"/>
          <p:cNvSpPr txBox="1"/>
          <p:nvPr/>
        </p:nvSpPr>
        <p:spPr>
          <a:xfrm>
            <a:off x="832104" y="3877056"/>
            <a:ext cx="2468880" cy="347472"/>
          </a:xfrm>
          <a:prstGeom prst="rect">
            <a:avLst/>
          </a:prstGeom>
          <a:noFill/>
          <a:ln/>
        </p:spPr>
        <p:txBody>
          <a:bodyPr wrap="square" lIns="0" tIns="0" rIns="0" bIns="0" rtlCol="0" anchor="ctr"/>
          <a:lstStyle/>
          <a:p>
            <a:pPr marL="0" indent="0">
              <a:buNone/>
            </a:pPr>
            <a:r>
              <a:rPr lang="en-US" sz="1300" b="1" dirty="0">
                <a:solidFill>
                  <a:srgbClr val="1B3A5C"/>
                </a:solidFill>
                <a:latin typeface="Calibri" pitchFamily="34" charset="0"/>
                <a:ea typeface="Calibri" pitchFamily="34" charset="-122"/>
                <a:cs typeface="Calibri" pitchFamily="34" charset="-120"/>
              </a:rPr>
              <a:t>Missed doses go unseen</a:t>
            </a:r>
            <a:endParaRPr lang="en-US" sz="1300" dirty="0"/>
          </a:p>
        </p:txBody>
      </p:sp>
      <p:sp>
        <p:nvSpPr>
          <p:cNvPr id="24" name="Text 22"/>
          <p:cNvSpPr txBox="1"/>
          <p:nvPr/>
        </p:nvSpPr>
        <p:spPr>
          <a:xfrm>
            <a:off x="484632" y="4261104"/>
            <a:ext cx="2788920" cy="603504"/>
          </a:xfrm>
          <a:prstGeom prst="rect">
            <a:avLst/>
          </a:prstGeom>
          <a:noFill/>
          <a:ln/>
        </p:spPr>
        <p:txBody>
          <a:bodyPr wrap="square" lIns="0" tIns="0" rIns="0" bIns="0" rtlCol="0" anchor="t"/>
          <a:lstStyle/>
          <a:p>
            <a:pPr marL="0" indent="0">
              <a:buNone/>
            </a:pPr>
            <a:r>
              <a:rPr lang="en-US" sz="1100" dirty="0">
                <a:solidFill>
                  <a:srgbClr val="1F2A37"/>
                </a:solidFill>
                <a:latin typeface="Calibri" pitchFamily="34" charset="0"/>
                <a:ea typeface="Calibri" pitchFamily="34" charset="-122"/>
                <a:cs typeface="Calibri" pitchFamily="34" charset="-120"/>
              </a:rPr>
              <a:t>Adherence drops between clinic visits and nobody knows until the next HbA1c</a:t>
            </a:r>
            <a:endParaRPr lang="en-US" sz="1100" dirty="0"/>
          </a:p>
        </p:txBody>
      </p:sp>
      <p:sp>
        <p:nvSpPr>
          <p:cNvPr id="25" name="Problem 6"/>
          <p:cNvSpPr/>
          <p:nvPr/>
        </p:nvSpPr>
        <p:spPr>
          <a:xfrm>
            <a:off x="3630168" y="3767328"/>
            <a:ext cx="3090672" cy="1143000"/>
          </a:xfrm>
          <a:prstGeom prst="roundRect">
            <a:avLst>
              <a:gd name="adj" fmla="val 8000"/>
            </a:avLst>
          </a:prstGeom>
          <a:solidFill>
            <a:srgbClr val="FDEBDF"/>
          </a:solidFill>
          <a:ln w="15875">
            <a:solidFill>
              <a:srgbClr val="F2A679"/>
            </a:solidFill>
            <a:prstDash val="dash"/>
          </a:ln>
        </p:spPr>
      </p:sp>
      <p:sp>
        <p:nvSpPr>
          <p:cNvPr id="26" name="Text 24"/>
          <p:cNvSpPr/>
          <p:nvPr/>
        </p:nvSpPr>
        <p:spPr>
          <a:xfrm>
            <a:off x="3758184" y="3895344"/>
            <a:ext cx="310896" cy="310896"/>
          </a:xfrm>
          <a:prstGeom prst="ellipse">
            <a:avLst/>
          </a:prstGeom>
          <a:solidFill>
            <a:srgbClr val="E9712F"/>
          </a:solidFill>
          <a:ln/>
        </p:spPr>
        <p:txBody>
          <a:bodyPr wrap="square" lIns="0" tIns="0" rIns="0" bIns="0" rtlCol="0" anchor="ctr"/>
          <a:lstStyle/>
          <a:p>
            <a:pPr marL="0" indent="0" algn="ctr">
              <a:buNone/>
            </a:pPr>
            <a:r>
              <a:rPr lang="en-US" sz="1200" b="1" dirty="0">
                <a:solidFill>
                  <a:srgbClr val="FFFFFF"/>
                </a:solidFill>
              </a:rPr>
              <a:t>6</a:t>
            </a:r>
            <a:endParaRPr lang="en-US" sz="1200" dirty="0"/>
          </a:p>
        </p:txBody>
      </p:sp>
      <p:sp>
        <p:nvSpPr>
          <p:cNvPr id="27" name="Text 25"/>
          <p:cNvSpPr txBox="1"/>
          <p:nvPr/>
        </p:nvSpPr>
        <p:spPr>
          <a:xfrm>
            <a:off x="4142232" y="3877056"/>
            <a:ext cx="2468880" cy="347472"/>
          </a:xfrm>
          <a:prstGeom prst="rect">
            <a:avLst/>
          </a:prstGeom>
          <a:noFill/>
          <a:ln/>
        </p:spPr>
        <p:txBody>
          <a:bodyPr wrap="square" lIns="0" tIns="0" rIns="0" bIns="0" rtlCol="0" anchor="ctr"/>
          <a:lstStyle/>
          <a:p>
            <a:pPr marL="0" indent="0">
              <a:buNone/>
            </a:pPr>
            <a:r>
              <a:rPr lang="en-US" sz="1300" b="1" dirty="0">
                <a:solidFill>
                  <a:srgbClr val="1B3A5C"/>
                </a:solidFill>
                <a:latin typeface="Calibri" pitchFamily="34" charset="0"/>
                <a:ea typeface="Calibri" pitchFamily="34" charset="-122"/>
                <a:cs typeface="Calibri" pitchFamily="34" charset="-120"/>
              </a:rPr>
              <a:t>Language barrier</a:t>
            </a:r>
            <a:endParaRPr lang="en-US" sz="1300" dirty="0"/>
          </a:p>
        </p:txBody>
      </p:sp>
      <p:sp>
        <p:nvSpPr>
          <p:cNvPr id="28" name="Text 26"/>
          <p:cNvSpPr txBox="1"/>
          <p:nvPr/>
        </p:nvSpPr>
        <p:spPr>
          <a:xfrm>
            <a:off x="3794760" y="4261104"/>
            <a:ext cx="2788920" cy="603504"/>
          </a:xfrm>
          <a:prstGeom prst="rect">
            <a:avLst/>
          </a:prstGeom>
          <a:noFill/>
          <a:ln/>
        </p:spPr>
        <p:txBody>
          <a:bodyPr wrap="square" lIns="0" tIns="0" rIns="0" bIns="0" rtlCol="0" anchor="t"/>
          <a:lstStyle/>
          <a:p>
            <a:pPr marL="0" indent="0">
              <a:buNone/>
            </a:pPr>
            <a:r>
              <a:rPr lang="en-US" sz="1100" dirty="0">
                <a:solidFill>
                  <a:srgbClr val="1F2A37"/>
                </a:solidFill>
                <a:latin typeface="Calibri" pitchFamily="34" charset="0"/>
                <a:ea typeface="Calibri" pitchFamily="34" charset="-122"/>
                <a:cs typeface="Calibri" pitchFamily="34" charset="-120"/>
              </a:rPr>
              <a:t>Many patients are more comfortable in Hindi than in English-only apps</a:t>
            </a:r>
            <a:endParaRPr lang="en-US" sz="1100" dirty="0"/>
          </a:p>
        </p:txBody>
      </p:sp>
      <p:sp>
        <p:nvSpPr>
          <p:cNvPr id="29" name="Stat 1"/>
          <p:cNvSpPr/>
          <p:nvPr/>
        </p:nvSpPr>
        <p:spPr>
          <a:xfrm>
            <a:off x="320040" y="5120640"/>
            <a:ext cx="3090672" cy="1078992"/>
          </a:xfrm>
          <a:prstGeom prst="roundRect">
            <a:avLst>
              <a:gd name="adj" fmla="val 8475"/>
            </a:avLst>
          </a:prstGeom>
          <a:solidFill>
            <a:srgbClr val="EEF5FC"/>
          </a:solidFill>
          <a:ln w="15875">
            <a:solidFill>
              <a:srgbClr val="8DBBE6"/>
            </a:solidFill>
            <a:prstDash val="dash"/>
          </a:ln>
        </p:spPr>
      </p:sp>
      <p:sp>
        <p:nvSpPr>
          <p:cNvPr id="30" name="Text 28"/>
          <p:cNvSpPr txBox="1"/>
          <p:nvPr/>
        </p:nvSpPr>
        <p:spPr>
          <a:xfrm>
            <a:off x="457200" y="5175504"/>
            <a:ext cx="1463040" cy="566928"/>
          </a:xfrm>
          <a:prstGeom prst="rect">
            <a:avLst/>
          </a:prstGeom>
          <a:noFill/>
          <a:ln/>
        </p:spPr>
        <p:txBody>
          <a:bodyPr wrap="square" lIns="0" tIns="0" rIns="0" bIns="0" rtlCol="0" anchor="ctr"/>
          <a:lstStyle/>
          <a:p>
            <a:pPr marL="0" indent="0">
              <a:buNone/>
            </a:pPr>
            <a:r>
              <a:rPr lang="en-US" sz="3200" b="1" dirty="0">
                <a:solidFill>
                  <a:srgbClr val="E9712F"/>
                </a:solidFill>
                <a:latin typeface="Calibri" pitchFamily="34" charset="0"/>
                <a:ea typeface="Calibri" pitchFamily="34" charset="-122"/>
                <a:cs typeface="Calibri" pitchFamily="34" charset="-120"/>
              </a:rPr>
              <a:t>101 M</a:t>
            </a:r>
            <a:endParaRPr lang="en-US" sz="3200" dirty="0"/>
          </a:p>
        </p:txBody>
      </p:sp>
      <p:sp>
        <p:nvSpPr>
          <p:cNvPr id="31" name="Text 29"/>
          <p:cNvSpPr txBox="1"/>
          <p:nvPr/>
        </p:nvSpPr>
        <p:spPr>
          <a:xfrm>
            <a:off x="1828800" y="5212080"/>
            <a:ext cx="1508760" cy="530352"/>
          </a:xfrm>
          <a:prstGeom prst="rect">
            <a:avLst/>
          </a:prstGeom>
          <a:noFill/>
          <a:ln/>
        </p:spPr>
        <p:txBody>
          <a:bodyPr wrap="square" lIns="0" tIns="0" rIns="0" bIns="0" rtlCol="0" anchor="ctr"/>
          <a:lstStyle/>
          <a:p>
            <a:pPr marL="0" indent="0">
              <a:buNone/>
            </a:pPr>
            <a:r>
              <a:rPr lang="en-US" sz="1100" b="1" dirty="0">
                <a:solidFill>
                  <a:srgbClr val="1B3A5C"/>
                </a:solidFill>
                <a:latin typeface="Calibri" pitchFamily="34" charset="0"/>
                <a:ea typeface="Calibri" pitchFamily="34" charset="-122"/>
                <a:cs typeface="Calibri" pitchFamily="34" charset="-120"/>
              </a:rPr>
              <a:t>people in India live with diabetes</a:t>
            </a:r>
            <a:endParaRPr lang="en-US" sz="1100" dirty="0"/>
          </a:p>
        </p:txBody>
      </p:sp>
      <p:sp>
        <p:nvSpPr>
          <p:cNvPr id="32" name="Text 30"/>
          <p:cNvSpPr txBox="1"/>
          <p:nvPr/>
        </p:nvSpPr>
        <p:spPr>
          <a:xfrm>
            <a:off x="457200" y="5833872"/>
            <a:ext cx="2834640" cy="274320"/>
          </a:xfrm>
          <a:prstGeom prst="rect">
            <a:avLst/>
          </a:prstGeom>
          <a:noFill/>
          <a:ln/>
        </p:spPr>
        <p:txBody>
          <a:bodyPr wrap="square" lIns="0" tIns="0" rIns="0" bIns="0" rtlCol="0" anchor="t"/>
          <a:lstStyle/>
          <a:p>
            <a:pPr marL="0" indent="0">
              <a:buNone/>
            </a:pPr>
            <a:r>
              <a:rPr lang="en-US" sz="950" dirty="0">
                <a:solidFill>
                  <a:srgbClr val="52606D"/>
                </a:solidFill>
                <a:latin typeface="Calibri" pitchFamily="34" charset="0"/>
                <a:ea typeface="Calibri" pitchFamily="34" charset="-122"/>
                <a:cs typeface="Calibri" pitchFamily="34" charset="-120"/>
              </a:rPr>
              <a:t>ICMR-INDIAB, Lancet Diabetes Endocrinol 2023</a:t>
            </a:r>
            <a:endParaRPr lang="en-US" sz="950" dirty="0"/>
          </a:p>
        </p:txBody>
      </p:sp>
      <p:sp>
        <p:nvSpPr>
          <p:cNvPr id="33" name="Stat 2"/>
          <p:cNvSpPr/>
          <p:nvPr/>
        </p:nvSpPr>
        <p:spPr>
          <a:xfrm>
            <a:off x="3630168" y="5120640"/>
            <a:ext cx="3090672" cy="1078992"/>
          </a:xfrm>
          <a:prstGeom prst="roundRect">
            <a:avLst>
              <a:gd name="adj" fmla="val 8475"/>
            </a:avLst>
          </a:prstGeom>
          <a:solidFill>
            <a:srgbClr val="EEF5FC"/>
          </a:solidFill>
          <a:ln w="15875">
            <a:solidFill>
              <a:srgbClr val="8DBBE6"/>
            </a:solidFill>
            <a:prstDash val="dash"/>
          </a:ln>
        </p:spPr>
      </p:sp>
      <p:sp>
        <p:nvSpPr>
          <p:cNvPr id="34" name="Text 32"/>
          <p:cNvSpPr txBox="1"/>
          <p:nvPr/>
        </p:nvSpPr>
        <p:spPr>
          <a:xfrm>
            <a:off x="3767328" y="5175504"/>
            <a:ext cx="1783080" cy="566928"/>
          </a:xfrm>
          <a:prstGeom prst="rect">
            <a:avLst/>
          </a:prstGeom>
          <a:noFill/>
          <a:ln/>
        </p:spPr>
        <p:txBody>
          <a:bodyPr wrap="square" lIns="0" tIns="0" rIns="0" bIns="0" rtlCol="0" anchor="ctr"/>
          <a:lstStyle/>
          <a:p>
            <a:pPr marL="0" indent="0">
              <a:buNone/>
            </a:pPr>
            <a:r>
              <a:rPr lang="en-US" sz="3000" b="1" dirty="0">
                <a:solidFill>
                  <a:srgbClr val="E9712F"/>
                </a:solidFill>
                <a:latin typeface="Calibri" pitchFamily="34" charset="0"/>
                <a:ea typeface="Calibri" pitchFamily="34" charset="-122"/>
                <a:cs typeface="Calibri" pitchFamily="34" charset="-120"/>
              </a:rPr>
              <a:t>Up to 40%</a:t>
            </a:r>
            <a:endParaRPr lang="en-US" sz="3000" dirty="0"/>
          </a:p>
        </p:txBody>
      </p:sp>
      <p:sp>
        <p:nvSpPr>
          <p:cNvPr id="35" name="Text 33"/>
          <p:cNvSpPr txBox="1"/>
          <p:nvPr/>
        </p:nvSpPr>
        <p:spPr>
          <a:xfrm>
            <a:off x="5532120" y="5193792"/>
            <a:ext cx="1115568" cy="621792"/>
          </a:xfrm>
          <a:prstGeom prst="rect">
            <a:avLst/>
          </a:prstGeom>
          <a:noFill/>
          <a:ln/>
        </p:spPr>
        <p:txBody>
          <a:bodyPr wrap="square" lIns="0" tIns="0" rIns="0" bIns="0" rtlCol="0" anchor="ctr"/>
          <a:lstStyle/>
          <a:p>
            <a:pPr marL="0" indent="0">
              <a:buNone/>
            </a:pPr>
            <a:r>
              <a:rPr lang="en-US" sz="1050" b="1" dirty="0">
                <a:solidFill>
                  <a:srgbClr val="1B3A5C"/>
                </a:solidFill>
                <a:latin typeface="Calibri" pitchFamily="34" charset="0"/>
                <a:ea typeface="Calibri" pitchFamily="34" charset="-122"/>
                <a:cs typeface="Calibri" pitchFamily="34" charset="-120"/>
              </a:rPr>
              <a:t>of people with diabetes develop kidney disease</a:t>
            </a:r>
            <a:endParaRPr lang="en-US" sz="1050" dirty="0"/>
          </a:p>
        </p:txBody>
      </p:sp>
      <p:sp>
        <p:nvSpPr>
          <p:cNvPr id="36" name="Text 34"/>
          <p:cNvSpPr txBox="1"/>
          <p:nvPr/>
        </p:nvSpPr>
        <p:spPr>
          <a:xfrm>
            <a:off x="3767328" y="5833872"/>
            <a:ext cx="2834640" cy="274320"/>
          </a:xfrm>
          <a:prstGeom prst="rect">
            <a:avLst/>
          </a:prstGeom>
          <a:noFill/>
          <a:ln/>
        </p:spPr>
        <p:txBody>
          <a:bodyPr wrap="square" lIns="0" tIns="0" rIns="0" bIns="0" rtlCol="0" anchor="t"/>
          <a:lstStyle/>
          <a:p>
            <a:pPr marL="0" indent="0">
              <a:buNone/>
            </a:pPr>
            <a:r>
              <a:rPr lang="en-US" sz="950" dirty="0">
                <a:solidFill>
                  <a:srgbClr val="52606D"/>
                </a:solidFill>
                <a:latin typeface="Calibri" pitchFamily="34" charset="0"/>
                <a:ea typeface="Calibri" pitchFamily="34" charset="-122"/>
                <a:cs typeface="Calibri" pitchFamily="34" charset="-120"/>
              </a:rPr>
              <a:t>IDF Diabetes Atlas</a:t>
            </a:r>
            <a:endParaRPr lang="en-US" sz="950" dirty="0"/>
          </a:p>
        </p:txBody>
      </p:sp>
      <p:sp>
        <p:nvSpPr>
          <p:cNvPr id="37" name="Text 35"/>
          <p:cNvSpPr txBox="1"/>
          <p:nvPr/>
        </p:nvSpPr>
        <p:spPr>
          <a:xfrm>
            <a:off x="7086600" y="841248"/>
            <a:ext cx="3657600" cy="256032"/>
          </a:xfrm>
          <a:prstGeom prst="rect">
            <a:avLst/>
          </a:prstGeom>
          <a:noFill/>
          <a:ln/>
        </p:spPr>
        <p:txBody>
          <a:bodyPr wrap="square" lIns="0" tIns="0" rIns="0" bIns="0" rtlCol="0" anchor="t"/>
          <a:lstStyle/>
          <a:p>
            <a:pPr marL="0" indent="0">
              <a:buNone/>
            </a:pPr>
            <a:r>
              <a:rPr lang="en-US" sz="1200" b="1" kern="0" spc="100" dirty="0">
                <a:solidFill>
                  <a:srgbClr val="1B3A5C"/>
                </a:solidFill>
                <a:latin typeface="Calibri" pitchFamily="34" charset="0"/>
                <a:ea typeface="Calibri" pitchFamily="34" charset="-122"/>
                <a:cs typeface="Calibri" pitchFamily="34" charset="-120"/>
              </a:rPr>
              <a:t>APPROACH</a:t>
            </a:r>
            <a:endParaRPr lang="en-US" sz="1200" dirty="0"/>
          </a:p>
        </p:txBody>
      </p:sp>
      <p:sp>
        <p:nvSpPr>
          <p:cNvPr id="38" name="Shape 36"/>
          <p:cNvSpPr/>
          <p:nvPr/>
        </p:nvSpPr>
        <p:spPr>
          <a:xfrm>
            <a:off x="6812280" y="1463040"/>
            <a:ext cx="3200400" cy="3200400"/>
          </a:xfrm>
          <a:prstGeom prst="ellipse">
            <a:avLst/>
          </a:prstGeom>
          <a:ln w="22225">
            <a:solidFill>
              <a:srgbClr val="2F6DB5"/>
            </a:solidFill>
            <a:prstDash val="dash"/>
          </a:ln>
        </p:spPr>
      </p:sp>
      <p:sp>
        <p:nvSpPr>
          <p:cNvPr id="39" name="Text 37"/>
          <p:cNvSpPr/>
          <p:nvPr/>
        </p:nvSpPr>
        <p:spPr>
          <a:xfrm>
            <a:off x="7543800" y="2194560"/>
            <a:ext cx="1737360" cy="1737360"/>
          </a:xfrm>
          <a:prstGeom prst="ellipse">
            <a:avLst/>
          </a:prstGeom>
          <a:solidFill>
            <a:srgbClr val="1B3A5C"/>
          </a:solidFill>
          <a:ln>
            <a:solidFill>
              <a:srgbClr val="1B3A5C"/>
            </a:solidFill>
          </a:ln>
        </p:spPr>
        <p:txBody>
          <a:bodyPr wrap="square" lIns="0" tIns="0" rIns="0" bIns="0" rtlCol="0" anchor="ctr"/>
          <a:lstStyle/>
          <a:p>
            <a:pPr marL="0" indent="0" algn="ctr">
              <a:buNone/>
            </a:pPr>
            <a:r>
              <a:rPr lang="en-US" sz="1600" b="1" dirty="0">
                <a:solidFill>
                  <a:srgbClr val="FFFFFF"/>
                </a:solidFill>
              </a:rPr>
              <a:t>One</a:t>
            </a:r>
            <a:endParaRPr lang="en-US" sz="1600" dirty="0"/>
          </a:p>
          <a:p>
            <a:pPr marL="0" indent="0" algn="ctr">
              <a:buNone/>
            </a:pPr>
            <a:r>
              <a:rPr lang="en-US" sz="1600" b="1" dirty="0">
                <a:solidFill>
                  <a:srgbClr val="FFFFFF"/>
                </a:solidFill>
              </a:rPr>
              <a:t>digital twin</a:t>
            </a:r>
            <a:endParaRPr lang="en-US" sz="1600" dirty="0"/>
          </a:p>
          <a:p>
            <a:pPr marL="0" indent="0" algn="ctr">
              <a:buNone/>
            </a:pPr>
            <a:r>
              <a:rPr lang="en-US" sz="1200" b="1" dirty="0">
                <a:solidFill>
                  <a:srgbClr val="FFFFFF"/>
                </a:solidFill>
              </a:rPr>
              <a:t>per patient</a:t>
            </a:r>
            <a:endParaRPr lang="en-US" sz="1600" dirty="0"/>
          </a:p>
        </p:txBody>
      </p:sp>
      <p:sp>
        <p:nvSpPr>
          <p:cNvPr id="40" name="Shape 38"/>
          <p:cNvSpPr/>
          <p:nvPr/>
        </p:nvSpPr>
        <p:spPr>
          <a:xfrm>
            <a:off x="9052560" y="1207008"/>
            <a:ext cx="2834640" cy="475488"/>
          </a:xfrm>
          <a:prstGeom prst="roundRect">
            <a:avLst>
              <a:gd name="adj" fmla="val 15385"/>
            </a:avLst>
          </a:prstGeom>
          <a:solidFill>
            <a:srgbClr val="FDEBDF"/>
          </a:solidFill>
          <a:ln w="12700">
            <a:solidFill>
              <a:srgbClr val="F2A679"/>
            </a:solidFill>
            <a:prstDash val="solid"/>
          </a:ln>
        </p:spPr>
      </p:sp>
      <p:sp>
        <p:nvSpPr>
          <p:cNvPr id="41" name="Shape 39"/>
          <p:cNvSpPr/>
          <p:nvPr/>
        </p:nvSpPr>
        <p:spPr>
          <a:xfrm>
            <a:off x="9125712" y="1271016"/>
            <a:ext cx="347472" cy="347472"/>
          </a:xfrm>
          <a:prstGeom prst="ellipse">
            <a:avLst/>
          </a:prstGeom>
          <a:solidFill>
            <a:srgbClr val="E9712F"/>
          </a:solidFill>
          <a:ln w="12700">
            <a:solidFill>
              <a:srgbClr val="E9712F"/>
            </a:solidFill>
            <a:prstDash val="solid"/>
          </a:ln>
        </p:spPr>
      </p:sp>
      <p:pic>
        <p:nvPicPr>
          <p:cNvPr id="42" name="Image 0" descr="preencoded.png"/>
          <p:cNvPicPr>
            <a:picLocks noChangeAspect="1"/>
          </p:cNvPicPr>
          <p:nvPr/>
        </p:nvPicPr>
        <p:blipFill>
          <a:blip r:embed="rId3"/>
          <a:stretch>
            <a:fillRect/>
          </a:stretch>
        </p:blipFill>
        <p:spPr>
          <a:xfrm>
            <a:off x="9202156" y="1347460"/>
            <a:ext cx="194584" cy="194584"/>
          </a:xfrm>
          <a:prstGeom prst="rect">
            <a:avLst/>
          </a:prstGeom>
        </p:spPr>
      </p:pic>
      <p:sp>
        <p:nvSpPr>
          <p:cNvPr id="43" name="Text 40"/>
          <p:cNvSpPr txBox="1"/>
          <p:nvPr/>
        </p:nvSpPr>
        <p:spPr>
          <a:xfrm>
            <a:off x="9546336" y="1207008"/>
            <a:ext cx="2350008" cy="475488"/>
          </a:xfrm>
          <a:prstGeom prst="rect">
            <a:avLst/>
          </a:prstGeom>
          <a:noFill/>
          <a:ln/>
        </p:spPr>
        <p:txBody>
          <a:bodyPr wrap="square" lIns="0" tIns="0" rIns="0" bIns="0" rtlCol="0" anchor="ctr"/>
          <a:lstStyle/>
          <a:p>
            <a:pPr marL="0" indent="0">
              <a:buNone/>
            </a:pPr>
            <a:r>
              <a:rPr lang="en-US" sz="1150" b="1" dirty="0">
                <a:solidFill>
                  <a:srgbClr val="1B3A5C"/>
                </a:solidFill>
                <a:latin typeface="Calibri" pitchFamily="34" charset="0"/>
                <a:ea typeface="Calibri" pitchFamily="34" charset="-122"/>
                <a:cs typeface="Calibri" pitchFamily="34" charset="-120"/>
              </a:rPr>
              <a:t>Joins EHR + wearables + patient entries</a:t>
            </a:r>
            <a:endParaRPr lang="en-US" sz="1150" dirty="0"/>
          </a:p>
        </p:txBody>
      </p:sp>
      <p:sp>
        <p:nvSpPr>
          <p:cNvPr id="44" name="Shape 41"/>
          <p:cNvSpPr/>
          <p:nvPr/>
        </p:nvSpPr>
        <p:spPr>
          <a:xfrm>
            <a:off x="9418320" y="1847088"/>
            <a:ext cx="2468880" cy="475488"/>
          </a:xfrm>
          <a:prstGeom prst="roundRect">
            <a:avLst>
              <a:gd name="adj" fmla="val 15385"/>
            </a:avLst>
          </a:prstGeom>
          <a:solidFill>
            <a:srgbClr val="FDEBDF"/>
          </a:solidFill>
          <a:ln w="12700">
            <a:solidFill>
              <a:srgbClr val="F2A679"/>
            </a:solidFill>
            <a:prstDash val="solid"/>
          </a:ln>
        </p:spPr>
      </p:sp>
      <p:sp>
        <p:nvSpPr>
          <p:cNvPr id="45" name="Shape 42"/>
          <p:cNvSpPr/>
          <p:nvPr/>
        </p:nvSpPr>
        <p:spPr>
          <a:xfrm>
            <a:off x="9491472" y="1911096"/>
            <a:ext cx="347472" cy="347472"/>
          </a:xfrm>
          <a:prstGeom prst="ellipse">
            <a:avLst/>
          </a:prstGeom>
          <a:solidFill>
            <a:srgbClr val="E9712F"/>
          </a:solidFill>
          <a:ln w="12700">
            <a:solidFill>
              <a:srgbClr val="E9712F"/>
            </a:solidFill>
            <a:prstDash val="solid"/>
          </a:ln>
        </p:spPr>
      </p:sp>
      <p:pic>
        <p:nvPicPr>
          <p:cNvPr id="46" name="Image 1" descr="preencoded.png"/>
          <p:cNvPicPr>
            <a:picLocks noChangeAspect="1"/>
          </p:cNvPicPr>
          <p:nvPr/>
        </p:nvPicPr>
        <p:blipFill>
          <a:blip r:embed="rId4"/>
          <a:stretch>
            <a:fillRect/>
          </a:stretch>
        </p:blipFill>
        <p:spPr>
          <a:xfrm>
            <a:off x="9567916" y="1987540"/>
            <a:ext cx="194584" cy="194584"/>
          </a:xfrm>
          <a:prstGeom prst="rect">
            <a:avLst/>
          </a:prstGeom>
        </p:spPr>
      </p:pic>
      <p:sp>
        <p:nvSpPr>
          <p:cNvPr id="47" name="Text 43"/>
          <p:cNvSpPr txBox="1"/>
          <p:nvPr/>
        </p:nvSpPr>
        <p:spPr>
          <a:xfrm>
            <a:off x="9912096" y="1847088"/>
            <a:ext cx="1984248" cy="475488"/>
          </a:xfrm>
          <a:prstGeom prst="rect">
            <a:avLst/>
          </a:prstGeom>
          <a:noFill/>
          <a:ln/>
        </p:spPr>
        <p:txBody>
          <a:bodyPr wrap="square" lIns="0" tIns="0" rIns="0" bIns="0" rtlCol="0" anchor="ctr"/>
          <a:lstStyle/>
          <a:p>
            <a:pPr marL="0" indent="0">
              <a:buNone/>
            </a:pPr>
            <a:r>
              <a:rPr lang="en-US" sz="1150" b="1" dirty="0">
                <a:solidFill>
                  <a:srgbClr val="1B3A5C"/>
                </a:solidFill>
                <a:latin typeface="Calibri" pitchFamily="34" charset="0"/>
                <a:ea typeface="Calibri" pitchFamily="34" charset="-122"/>
                <a:cs typeface="Calibri" pitchFamily="34" charset="-120"/>
              </a:rPr>
              <a:t>Personal, progressive twin</a:t>
            </a:r>
            <a:endParaRPr lang="en-US" sz="1150" dirty="0"/>
          </a:p>
        </p:txBody>
      </p:sp>
      <p:sp>
        <p:nvSpPr>
          <p:cNvPr id="48" name="Shape 44"/>
          <p:cNvSpPr/>
          <p:nvPr/>
        </p:nvSpPr>
        <p:spPr>
          <a:xfrm>
            <a:off x="9601200" y="2487168"/>
            <a:ext cx="2286000" cy="475488"/>
          </a:xfrm>
          <a:prstGeom prst="roundRect">
            <a:avLst>
              <a:gd name="adj" fmla="val 15385"/>
            </a:avLst>
          </a:prstGeom>
          <a:solidFill>
            <a:srgbClr val="FDEBDF"/>
          </a:solidFill>
          <a:ln w="12700">
            <a:solidFill>
              <a:srgbClr val="F2A679"/>
            </a:solidFill>
            <a:prstDash val="solid"/>
          </a:ln>
        </p:spPr>
      </p:sp>
      <p:sp>
        <p:nvSpPr>
          <p:cNvPr id="49" name="Shape 45"/>
          <p:cNvSpPr/>
          <p:nvPr/>
        </p:nvSpPr>
        <p:spPr>
          <a:xfrm>
            <a:off x="9674352" y="2551176"/>
            <a:ext cx="347472" cy="347472"/>
          </a:xfrm>
          <a:prstGeom prst="ellipse">
            <a:avLst/>
          </a:prstGeom>
          <a:solidFill>
            <a:srgbClr val="E9712F"/>
          </a:solidFill>
          <a:ln w="12700">
            <a:solidFill>
              <a:srgbClr val="E9712F"/>
            </a:solidFill>
            <a:prstDash val="solid"/>
          </a:ln>
        </p:spPr>
      </p:sp>
      <p:pic>
        <p:nvPicPr>
          <p:cNvPr id="50" name="Image 2" descr="preencoded.png"/>
          <p:cNvPicPr>
            <a:picLocks noChangeAspect="1"/>
          </p:cNvPicPr>
          <p:nvPr/>
        </p:nvPicPr>
        <p:blipFill>
          <a:blip r:embed="rId5"/>
          <a:stretch>
            <a:fillRect/>
          </a:stretch>
        </p:blipFill>
        <p:spPr>
          <a:xfrm>
            <a:off x="9750796" y="2627620"/>
            <a:ext cx="194584" cy="194584"/>
          </a:xfrm>
          <a:prstGeom prst="rect">
            <a:avLst/>
          </a:prstGeom>
        </p:spPr>
      </p:pic>
      <p:sp>
        <p:nvSpPr>
          <p:cNvPr id="51" name="Text 46"/>
          <p:cNvSpPr txBox="1"/>
          <p:nvPr/>
        </p:nvSpPr>
        <p:spPr>
          <a:xfrm>
            <a:off x="10094976" y="2487168"/>
            <a:ext cx="1801368" cy="475488"/>
          </a:xfrm>
          <a:prstGeom prst="rect">
            <a:avLst/>
          </a:prstGeom>
          <a:noFill/>
          <a:ln/>
        </p:spPr>
        <p:txBody>
          <a:bodyPr wrap="square" lIns="0" tIns="0" rIns="0" bIns="0" rtlCol="0" anchor="ctr"/>
          <a:lstStyle/>
          <a:p>
            <a:pPr marL="0" indent="0">
              <a:buNone/>
            </a:pPr>
            <a:r>
              <a:rPr lang="en-US" sz="1150" b="1" dirty="0">
                <a:solidFill>
                  <a:srgbClr val="1B3A5C"/>
                </a:solidFill>
                <a:latin typeface="Calibri" pitchFamily="34" charset="0"/>
                <a:ea typeface="Calibri" pitchFamily="34" charset="-122"/>
                <a:cs typeface="Calibri" pitchFamily="34" charset="-120"/>
              </a:rPr>
              <a:t>Predicts glucose, HbA1c &amp; DKD risk</a:t>
            </a:r>
            <a:endParaRPr lang="en-US" sz="1150" dirty="0"/>
          </a:p>
        </p:txBody>
      </p:sp>
      <p:sp>
        <p:nvSpPr>
          <p:cNvPr id="52" name="Shape 47"/>
          <p:cNvSpPr/>
          <p:nvPr/>
        </p:nvSpPr>
        <p:spPr>
          <a:xfrm>
            <a:off x="9601200" y="3127248"/>
            <a:ext cx="2286000" cy="475488"/>
          </a:xfrm>
          <a:prstGeom prst="roundRect">
            <a:avLst>
              <a:gd name="adj" fmla="val 15385"/>
            </a:avLst>
          </a:prstGeom>
          <a:solidFill>
            <a:srgbClr val="FDEBDF"/>
          </a:solidFill>
          <a:ln w="12700">
            <a:solidFill>
              <a:srgbClr val="F2A679"/>
            </a:solidFill>
            <a:prstDash val="solid"/>
          </a:ln>
        </p:spPr>
      </p:sp>
      <p:sp>
        <p:nvSpPr>
          <p:cNvPr id="53" name="Shape 48"/>
          <p:cNvSpPr/>
          <p:nvPr/>
        </p:nvSpPr>
        <p:spPr>
          <a:xfrm>
            <a:off x="9674352" y="3191256"/>
            <a:ext cx="347472" cy="347472"/>
          </a:xfrm>
          <a:prstGeom prst="ellipse">
            <a:avLst/>
          </a:prstGeom>
          <a:solidFill>
            <a:srgbClr val="E9712F"/>
          </a:solidFill>
          <a:ln w="12700">
            <a:solidFill>
              <a:srgbClr val="E9712F"/>
            </a:solidFill>
            <a:prstDash val="solid"/>
          </a:ln>
        </p:spPr>
      </p:sp>
      <p:pic>
        <p:nvPicPr>
          <p:cNvPr id="54" name="Image 3" descr="preencoded.png"/>
          <p:cNvPicPr>
            <a:picLocks noChangeAspect="1"/>
          </p:cNvPicPr>
          <p:nvPr/>
        </p:nvPicPr>
        <p:blipFill>
          <a:blip r:embed="rId6"/>
          <a:stretch>
            <a:fillRect/>
          </a:stretch>
        </p:blipFill>
        <p:spPr>
          <a:xfrm>
            <a:off x="9750796" y="3267700"/>
            <a:ext cx="194584" cy="194584"/>
          </a:xfrm>
          <a:prstGeom prst="rect">
            <a:avLst/>
          </a:prstGeom>
        </p:spPr>
      </p:pic>
      <p:sp>
        <p:nvSpPr>
          <p:cNvPr id="55" name="Text 49"/>
          <p:cNvSpPr txBox="1"/>
          <p:nvPr/>
        </p:nvSpPr>
        <p:spPr>
          <a:xfrm>
            <a:off x="10094976" y="3127248"/>
            <a:ext cx="1801368" cy="475488"/>
          </a:xfrm>
          <a:prstGeom prst="rect">
            <a:avLst/>
          </a:prstGeom>
          <a:noFill/>
          <a:ln/>
        </p:spPr>
        <p:txBody>
          <a:bodyPr wrap="square" lIns="0" tIns="0" rIns="0" bIns="0" rtlCol="0" anchor="ctr"/>
          <a:lstStyle/>
          <a:p>
            <a:pPr marL="0" indent="0">
              <a:buNone/>
            </a:pPr>
            <a:r>
              <a:rPr lang="en-US" sz="1150" b="1" dirty="0">
                <a:solidFill>
                  <a:srgbClr val="1B3A5C"/>
                </a:solidFill>
                <a:latin typeface="Calibri" pitchFamily="34" charset="0"/>
                <a:ea typeface="Calibri" pitchFamily="34" charset="-122"/>
                <a:cs typeface="Calibri" pitchFamily="34" charset="-120"/>
              </a:rPr>
              <a:t>Tests &amp; ranks treatments</a:t>
            </a:r>
            <a:endParaRPr lang="en-US" sz="1150" dirty="0"/>
          </a:p>
        </p:txBody>
      </p:sp>
      <p:sp>
        <p:nvSpPr>
          <p:cNvPr id="56" name="Shape 50"/>
          <p:cNvSpPr/>
          <p:nvPr/>
        </p:nvSpPr>
        <p:spPr>
          <a:xfrm>
            <a:off x="9418320" y="3767328"/>
            <a:ext cx="2468880" cy="475488"/>
          </a:xfrm>
          <a:prstGeom prst="roundRect">
            <a:avLst>
              <a:gd name="adj" fmla="val 15385"/>
            </a:avLst>
          </a:prstGeom>
          <a:solidFill>
            <a:srgbClr val="FDEBDF"/>
          </a:solidFill>
          <a:ln w="12700">
            <a:solidFill>
              <a:srgbClr val="F2A679"/>
            </a:solidFill>
            <a:prstDash val="solid"/>
          </a:ln>
        </p:spPr>
      </p:sp>
      <p:sp>
        <p:nvSpPr>
          <p:cNvPr id="57" name="Shape 51"/>
          <p:cNvSpPr/>
          <p:nvPr/>
        </p:nvSpPr>
        <p:spPr>
          <a:xfrm>
            <a:off x="9491472" y="3831336"/>
            <a:ext cx="347472" cy="347472"/>
          </a:xfrm>
          <a:prstGeom prst="ellipse">
            <a:avLst/>
          </a:prstGeom>
          <a:solidFill>
            <a:srgbClr val="E9712F"/>
          </a:solidFill>
          <a:ln w="12700">
            <a:solidFill>
              <a:srgbClr val="E9712F"/>
            </a:solidFill>
            <a:prstDash val="solid"/>
          </a:ln>
        </p:spPr>
      </p:sp>
      <p:pic>
        <p:nvPicPr>
          <p:cNvPr id="58" name="Image 4" descr="preencoded.png"/>
          <p:cNvPicPr>
            <a:picLocks noChangeAspect="1"/>
          </p:cNvPicPr>
          <p:nvPr/>
        </p:nvPicPr>
        <p:blipFill>
          <a:blip r:embed="rId7"/>
          <a:stretch>
            <a:fillRect/>
          </a:stretch>
        </p:blipFill>
        <p:spPr>
          <a:xfrm>
            <a:off x="9567916" y="3907780"/>
            <a:ext cx="194584" cy="194584"/>
          </a:xfrm>
          <a:prstGeom prst="rect">
            <a:avLst/>
          </a:prstGeom>
        </p:spPr>
      </p:pic>
      <p:sp>
        <p:nvSpPr>
          <p:cNvPr id="59" name="Text 52"/>
          <p:cNvSpPr txBox="1"/>
          <p:nvPr/>
        </p:nvSpPr>
        <p:spPr>
          <a:xfrm>
            <a:off x="9912096" y="3767328"/>
            <a:ext cx="1984248" cy="475488"/>
          </a:xfrm>
          <a:prstGeom prst="rect">
            <a:avLst/>
          </a:prstGeom>
          <a:noFill/>
          <a:ln/>
        </p:spPr>
        <p:txBody>
          <a:bodyPr wrap="square" lIns="0" tIns="0" rIns="0" bIns="0" rtlCol="0" anchor="ctr"/>
          <a:lstStyle/>
          <a:p>
            <a:pPr marL="0" indent="0">
              <a:buNone/>
            </a:pPr>
            <a:r>
              <a:rPr lang="en-US" sz="1150" b="1" dirty="0">
                <a:solidFill>
                  <a:srgbClr val="1B3A5C"/>
                </a:solidFill>
                <a:latin typeface="Calibri" pitchFamily="34" charset="0"/>
                <a:ea typeface="Calibri" pitchFamily="34" charset="-122"/>
                <a:cs typeface="Calibri" pitchFamily="34" charset="-120"/>
              </a:rPr>
              <a:t>Patient app in EN / हिंदी</a:t>
            </a:r>
            <a:endParaRPr lang="en-US" sz="1150" dirty="0"/>
          </a:p>
        </p:txBody>
      </p:sp>
      <p:sp>
        <p:nvSpPr>
          <p:cNvPr id="60" name="Shape 53"/>
          <p:cNvSpPr/>
          <p:nvPr/>
        </p:nvSpPr>
        <p:spPr>
          <a:xfrm>
            <a:off x="9052560" y="4407408"/>
            <a:ext cx="2834640" cy="475488"/>
          </a:xfrm>
          <a:prstGeom prst="roundRect">
            <a:avLst>
              <a:gd name="adj" fmla="val 15385"/>
            </a:avLst>
          </a:prstGeom>
          <a:solidFill>
            <a:srgbClr val="FDEBDF"/>
          </a:solidFill>
          <a:ln w="12700">
            <a:solidFill>
              <a:srgbClr val="F2A679"/>
            </a:solidFill>
            <a:prstDash val="solid"/>
          </a:ln>
        </p:spPr>
      </p:sp>
      <p:sp>
        <p:nvSpPr>
          <p:cNvPr id="61" name="Shape 54"/>
          <p:cNvSpPr/>
          <p:nvPr/>
        </p:nvSpPr>
        <p:spPr>
          <a:xfrm>
            <a:off x="9125712" y="4471416"/>
            <a:ext cx="347472" cy="347472"/>
          </a:xfrm>
          <a:prstGeom prst="ellipse">
            <a:avLst/>
          </a:prstGeom>
          <a:solidFill>
            <a:srgbClr val="E9712F"/>
          </a:solidFill>
          <a:ln w="12700">
            <a:solidFill>
              <a:srgbClr val="E9712F"/>
            </a:solidFill>
            <a:prstDash val="solid"/>
          </a:ln>
        </p:spPr>
      </p:sp>
      <p:pic>
        <p:nvPicPr>
          <p:cNvPr id="62" name="Image 5" descr="preencoded.png"/>
          <p:cNvPicPr>
            <a:picLocks noChangeAspect="1"/>
          </p:cNvPicPr>
          <p:nvPr/>
        </p:nvPicPr>
        <p:blipFill>
          <a:blip r:embed="rId8"/>
          <a:stretch>
            <a:fillRect/>
          </a:stretch>
        </p:blipFill>
        <p:spPr>
          <a:xfrm>
            <a:off x="9202156" y="4547860"/>
            <a:ext cx="194584" cy="194584"/>
          </a:xfrm>
          <a:prstGeom prst="rect">
            <a:avLst/>
          </a:prstGeom>
        </p:spPr>
      </p:pic>
      <p:sp>
        <p:nvSpPr>
          <p:cNvPr id="63" name="Text 55"/>
          <p:cNvSpPr txBox="1"/>
          <p:nvPr/>
        </p:nvSpPr>
        <p:spPr>
          <a:xfrm>
            <a:off x="9546336" y="4407408"/>
            <a:ext cx="2350008" cy="475488"/>
          </a:xfrm>
          <a:prstGeom prst="rect">
            <a:avLst/>
          </a:prstGeom>
          <a:noFill/>
          <a:ln/>
        </p:spPr>
        <p:txBody>
          <a:bodyPr wrap="square" lIns="0" tIns="0" rIns="0" bIns="0" rtlCol="0" anchor="ctr"/>
          <a:lstStyle/>
          <a:p>
            <a:pPr marL="0" indent="0">
              <a:buNone/>
            </a:pPr>
            <a:r>
              <a:rPr lang="en-US" sz="1150" b="1" dirty="0">
                <a:solidFill>
                  <a:srgbClr val="1B3A5C"/>
                </a:solidFill>
                <a:latin typeface="Calibri" pitchFamily="34" charset="0"/>
                <a:ea typeface="Calibri" pitchFamily="34" charset="-122"/>
                <a:cs typeface="Calibri" pitchFamily="34" charset="-120"/>
              </a:rPr>
              <a:t>Clinician makes the final call</a:t>
            </a:r>
            <a:endParaRPr lang="en-US" sz="1150" dirty="0"/>
          </a:p>
        </p:txBody>
      </p:sp>
      <p:sp>
        <p:nvSpPr>
          <p:cNvPr id="64" name="Approach summary"/>
          <p:cNvSpPr/>
          <p:nvPr/>
        </p:nvSpPr>
        <p:spPr>
          <a:xfrm>
            <a:off x="7086600" y="5120640"/>
            <a:ext cx="4800600" cy="1078992"/>
          </a:xfrm>
          <a:prstGeom prst="roundRect">
            <a:avLst>
              <a:gd name="adj" fmla="val 8475"/>
            </a:avLst>
          </a:prstGeom>
          <a:solidFill>
            <a:srgbClr val="FFFFFF"/>
          </a:solidFill>
          <a:ln w="15875">
            <a:solidFill>
              <a:srgbClr val="D5DCE3"/>
            </a:solidFill>
            <a:prstDash val="solid"/>
          </a:ln>
        </p:spPr>
      </p:sp>
      <p:sp>
        <p:nvSpPr>
          <p:cNvPr id="65" name="Text 57"/>
          <p:cNvSpPr txBox="1"/>
          <p:nvPr/>
        </p:nvSpPr>
        <p:spPr>
          <a:xfrm>
            <a:off x="7242048" y="5193792"/>
            <a:ext cx="4526280" cy="932688"/>
          </a:xfrm>
          <a:prstGeom prst="rect">
            <a:avLst/>
          </a:prstGeom>
          <a:noFill/>
          <a:ln/>
        </p:spPr>
        <p:txBody>
          <a:bodyPr wrap="square" lIns="0" tIns="0" rIns="0" bIns="0" rtlCol="0" anchor="ctr"/>
          <a:lstStyle/>
          <a:p>
            <a:pPr marL="0" indent="0">
              <a:buNone/>
            </a:pPr>
            <a:r>
              <a:rPr lang="en-US" sz="1250" dirty="0">
                <a:solidFill>
                  <a:srgbClr val="1B3A5C"/>
                </a:solidFill>
                <a:latin typeface="Calibri" pitchFamily="34" charset="0"/>
                <a:ea typeface="Calibri" pitchFamily="34" charset="-122"/>
                <a:cs typeface="Calibri" pitchFamily="34" charset="-120"/>
              </a:rPr>
              <a:t>Each patient gets one twin built from hospital EHR, wearables and their own entries. The doctor can test a drug on the twin before prescribing it.</a:t>
            </a:r>
            <a:endParaRPr lang="en-US" sz="12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itle tag"/>
          <p:cNvSpPr/>
          <p:nvPr/>
        </p:nvSpPr>
        <p:spPr>
          <a:xfrm>
            <a:off x="274320" y="109728"/>
            <a:ext cx="1605686" cy="603504"/>
          </a:xfrm>
          <a:prstGeom prst="rect">
            <a:avLst/>
          </a:prstGeom>
          <a:solidFill>
            <a:srgbClr val="FFFFFF"/>
          </a:solidFill>
          <a:ln w="22225">
            <a:solidFill>
              <a:srgbClr val="2F6DB5"/>
            </a:solidFill>
            <a:prstDash val="solid"/>
          </a:ln>
        </p:spPr>
      </p:sp>
      <p:sp>
        <p:nvSpPr>
          <p:cNvPr id="3" name="Text 10"/>
          <p:cNvSpPr>
            <a:spLocks noGrp="1"/>
          </p:cNvSpPr>
          <p:nvPr>
            <p:ph type="title" idx="111" hasCustomPrompt="1"/>
          </p:nvPr>
        </p:nvSpPr>
        <p:spPr>
          <a:xfrm>
            <a:off x="384048" y="128016"/>
            <a:ext cx="8686800" cy="566928"/>
          </a:xfrm>
          <a:prstGeom prst="rect">
            <a:avLst/>
          </a:prstGeom>
          <a:noFill/>
          <a:ln/>
        </p:spPr>
        <p:txBody>
          <a:bodyPr wrap="square" lIns="0" tIns="0" rIns="0" bIns="0" rtlCol="0" anchor="ctr"/>
          <a:lstStyle/>
          <a:p>
            <a:pPr marL="0" indent="0" algn="l">
              <a:buNone/>
            </a:pPr>
            <a:r>
              <a:rPr lang="en-US" sz="2600" b="1" dirty="0">
                <a:solidFill>
                  <a:srgbClr val="E9712F"/>
                </a:solidFill>
              </a:rPr>
              <a:t>Our USPs</a:t>
            </a:r>
            <a:endParaRPr lang="en-US" sz="2600" dirty="0"/>
          </a:p>
        </p:txBody>
      </p:sp>
      <p:sp>
        <p:nvSpPr>
          <p:cNvPr id="4" name="USP 1"/>
          <p:cNvSpPr/>
          <p:nvPr/>
        </p:nvSpPr>
        <p:spPr>
          <a:xfrm>
            <a:off x="320040" y="868680"/>
            <a:ext cx="3703320" cy="1664208"/>
          </a:xfrm>
          <a:prstGeom prst="roundRect">
            <a:avLst>
              <a:gd name="adj" fmla="val 5495"/>
            </a:avLst>
          </a:prstGeom>
          <a:solidFill>
            <a:srgbClr val="FDEBDF"/>
          </a:solidFill>
          <a:ln w="15875">
            <a:solidFill>
              <a:srgbClr val="F2A679"/>
            </a:solidFill>
            <a:prstDash val="dash"/>
          </a:ln>
        </p:spPr>
      </p:sp>
      <p:pic>
        <p:nvPicPr>
          <p:cNvPr id="6" name="USP 1 screenshot" descr="/home/claude/gr/assets/u1_overview.jpg"/>
          <p:cNvPicPr>
            <a:picLocks noChangeAspect="1"/>
          </p:cNvPicPr>
          <p:nvPr/>
        </p:nvPicPr>
        <p:blipFill>
          <a:blip r:embed="rId3"/>
          <a:stretch>
            <a:fillRect/>
          </a:stretch>
        </p:blipFill>
        <p:spPr>
          <a:xfrm>
            <a:off x="397655" y="950976"/>
            <a:ext cx="1774045" cy="1499616"/>
          </a:xfrm>
          <a:prstGeom prst="rect">
            <a:avLst/>
          </a:prstGeom>
        </p:spPr>
      </p:pic>
      <p:sp>
        <p:nvSpPr>
          <p:cNvPr id="7" name="Text 4"/>
          <p:cNvSpPr/>
          <p:nvPr/>
        </p:nvSpPr>
        <p:spPr>
          <a:xfrm>
            <a:off x="2354580" y="1084870"/>
            <a:ext cx="292608" cy="292608"/>
          </a:xfrm>
          <a:prstGeom prst="ellipse">
            <a:avLst/>
          </a:prstGeom>
          <a:solidFill>
            <a:srgbClr val="E9712F"/>
          </a:solidFill>
          <a:ln/>
        </p:spPr>
        <p:txBody>
          <a:bodyPr wrap="square" lIns="0" tIns="0" rIns="0" bIns="0" rtlCol="0" anchor="ctr"/>
          <a:lstStyle/>
          <a:p>
            <a:pPr marL="0" indent="0" algn="ctr">
              <a:buNone/>
            </a:pPr>
            <a:r>
              <a:rPr lang="en-US" sz="1200" b="1" dirty="0">
                <a:solidFill>
                  <a:srgbClr val="FFFFFF"/>
                </a:solidFill>
              </a:rPr>
              <a:t>1</a:t>
            </a:r>
            <a:endParaRPr lang="en-US" sz="1200" dirty="0"/>
          </a:p>
        </p:txBody>
      </p:sp>
      <p:sp>
        <p:nvSpPr>
          <p:cNvPr id="8" name="Text 5"/>
          <p:cNvSpPr txBox="1"/>
          <p:nvPr/>
        </p:nvSpPr>
        <p:spPr>
          <a:xfrm>
            <a:off x="2774016" y="1034578"/>
            <a:ext cx="1102766" cy="329184"/>
          </a:xfrm>
          <a:prstGeom prst="rect">
            <a:avLst/>
          </a:prstGeom>
          <a:noFill/>
          <a:ln/>
        </p:spPr>
        <p:txBody>
          <a:bodyPr wrap="square" lIns="0" tIns="0" rIns="0" bIns="0" rtlCol="0" anchor="ctr"/>
          <a:lstStyle/>
          <a:p>
            <a:pPr marL="0" indent="0">
              <a:buNone/>
            </a:pPr>
            <a:r>
              <a:rPr lang="en-US" sz="1250" b="1" dirty="0">
                <a:solidFill>
                  <a:srgbClr val="1B3A5C"/>
                </a:solidFill>
                <a:latin typeface="Calibri" pitchFamily="34" charset="0"/>
                <a:ea typeface="Calibri" pitchFamily="34" charset="-122"/>
                <a:cs typeface="Calibri" pitchFamily="34" charset="-120"/>
              </a:rPr>
              <a:t>Two streams, two outcomes</a:t>
            </a:r>
            <a:endParaRPr lang="en-US" sz="1250" dirty="0"/>
          </a:p>
        </p:txBody>
      </p:sp>
      <p:sp>
        <p:nvSpPr>
          <p:cNvPr id="9" name="Text 6"/>
          <p:cNvSpPr txBox="1"/>
          <p:nvPr/>
        </p:nvSpPr>
        <p:spPr>
          <a:xfrm>
            <a:off x="2295144" y="1344168"/>
            <a:ext cx="1636776" cy="1115568"/>
          </a:xfrm>
          <a:prstGeom prst="rect">
            <a:avLst/>
          </a:prstGeom>
          <a:noFill/>
          <a:ln/>
        </p:spPr>
        <p:txBody>
          <a:bodyPr wrap="square" lIns="0" tIns="0" rIns="0" bIns="0" rtlCol="0" anchor="ctr"/>
          <a:lstStyle/>
          <a:p>
            <a:pPr marL="0" indent="0">
              <a:buNone/>
            </a:pPr>
            <a:r>
              <a:rPr lang="en-US" sz="1000" dirty="0">
                <a:solidFill>
                  <a:srgbClr val="1F2A37"/>
                </a:solidFill>
                <a:latin typeface="Calibri" pitchFamily="34" charset="0"/>
                <a:ea typeface="Calibri" pitchFamily="34" charset="-122"/>
                <a:cs typeface="Calibri" pitchFamily="34" charset="-120"/>
              </a:rPr>
              <a:t>EHR and wearables fused; predicts a glucose event today and kidney risk over 3 years.</a:t>
            </a:r>
            <a:endParaRPr lang="en-US" sz="1000" dirty="0"/>
          </a:p>
        </p:txBody>
      </p:sp>
      <p:sp>
        <p:nvSpPr>
          <p:cNvPr id="10" name="USP 2"/>
          <p:cNvSpPr/>
          <p:nvPr/>
        </p:nvSpPr>
        <p:spPr>
          <a:xfrm>
            <a:off x="4251960" y="868680"/>
            <a:ext cx="3703320" cy="1664208"/>
          </a:xfrm>
          <a:prstGeom prst="roundRect">
            <a:avLst>
              <a:gd name="adj" fmla="val 5495"/>
            </a:avLst>
          </a:prstGeom>
          <a:solidFill>
            <a:srgbClr val="EEF5FC"/>
          </a:solidFill>
          <a:ln w="15875">
            <a:solidFill>
              <a:srgbClr val="8DBBE6"/>
            </a:solidFill>
            <a:prstDash val="dash"/>
          </a:ln>
        </p:spPr>
      </p:sp>
      <p:pic>
        <p:nvPicPr>
          <p:cNvPr id="12" name="USP 2 screenshot" descr="/home/claude/gr/assets/u2_live.jpg"/>
          <p:cNvPicPr>
            <a:picLocks noChangeAspect="1"/>
          </p:cNvPicPr>
          <p:nvPr/>
        </p:nvPicPr>
        <p:blipFill>
          <a:blip r:embed="rId4"/>
          <a:stretch>
            <a:fillRect/>
          </a:stretch>
        </p:blipFill>
        <p:spPr>
          <a:xfrm>
            <a:off x="4315817" y="950976"/>
            <a:ext cx="1961461" cy="1490472"/>
          </a:xfrm>
          <a:prstGeom prst="rect">
            <a:avLst/>
          </a:prstGeom>
        </p:spPr>
      </p:pic>
      <p:sp>
        <p:nvSpPr>
          <p:cNvPr id="13" name="Text 9"/>
          <p:cNvSpPr/>
          <p:nvPr/>
        </p:nvSpPr>
        <p:spPr>
          <a:xfrm>
            <a:off x="6286500" y="1009432"/>
            <a:ext cx="292608" cy="292608"/>
          </a:xfrm>
          <a:prstGeom prst="ellipse">
            <a:avLst/>
          </a:prstGeom>
          <a:solidFill>
            <a:srgbClr val="2F6DB5"/>
          </a:solidFill>
          <a:ln/>
        </p:spPr>
        <p:txBody>
          <a:bodyPr wrap="square" lIns="0" tIns="0" rIns="0" bIns="0" rtlCol="0" anchor="ctr"/>
          <a:lstStyle/>
          <a:p>
            <a:pPr marL="0" indent="0" algn="ctr">
              <a:buNone/>
            </a:pPr>
            <a:r>
              <a:rPr lang="en-US" sz="1200" b="1" dirty="0">
                <a:solidFill>
                  <a:srgbClr val="FFFFFF"/>
                </a:solidFill>
              </a:rPr>
              <a:t>2</a:t>
            </a:r>
            <a:endParaRPr lang="en-US" sz="1200" dirty="0"/>
          </a:p>
        </p:txBody>
      </p:sp>
      <p:sp>
        <p:nvSpPr>
          <p:cNvPr id="14" name="Text 10"/>
          <p:cNvSpPr txBox="1"/>
          <p:nvPr/>
        </p:nvSpPr>
        <p:spPr>
          <a:xfrm>
            <a:off x="6432804" y="1088136"/>
            <a:ext cx="1499250" cy="329184"/>
          </a:xfrm>
          <a:prstGeom prst="rect">
            <a:avLst/>
          </a:prstGeom>
          <a:noFill/>
          <a:ln/>
        </p:spPr>
        <p:txBody>
          <a:bodyPr wrap="square" lIns="0" tIns="0" rIns="0" bIns="0" rtlCol="0" anchor="ctr"/>
          <a:lstStyle/>
          <a:p>
            <a:pPr marL="0" indent="0">
              <a:buNone/>
            </a:pPr>
            <a:r>
              <a:rPr lang="en-US" sz="1250" b="1" dirty="0">
                <a:solidFill>
                  <a:srgbClr val="1B3A5C"/>
                </a:solidFill>
                <a:latin typeface="Calibri" pitchFamily="34" charset="0"/>
                <a:ea typeface="Calibri" pitchFamily="34" charset="-122"/>
                <a:cs typeface="Calibri" pitchFamily="34" charset="-120"/>
              </a:rPr>
              <a:t>Warns before it happens</a:t>
            </a:r>
            <a:endParaRPr lang="en-US" sz="1250" dirty="0"/>
          </a:p>
        </p:txBody>
      </p:sp>
      <p:sp>
        <p:nvSpPr>
          <p:cNvPr id="15" name="Text 11"/>
          <p:cNvSpPr txBox="1"/>
          <p:nvPr/>
        </p:nvSpPr>
        <p:spPr>
          <a:xfrm>
            <a:off x="6227064" y="1344168"/>
            <a:ext cx="1636776" cy="1115568"/>
          </a:xfrm>
          <a:prstGeom prst="rect">
            <a:avLst/>
          </a:prstGeom>
          <a:noFill/>
          <a:ln/>
        </p:spPr>
        <p:txBody>
          <a:bodyPr wrap="square" lIns="0" tIns="0" rIns="0" bIns="0" rtlCol="0" anchor="ctr"/>
          <a:lstStyle/>
          <a:p>
            <a:pPr marL="0" indent="0">
              <a:buNone/>
            </a:pPr>
            <a:r>
              <a:rPr lang="en-US" sz="1000" dirty="0">
                <a:solidFill>
                  <a:srgbClr val="1F2A37"/>
                </a:solidFill>
                <a:latin typeface="Calibri" pitchFamily="34" charset="0"/>
                <a:ea typeface="Calibri" pitchFamily="34" charset="-122"/>
                <a:cs typeface="Calibri" pitchFamily="34" charset="-120"/>
              </a:rPr>
              <a:t>Spike above 250 mg/dL flagged up to 90 min ahead; 99% caught on synthetic CGM.</a:t>
            </a:r>
            <a:endParaRPr lang="en-US" sz="1000" dirty="0"/>
          </a:p>
        </p:txBody>
      </p:sp>
      <p:sp>
        <p:nvSpPr>
          <p:cNvPr id="16" name="USP 3"/>
          <p:cNvSpPr/>
          <p:nvPr/>
        </p:nvSpPr>
        <p:spPr>
          <a:xfrm>
            <a:off x="8183880" y="868680"/>
            <a:ext cx="3703320" cy="1664208"/>
          </a:xfrm>
          <a:prstGeom prst="roundRect">
            <a:avLst>
              <a:gd name="adj" fmla="val 5495"/>
            </a:avLst>
          </a:prstGeom>
          <a:solidFill>
            <a:srgbClr val="FDEBDF"/>
          </a:solidFill>
          <a:ln w="15875">
            <a:solidFill>
              <a:srgbClr val="F2A679"/>
            </a:solidFill>
            <a:prstDash val="dash"/>
          </a:ln>
        </p:spPr>
      </p:sp>
      <p:pic>
        <p:nvPicPr>
          <p:cNvPr id="18" name="USP 3 screenshot" descr="/home/claude/gr/assets/u3_twin.jpg"/>
          <p:cNvPicPr>
            <a:picLocks noChangeAspect="1"/>
          </p:cNvPicPr>
          <p:nvPr/>
        </p:nvPicPr>
        <p:blipFill>
          <a:blip r:embed="rId5"/>
          <a:stretch>
            <a:fillRect/>
          </a:stretch>
        </p:blipFill>
        <p:spPr>
          <a:xfrm>
            <a:off x="8252670" y="950976"/>
            <a:ext cx="1906314" cy="1490472"/>
          </a:xfrm>
          <a:prstGeom prst="rect">
            <a:avLst/>
          </a:prstGeom>
        </p:spPr>
      </p:pic>
      <p:sp>
        <p:nvSpPr>
          <p:cNvPr id="19" name="Text 14"/>
          <p:cNvSpPr/>
          <p:nvPr/>
        </p:nvSpPr>
        <p:spPr>
          <a:xfrm>
            <a:off x="10096936" y="1122753"/>
            <a:ext cx="292608" cy="292608"/>
          </a:xfrm>
          <a:prstGeom prst="ellipse">
            <a:avLst/>
          </a:prstGeom>
          <a:solidFill>
            <a:srgbClr val="E9712F"/>
          </a:solidFill>
          <a:ln/>
        </p:spPr>
        <p:txBody>
          <a:bodyPr wrap="square" lIns="0" tIns="0" rIns="0" bIns="0" rtlCol="0" anchor="ctr"/>
          <a:lstStyle/>
          <a:p>
            <a:pPr marL="0" indent="0" algn="ctr">
              <a:buNone/>
            </a:pPr>
            <a:r>
              <a:rPr lang="en-US" sz="1200" b="1" dirty="0">
                <a:solidFill>
                  <a:srgbClr val="FFFFFF"/>
                </a:solidFill>
              </a:rPr>
              <a:t>3</a:t>
            </a:r>
            <a:endParaRPr lang="en-US" sz="1200" dirty="0"/>
          </a:p>
        </p:txBody>
      </p:sp>
      <p:sp>
        <p:nvSpPr>
          <p:cNvPr id="20" name="Text 15"/>
          <p:cNvSpPr txBox="1"/>
          <p:nvPr/>
        </p:nvSpPr>
        <p:spPr>
          <a:xfrm>
            <a:off x="10437223" y="1066582"/>
            <a:ext cx="1286691" cy="329184"/>
          </a:xfrm>
          <a:prstGeom prst="rect">
            <a:avLst/>
          </a:prstGeom>
          <a:noFill/>
          <a:ln/>
        </p:spPr>
        <p:txBody>
          <a:bodyPr wrap="square" lIns="0" tIns="0" rIns="0" bIns="0" rtlCol="0" anchor="ctr"/>
          <a:lstStyle/>
          <a:p>
            <a:pPr marL="0" indent="0">
              <a:buNone/>
            </a:pPr>
            <a:r>
              <a:rPr lang="en-US" sz="1250" b="1" dirty="0">
                <a:solidFill>
                  <a:srgbClr val="1B3A5C"/>
                </a:solidFill>
                <a:latin typeface="Calibri" pitchFamily="34" charset="0"/>
                <a:ea typeface="Calibri" pitchFamily="34" charset="-122"/>
                <a:cs typeface="Calibri" pitchFamily="34" charset="-120"/>
              </a:rPr>
              <a:t>Progressive twin: learns each patient</a:t>
            </a:r>
            <a:endParaRPr lang="en-US" sz="1250" dirty="0"/>
          </a:p>
        </p:txBody>
      </p:sp>
      <p:sp>
        <p:nvSpPr>
          <p:cNvPr id="21" name="Text 16"/>
          <p:cNvSpPr txBox="1"/>
          <p:nvPr/>
        </p:nvSpPr>
        <p:spPr>
          <a:xfrm>
            <a:off x="10158984" y="1344168"/>
            <a:ext cx="1636776" cy="1115568"/>
          </a:xfrm>
          <a:prstGeom prst="rect">
            <a:avLst/>
          </a:prstGeom>
          <a:noFill/>
          <a:ln/>
        </p:spPr>
        <p:txBody>
          <a:bodyPr wrap="square" lIns="0" tIns="0" rIns="0" bIns="0" rtlCol="0" anchor="ctr"/>
          <a:lstStyle/>
          <a:p>
            <a:pPr marL="0" indent="0">
              <a:buNone/>
            </a:pPr>
            <a:r>
              <a:rPr lang="en-US" sz="1000" dirty="0">
                <a:solidFill>
                  <a:srgbClr val="1F2A37"/>
                </a:solidFill>
                <a:latin typeface="Calibri" pitchFamily="34" charset="0"/>
                <a:ea typeface="Calibri" pitchFamily="34" charset="-122"/>
                <a:cs typeface="Calibri" pitchFamily="34" charset="-120"/>
              </a:rPr>
              <a:t>Starts at population values and gets more personal every night as the patient's own sensor, meals and labs come in.</a:t>
            </a:r>
            <a:endParaRPr lang="en-US" sz="1000" dirty="0"/>
          </a:p>
        </p:txBody>
      </p:sp>
      <p:sp>
        <p:nvSpPr>
          <p:cNvPr id="22" name="USP 4"/>
          <p:cNvSpPr/>
          <p:nvPr/>
        </p:nvSpPr>
        <p:spPr>
          <a:xfrm>
            <a:off x="320040" y="2702052"/>
            <a:ext cx="3703320" cy="1664208"/>
          </a:xfrm>
          <a:prstGeom prst="roundRect">
            <a:avLst>
              <a:gd name="adj" fmla="val 5495"/>
            </a:avLst>
          </a:prstGeom>
          <a:solidFill>
            <a:srgbClr val="EEF5FC"/>
          </a:solidFill>
          <a:ln w="15875">
            <a:solidFill>
              <a:srgbClr val="8DBBE6"/>
            </a:solidFill>
            <a:prstDash val="dash"/>
          </a:ln>
        </p:spPr>
      </p:sp>
      <p:pic>
        <p:nvPicPr>
          <p:cNvPr id="24" name="USP 4 screenshot" descr="/home/claude/gr/assets/u4_treat.jpg"/>
          <p:cNvPicPr>
            <a:picLocks noChangeAspect="1"/>
          </p:cNvPicPr>
          <p:nvPr/>
        </p:nvPicPr>
        <p:blipFill>
          <a:blip r:embed="rId6"/>
          <a:stretch>
            <a:fillRect/>
          </a:stretch>
        </p:blipFill>
        <p:spPr>
          <a:xfrm>
            <a:off x="373277" y="2760508"/>
            <a:ext cx="1871575" cy="1517904"/>
          </a:xfrm>
          <a:prstGeom prst="rect">
            <a:avLst/>
          </a:prstGeom>
        </p:spPr>
      </p:pic>
      <p:sp>
        <p:nvSpPr>
          <p:cNvPr id="25" name="Text 19"/>
          <p:cNvSpPr/>
          <p:nvPr/>
        </p:nvSpPr>
        <p:spPr>
          <a:xfrm>
            <a:off x="2329434" y="2848356"/>
            <a:ext cx="292608" cy="292608"/>
          </a:xfrm>
          <a:prstGeom prst="ellipse">
            <a:avLst/>
          </a:prstGeom>
          <a:solidFill>
            <a:srgbClr val="2F6DB5"/>
          </a:solidFill>
          <a:ln/>
        </p:spPr>
        <p:txBody>
          <a:bodyPr wrap="square" lIns="0" tIns="0" rIns="0" bIns="0" rtlCol="0" anchor="ctr"/>
          <a:lstStyle/>
          <a:p>
            <a:pPr marL="0" indent="0" algn="ctr">
              <a:buNone/>
            </a:pPr>
            <a:r>
              <a:rPr lang="en-US" sz="1200" b="1" dirty="0">
                <a:solidFill>
                  <a:srgbClr val="FFFFFF"/>
                </a:solidFill>
              </a:rPr>
              <a:t>4</a:t>
            </a:r>
            <a:endParaRPr lang="en-US" sz="1200" dirty="0"/>
          </a:p>
        </p:txBody>
      </p:sp>
      <p:sp>
        <p:nvSpPr>
          <p:cNvPr id="26" name="Text 20"/>
          <p:cNvSpPr txBox="1"/>
          <p:nvPr/>
        </p:nvSpPr>
        <p:spPr>
          <a:xfrm>
            <a:off x="2647188" y="2756916"/>
            <a:ext cx="1035231" cy="329184"/>
          </a:xfrm>
          <a:prstGeom prst="rect">
            <a:avLst/>
          </a:prstGeom>
          <a:noFill/>
          <a:ln/>
        </p:spPr>
        <p:txBody>
          <a:bodyPr wrap="square" lIns="0" tIns="0" rIns="0" bIns="0" rtlCol="0" anchor="ctr"/>
          <a:lstStyle/>
          <a:p>
            <a:pPr marL="0" indent="0">
              <a:buNone/>
            </a:pPr>
            <a:r>
              <a:rPr lang="en-US" sz="1250" b="1" dirty="0">
                <a:solidFill>
                  <a:srgbClr val="1B3A5C"/>
                </a:solidFill>
                <a:latin typeface="Calibri" pitchFamily="34" charset="0"/>
                <a:ea typeface="Calibri" pitchFamily="34" charset="-122"/>
                <a:cs typeface="Calibri" pitchFamily="34" charset="-120"/>
              </a:rPr>
              <a:t>Test a drug first (for doctors)</a:t>
            </a:r>
            <a:endParaRPr lang="en-US" sz="1250" dirty="0"/>
          </a:p>
        </p:txBody>
      </p:sp>
      <p:sp>
        <p:nvSpPr>
          <p:cNvPr id="27" name="Text 21"/>
          <p:cNvSpPr txBox="1"/>
          <p:nvPr/>
        </p:nvSpPr>
        <p:spPr>
          <a:xfrm>
            <a:off x="2295144" y="3177540"/>
            <a:ext cx="1636776" cy="1115568"/>
          </a:xfrm>
          <a:prstGeom prst="rect">
            <a:avLst/>
          </a:prstGeom>
          <a:noFill/>
          <a:ln/>
        </p:spPr>
        <p:txBody>
          <a:bodyPr wrap="square" lIns="0" tIns="0" rIns="0" bIns="0" rtlCol="0" anchor="ctr"/>
          <a:lstStyle/>
          <a:p>
            <a:pPr marL="0" indent="0">
              <a:buNone/>
            </a:pPr>
            <a:r>
              <a:rPr lang="en-US" sz="1000" dirty="0">
                <a:solidFill>
                  <a:srgbClr val="1F2A37"/>
                </a:solidFill>
                <a:latin typeface="Calibri" pitchFamily="34" charset="0"/>
                <a:ea typeface="Calibri" pitchFamily="34" charset="-122"/>
                <a:cs typeface="Calibri" pitchFamily="34" charset="-120"/>
              </a:rPr>
              <a:t>Using clinical-trial results and the patient's own history, doctors simulate SGLT2i, GLP-1 RA or finerenone on the twin and see which suits this patient best.</a:t>
            </a:r>
            <a:endParaRPr lang="en-US" sz="1000" dirty="0"/>
          </a:p>
        </p:txBody>
      </p:sp>
      <p:sp>
        <p:nvSpPr>
          <p:cNvPr id="28" name="USP 5"/>
          <p:cNvSpPr/>
          <p:nvPr/>
        </p:nvSpPr>
        <p:spPr>
          <a:xfrm>
            <a:off x="4251960" y="2702052"/>
            <a:ext cx="3703320" cy="1664208"/>
          </a:xfrm>
          <a:prstGeom prst="roundRect">
            <a:avLst>
              <a:gd name="adj" fmla="val 5495"/>
            </a:avLst>
          </a:prstGeom>
          <a:solidFill>
            <a:srgbClr val="FDEBDF"/>
          </a:solidFill>
          <a:ln w="15875">
            <a:solidFill>
              <a:srgbClr val="F2A679"/>
            </a:solidFill>
            <a:prstDash val="dash"/>
          </a:ln>
        </p:spPr>
      </p:sp>
      <p:sp>
        <p:nvSpPr>
          <p:cNvPr id="29" name="Shape 23"/>
          <p:cNvSpPr/>
          <p:nvPr/>
        </p:nvSpPr>
        <p:spPr>
          <a:xfrm>
            <a:off x="4343400" y="3177540"/>
            <a:ext cx="1783080" cy="1097280"/>
          </a:xfrm>
          <a:prstGeom prst="rect">
            <a:avLst/>
          </a:prstGeom>
          <a:solidFill>
            <a:srgbClr val="F4F2EE"/>
          </a:solidFill>
          <a:ln w="9525">
            <a:solidFill>
              <a:srgbClr val="C9D1D9"/>
            </a:solidFill>
            <a:prstDash val="solid"/>
          </a:ln>
        </p:spPr>
      </p:sp>
      <p:pic>
        <p:nvPicPr>
          <p:cNvPr id="30" name="USP 5 screenshot" descr="/home/claude/gr/assets/u5_patients.jpg"/>
          <p:cNvPicPr>
            <a:picLocks noChangeAspect="1"/>
          </p:cNvPicPr>
          <p:nvPr/>
        </p:nvPicPr>
        <p:blipFill>
          <a:blip r:embed="rId7"/>
          <a:stretch>
            <a:fillRect/>
          </a:stretch>
        </p:blipFill>
        <p:spPr>
          <a:xfrm>
            <a:off x="4330113" y="2802636"/>
            <a:ext cx="1842087" cy="1453896"/>
          </a:xfrm>
          <a:prstGeom prst="rect">
            <a:avLst/>
          </a:prstGeom>
        </p:spPr>
      </p:pic>
      <p:sp>
        <p:nvSpPr>
          <p:cNvPr id="31" name="Text 24"/>
          <p:cNvSpPr/>
          <p:nvPr/>
        </p:nvSpPr>
        <p:spPr>
          <a:xfrm>
            <a:off x="6286500" y="2833987"/>
            <a:ext cx="292608" cy="292608"/>
          </a:xfrm>
          <a:prstGeom prst="ellipse">
            <a:avLst/>
          </a:prstGeom>
          <a:solidFill>
            <a:srgbClr val="E9712F"/>
          </a:solidFill>
          <a:ln/>
        </p:spPr>
        <p:txBody>
          <a:bodyPr wrap="square" lIns="0" tIns="0" rIns="0" bIns="0" rtlCol="0" anchor="ctr"/>
          <a:lstStyle/>
          <a:p>
            <a:pPr marL="0" indent="0" algn="ctr">
              <a:buNone/>
            </a:pPr>
            <a:r>
              <a:rPr lang="en-US" sz="1200" b="1" dirty="0">
                <a:solidFill>
                  <a:srgbClr val="FFFFFF"/>
                </a:solidFill>
              </a:rPr>
              <a:t>5</a:t>
            </a:r>
            <a:endParaRPr lang="en-US" sz="1200" dirty="0"/>
          </a:p>
        </p:txBody>
      </p:sp>
      <p:sp>
        <p:nvSpPr>
          <p:cNvPr id="32" name="Text 25"/>
          <p:cNvSpPr txBox="1"/>
          <p:nvPr/>
        </p:nvSpPr>
        <p:spPr>
          <a:xfrm>
            <a:off x="6629400" y="2811780"/>
            <a:ext cx="1208314" cy="329184"/>
          </a:xfrm>
          <a:prstGeom prst="rect">
            <a:avLst/>
          </a:prstGeom>
          <a:noFill/>
          <a:ln/>
        </p:spPr>
        <p:txBody>
          <a:bodyPr wrap="square" lIns="0" tIns="0" rIns="0" bIns="0" rtlCol="0" anchor="ctr"/>
          <a:lstStyle/>
          <a:p>
            <a:pPr marL="0" indent="0">
              <a:buNone/>
            </a:pPr>
            <a:r>
              <a:rPr lang="en-US" sz="1250" b="1" dirty="0">
                <a:solidFill>
                  <a:srgbClr val="1B3A5C"/>
                </a:solidFill>
                <a:latin typeface="Calibri" pitchFamily="34" charset="0"/>
                <a:ea typeface="Calibri" pitchFamily="34" charset="-122"/>
                <a:cs typeface="Calibri" pitchFamily="34" charset="-120"/>
              </a:rPr>
              <a:t>Working dashboard</a:t>
            </a:r>
            <a:endParaRPr lang="en-US" sz="1250" dirty="0"/>
          </a:p>
        </p:txBody>
      </p:sp>
      <p:sp>
        <p:nvSpPr>
          <p:cNvPr id="33" name="Text 26"/>
          <p:cNvSpPr txBox="1"/>
          <p:nvPr/>
        </p:nvSpPr>
        <p:spPr>
          <a:xfrm>
            <a:off x="6227064" y="3162844"/>
            <a:ext cx="1636776" cy="1115568"/>
          </a:xfrm>
          <a:prstGeom prst="rect">
            <a:avLst/>
          </a:prstGeom>
          <a:noFill/>
          <a:ln/>
        </p:spPr>
        <p:txBody>
          <a:bodyPr wrap="square" lIns="0" tIns="0" rIns="0" bIns="0" rtlCol="0" anchor="ctr"/>
          <a:lstStyle/>
          <a:p>
            <a:pPr marL="0" indent="0">
              <a:buNone/>
            </a:pPr>
            <a:r>
              <a:rPr lang="en-US" sz="1000" dirty="0">
                <a:solidFill>
                  <a:srgbClr val="1F2A37"/>
                </a:solidFill>
                <a:latin typeface="Calibri" pitchFamily="34" charset="0"/>
                <a:ea typeface="Calibri" pitchFamily="34" charset="-122"/>
                <a:cs typeface="Calibri" pitchFamily="34" charset="-120"/>
              </a:rPr>
              <a:t>Live doctor portal with 9 tabs per patient, plus patient and admin apps.</a:t>
            </a:r>
            <a:endParaRPr lang="en-US" sz="1000" dirty="0"/>
          </a:p>
        </p:txBody>
      </p:sp>
      <p:sp>
        <p:nvSpPr>
          <p:cNvPr id="34" name="USP 6"/>
          <p:cNvSpPr/>
          <p:nvPr/>
        </p:nvSpPr>
        <p:spPr>
          <a:xfrm>
            <a:off x="8183880" y="2702052"/>
            <a:ext cx="3703320" cy="1664208"/>
          </a:xfrm>
          <a:prstGeom prst="roundRect">
            <a:avLst>
              <a:gd name="adj" fmla="val 5495"/>
            </a:avLst>
          </a:prstGeom>
          <a:solidFill>
            <a:srgbClr val="EEF5FC"/>
          </a:solidFill>
          <a:ln w="15875">
            <a:solidFill>
              <a:srgbClr val="8DBBE6"/>
            </a:solidFill>
            <a:prstDash val="dash"/>
          </a:ln>
        </p:spPr>
      </p:sp>
      <p:pic>
        <p:nvPicPr>
          <p:cNvPr id="36" name="USP 6 screenshot" descr="/home/claude/gr/assets/u6_devices.jpg"/>
          <p:cNvPicPr>
            <a:picLocks noChangeAspect="1"/>
          </p:cNvPicPr>
          <p:nvPr/>
        </p:nvPicPr>
        <p:blipFill>
          <a:blip r:embed="rId8"/>
          <a:stretch>
            <a:fillRect/>
          </a:stretch>
        </p:blipFill>
        <p:spPr>
          <a:xfrm>
            <a:off x="8275320" y="2760508"/>
            <a:ext cx="1766586" cy="1537498"/>
          </a:xfrm>
          <a:prstGeom prst="rect">
            <a:avLst/>
          </a:prstGeom>
        </p:spPr>
      </p:pic>
      <p:sp>
        <p:nvSpPr>
          <p:cNvPr id="37" name="Text 29"/>
          <p:cNvSpPr/>
          <p:nvPr/>
        </p:nvSpPr>
        <p:spPr>
          <a:xfrm>
            <a:off x="10158984" y="2786961"/>
            <a:ext cx="292608" cy="292608"/>
          </a:xfrm>
          <a:prstGeom prst="ellipse">
            <a:avLst/>
          </a:prstGeom>
          <a:solidFill>
            <a:srgbClr val="2F6DB5"/>
          </a:solidFill>
          <a:ln/>
        </p:spPr>
        <p:txBody>
          <a:bodyPr wrap="square" lIns="0" tIns="0" rIns="0" bIns="0" rtlCol="0" anchor="ctr"/>
          <a:lstStyle/>
          <a:p>
            <a:pPr marL="0" indent="0" algn="ctr">
              <a:buNone/>
            </a:pPr>
            <a:r>
              <a:rPr lang="en-US" sz="1200" b="1" dirty="0">
                <a:solidFill>
                  <a:srgbClr val="FFFFFF"/>
                </a:solidFill>
              </a:rPr>
              <a:t>6</a:t>
            </a:r>
            <a:endParaRPr lang="en-US" sz="1200" dirty="0"/>
          </a:p>
        </p:txBody>
      </p:sp>
      <p:sp>
        <p:nvSpPr>
          <p:cNvPr id="38" name="Text 30"/>
          <p:cNvSpPr txBox="1"/>
          <p:nvPr/>
        </p:nvSpPr>
        <p:spPr>
          <a:xfrm>
            <a:off x="10502484" y="2726545"/>
            <a:ext cx="1156168" cy="329184"/>
          </a:xfrm>
          <a:prstGeom prst="rect">
            <a:avLst/>
          </a:prstGeom>
          <a:noFill/>
          <a:ln/>
        </p:spPr>
        <p:txBody>
          <a:bodyPr wrap="square" lIns="0" tIns="0" rIns="0" bIns="0" rtlCol="0" anchor="ctr"/>
          <a:lstStyle/>
          <a:p>
            <a:pPr marL="0" indent="0">
              <a:buNone/>
            </a:pPr>
            <a:r>
              <a:rPr lang="en-US" sz="1250" b="1" dirty="0">
                <a:solidFill>
                  <a:srgbClr val="1B3A5C"/>
                </a:solidFill>
                <a:latin typeface="Calibri" pitchFamily="34" charset="0"/>
                <a:ea typeface="Calibri" pitchFamily="34" charset="-122"/>
                <a:cs typeface="Calibri" pitchFamily="34" charset="-120"/>
              </a:rPr>
              <a:t>Device agnostic</a:t>
            </a:r>
            <a:endParaRPr lang="en-US" sz="1250" dirty="0"/>
          </a:p>
        </p:txBody>
      </p:sp>
      <p:sp>
        <p:nvSpPr>
          <p:cNvPr id="39" name="Text 31"/>
          <p:cNvSpPr txBox="1"/>
          <p:nvPr/>
        </p:nvSpPr>
        <p:spPr>
          <a:xfrm>
            <a:off x="10158984" y="3177540"/>
            <a:ext cx="1636776" cy="1115568"/>
          </a:xfrm>
          <a:prstGeom prst="rect">
            <a:avLst/>
          </a:prstGeom>
          <a:noFill/>
          <a:ln/>
        </p:spPr>
        <p:txBody>
          <a:bodyPr wrap="square" lIns="0" tIns="0" rIns="0" bIns="0" rtlCol="0" anchor="ctr"/>
          <a:lstStyle/>
          <a:p>
            <a:pPr marL="0" indent="0">
              <a:buNone/>
            </a:pPr>
            <a:r>
              <a:rPr lang="en-US" sz="1000" dirty="0">
                <a:solidFill>
                  <a:srgbClr val="1F2A37"/>
                </a:solidFill>
                <a:latin typeface="Calibri" pitchFamily="34" charset="0"/>
                <a:ea typeface="Calibri" pitchFamily="34" charset="-122"/>
                <a:cs typeface="Calibri" pitchFamily="34" charset="-120"/>
              </a:rPr>
              <a:t>Libre, smartwatch, Omron BP, smart scale, CSV upload; Dexcom next; EHR via FHIR R4.</a:t>
            </a:r>
            <a:endParaRPr lang="en-US" sz="1000" dirty="0"/>
          </a:p>
        </p:txBody>
      </p:sp>
      <p:sp>
        <p:nvSpPr>
          <p:cNvPr id="40" name="USP 7"/>
          <p:cNvSpPr/>
          <p:nvPr/>
        </p:nvSpPr>
        <p:spPr>
          <a:xfrm>
            <a:off x="320040" y="4535424"/>
            <a:ext cx="3703320" cy="1664208"/>
          </a:xfrm>
          <a:prstGeom prst="roundRect">
            <a:avLst>
              <a:gd name="adj" fmla="val 5495"/>
            </a:avLst>
          </a:prstGeom>
          <a:solidFill>
            <a:srgbClr val="FDEBDF"/>
          </a:solidFill>
          <a:ln w="15875">
            <a:solidFill>
              <a:srgbClr val="F2A679"/>
            </a:solidFill>
            <a:prstDash val="dash"/>
          </a:ln>
        </p:spPr>
      </p:sp>
      <p:pic>
        <p:nvPicPr>
          <p:cNvPr id="42" name="USP 7 screenshot" descr="/home/claude/gr/assets/u7_india.jpg"/>
          <p:cNvPicPr>
            <a:picLocks noChangeAspect="1"/>
          </p:cNvPicPr>
          <p:nvPr/>
        </p:nvPicPr>
        <p:blipFill>
          <a:blip r:embed="rId9"/>
          <a:stretch>
            <a:fillRect/>
          </a:stretch>
        </p:blipFill>
        <p:spPr>
          <a:xfrm>
            <a:off x="384145" y="4581389"/>
            <a:ext cx="1796699" cy="1563706"/>
          </a:xfrm>
          <a:prstGeom prst="rect">
            <a:avLst/>
          </a:prstGeom>
        </p:spPr>
      </p:pic>
      <p:sp>
        <p:nvSpPr>
          <p:cNvPr id="43" name="Text 34"/>
          <p:cNvSpPr/>
          <p:nvPr/>
        </p:nvSpPr>
        <p:spPr>
          <a:xfrm>
            <a:off x="2388639" y="4711773"/>
            <a:ext cx="292608" cy="292608"/>
          </a:xfrm>
          <a:prstGeom prst="ellipse">
            <a:avLst/>
          </a:prstGeom>
          <a:solidFill>
            <a:srgbClr val="E9712F"/>
          </a:solidFill>
          <a:ln/>
        </p:spPr>
        <p:txBody>
          <a:bodyPr wrap="square" lIns="0" tIns="0" rIns="0" bIns="0" rtlCol="0" anchor="ctr"/>
          <a:lstStyle/>
          <a:p>
            <a:pPr marL="0" indent="0" algn="ctr">
              <a:buNone/>
            </a:pPr>
            <a:r>
              <a:rPr lang="en-US" sz="1200" b="1" dirty="0">
                <a:solidFill>
                  <a:srgbClr val="FFFFFF"/>
                </a:solidFill>
              </a:rPr>
              <a:t>7</a:t>
            </a:r>
            <a:endParaRPr lang="en-US" sz="1200" dirty="0"/>
          </a:p>
        </p:txBody>
      </p:sp>
      <p:sp>
        <p:nvSpPr>
          <p:cNvPr id="44" name="Text 35"/>
          <p:cNvSpPr txBox="1"/>
          <p:nvPr/>
        </p:nvSpPr>
        <p:spPr>
          <a:xfrm>
            <a:off x="2649243" y="4686300"/>
            <a:ext cx="1102766" cy="329184"/>
          </a:xfrm>
          <a:prstGeom prst="rect">
            <a:avLst/>
          </a:prstGeom>
          <a:noFill/>
          <a:ln/>
        </p:spPr>
        <p:txBody>
          <a:bodyPr wrap="square" lIns="0" tIns="0" rIns="0" bIns="0" rtlCol="0" anchor="ctr"/>
          <a:lstStyle/>
          <a:p>
            <a:pPr marL="0" indent="0">
              <a:buNone/>
            </a:pPr>
            <a:r>
              <a:rPr lang="en-US" sz="1250" b="1" dirty="0">
                <a:solidFill>
                  <a:srgbClr val="1B3A5C"/>
                </a:solidFill>
                <a:latin typeface="Calibri" pitchFamily="34" charset="0"/>
                <a:ea typeface="Calibri" pitchFamily="34" charset="-122"/>
                <a:cs typeface="Calibri" pitchFamily="34" charset="-120"/>
              </a:rPr>
              <a:t>Built for India</a:t>
            </a:r>
            <a:endParaRPr lang="en-US" sz="1250" dirty="0"/>
          </a:p>
        </p:txBody>
      </p:sp>
      <p:sp>
        <p:nvSpPr>
          <p:cNvPr id="45" name="Text 36"/>
          <p:cNvSpPr txBox="1"/>
          <p:nvPr/>
        </p:nvSpPr>
        <p:spPr>
          <a:xfrm>
            <a:off x="2295144" y="5010912"/>
            <a:ext cx="1636776" cy="1115568"/>
          </a:xfrm>
          <a:prstGeom prst="rect">
            <a:avLst/>
          </a:prstGeom>
          <a:noFill/>
          <a:ln/>
        </p:spPr>
        <p:txBody>
          <a:bodyPr wrap="square" lIns="0" tIns="0" rIns="0" bIns="0" rtlCol="0" anchor="ctr"/>
          <a:lstStyle/>
          <a:p>
            <a:pPr marL="0" indent="0">
              <a:buNone/>
            </a:pPr>
            <a:r>
              <a:rPr lang="en-US" sz="1000" dirty="0">
                <a:solidFill>
                  <a:srgbClr val="1F2A37"/>
                </a:solidFill>
                <a:latin typeface="Calibri" pitchFamily="34" charset="0"/>
                <a:ea typeface="Calibri" pitchFamily="34" charset="-122"/>
                <a:cs typeface="Calibri" pitchFamily="34" charset="-120"/>
              </a:rPr>
              <a:t>Hindi patient app, Indian meals with carbs and GI, ICMR-INDIAB-based cohort.</a:t>
            </a:r>
            <a:endParaRPr lang="en-US" sz="1000" dirty="0"/>
          </a:p>
        </p:txBody>
      </p:sp>
      <p:sp>
        <p:nvSpPr>
          <p:cNvPr id="46" name="USP 8"/>
          <p:cNvSpPr/>
          <p:nvPr/>
        </p:nvSpPr>
        <p:spPr>
          <a:xfrm>
            <a:off x="4251960" y="4535424"/>
            <a:ext cx="3703320" cy="1664208"/>
          </a:xfrm>
          <a:prstGeom prst="roundRect">
            <a:avLst>
              <a:gd name="adj" fmla="val 5495"/>
            </a:avLst>
          </a:prstGeom>
          <a:solidFill>
            <a:srgbClr val="EEF5FC"/>
          </a:solidFill>
          <a:ln w="15875">
            <a:solidFill>
              <a:srgbClr val="8DBBE6"/>
            </a:solidFill>
            <a:prstDash val="dash"/>
          </a:ln>
        </p:spPr>
      </p:sp>
      <p:pic>
        <p:nvPicPr>
          <p:cNvPr id="48" name="USP 8 screenshot" descr="/home/claude/gr/assets/u8_kdigo.jpg"/>
          <p:cNvPicPr>
            <a:picLocks noChangeAspect="1"/>
          </p:cNvPicPr>
          <p:nvPr/>
        </p:nvPicPr>
        <p:blipFill>
          <a:blip r:embed="rId10"/>
          <a:stretch>
            <a:fillRect/>
          </a:stretch>
        </p:blipFill>
        <p:spPr>
          <a:xfrm>
            <a:off x="4314064" y="4608576"/>
            <a:ext cx="1891656" cy="1481328"/>
          </a:xfrm>
          <a:prstGeom prst="rect">
            <a:avLst/>
          </a:prstGeom>
        </p:spPr>
      </p:pic>
      <p:sp>
        <p:nvSpPr>
          <p:cNvPr id="49" name="Text 39"/>
          <p:cNvSpPr/>
          <p:nvPr/>
        </p:nvSpPr>
        <p:spPr>
          <a:xfrm>
            <a:off x="6205720" y="4674217"/>
            <a:ext cx="292608" cy="292608"/>
          </a:xfrm>
          <a:prstGeom prst="ellipse">
            <a:avLst/>
          </a:prstGeom>
          <a:solidFill>
            <a:srgbClr val="2F6DB5"/>
          </a:solidFill>
          <a:ln/>
        </p:spPr>
        <p:txBody>
          <a:bodyPr wrap="square" lIns="0" tIns="0" rIns="0" bIns="0" rtlCol="0" anchor="ctr"/>
          <a:lstStyle/>
          <a:p>
            <a:pPr marL="0" indent="0" algn="ctr">
              <a:buNone/>
            </a:pPr>
            <a:r>
              <a:rPr lang="en-US" sz="1200" b="1" dirty="0">
                <a:solidFill>
                  <a:srgbClr val="FFFFFF"/>
                </a:solidFill>
              </a:rPr>
              <a:t>8</a:t>
            </a:r>
            <a:endParaRPr lang="en-US" sz="1200" dirty="0"/>
          </a:p>
        </p:txBody>
      </p:sp>
      <p:sp>
        <p:nvSpPr>
          <p:cNvPr id="50" name="Text 40"/>
          <p:cNvSpPr txBox="1"/>
          <p:nvPr/>
        </p:nvSpPr>
        <p:spPr>
          <a:xfrm>
            <a:off x="6489009" y="4655929"/>
            <a:ext cx="1386840" cy="329184"/>
          </a:xfrm>
          <a:prstGeom prst="rect">
            <a:avLst/>
          </a:prstGeom>
          <a:noFill/>
          <a:ln/>
        </p:spPr>
        <p:txBody>
          <a:bodyPr wrap="square" lIns="0" tIns="0" rIns="0" bIns="0" rtlCol="0" anchor="ctr"/>
          <a:lstStyle/>
          <a:p>
            <a:pPr marL="0" indent="0">
              <a:buNone/>
            </a:pPr>
            <a:r>
              <a:rPr lang="en-US" sz="1250" b="1" dirty="0">
                <a:solidFill>
                  <a:srgbClr val="1B3A5C"/>
                </a:solidFill>
                <a:latin typeface="Calibri" pitchFamily="34" charset="0"/>
                <a:ea typeface="Calibri" pitchFamily="34" charset="-122"/>
                <a:cs typeface="Calibri" pitchFamily="34" charset="-120"/>
              </a:rPr>
              <a:t>Clinically grounded, privacy-safe</a:t>
            </a:r>
            <a:endParaRPr lang="en-US" sz="1250" dirty="0"/>
          </a:p>
        </p:txBody>
      </p:sp>
      <p:sp>
        <p:nvSpPr>
          <p:cNvPr id="51" name="Text 41"/>
          <p:cNvSpPr txBox="1"/>
          <p:nvPr/>
        </p:nvSpPr>
        <p:spPr>
          <a:xfrm>
            <a:off x="6227064" y="5010912"/>
            <a:ext cx="1636776" cy="1115568"/>
          </a:xfrm>
          <a:prstGeom prst="rect">
            <a:avLst/>
          </a:prstGeom>
          <a:noFill/>
          <a:ln/>
        </p:spPr>
        <p:txBody>
          <a:bodyPr wrap="square" lIns="0" tIns="0" rIns="0" bIns="0" rtlCol="0" anchor="ctr"/>
          <a:lstStyle/>
          <a:p>
            <a:pPr marL="0" indent="0">
              <a:buNone/>
            </a:pPr>
            <a:r>
              <a:rPr lang="en-US" sz="1000" dirty="0">
                <a:solidFill>
                  <a:srgbClr val="1F2A37"/>
                </a:solidFill>
                <a:latin typeface="Calibri" pitchFamily="34" charset="0"/>
                <a:ea typeface="Calibri" pitchFamily="34" charset="-122"/>
                <a:cs typeface="Calibri" pitchFamily="34" charset="-120"/>
              </a:rPr>
              <a:t>KDIGO 2022, ADA 2026, race-free CKD-EPI 2021, LOINC and FHIR R4. Synthetic and open data only; the AI never sees names.</a:t>
            </a:r>
            <a:endParaRPr lang="en-US" sz="1000" dirty="0"/>
          </a:p>
        </p:txBody>
      </p:sp>
      <p:sp>
        <p:nvSpPr>
          <p:cNvPr id="52" name="USP 9"/>
          <p:cNvSpPr/>
          <p:nvPr/>
        </p:nvSpPr>
        <p:spPr>
          <a:xfrm>
            <a:off x="8183880" y="4535424"/>
            <a:ext cx="3703320" cy="1664208"/>
          </a:xfrm>
          <a:prstGeom prst="roundRect">
            <a:avLst>
              <a:gd name="adj" fmla="val 5495"/>
            </a:avLst>
          </a:prstGeom>
          <a:solidFill>
            <a:srgbClr val="FDEBDF"/>
          </a:solidFill>
          <a:ln w="15875">
            <a:solidFill>
              <a:srgbClr val="F2A679"/>
            </a:solidFill>
            <a:prstDash val="dash"/>
          </a:ln>
        </p:spPr>
      </p:sp>
      <p:pic>
        <p:nvPicPr>
          <p:cNvPr id="54" name="USP 9 screenshot" descr="/home/claude/gr/assets/u10_parent.jpg"/>
          <p:cNvPicPr>
            <a:picLocks noChangeAspect="1"/>
          </p:cNvPicPr>
          <p:nvPr/>
        </p:nvPicPr>
        <p:blipFill>
          <a:blip r:embed="rId11"/>
          <a:stretch>
            <a:fillRect/>
          </a:stretch>
        </p:blipFill>
        <p:spPr>
          <a:xfrm>
            <a:off x="8210050" y="4608576"/>
            <a:ext cx="1754297" cy="1526803"/>
          </a:xfrm>
          <a:prstGeom prst="rect">
            <a:avLst/>
          </a:prstGeom>
        </p:spPr>
      </p:pic>
      <p:sp>
        <p:nvSpPr>
          <p:cNvPr id="55" name="Text 44"/>
          <p:cNvSpPr/>
          <p:nvPr/>
        </p:nvSpPr>
        <p:spPr>
          <a:xfrm>
            <a:off x="9895602" y="4636335"/>
            <a:ext cx="292608" cy="292608"/>
          </a:xfrm>
          <a:prstGeom prst="ellipse">
            <a:avLst/>
          </a:prstGeom>
          <a:solidFill>
            <a:srgbClr val="E9712F"/>
          </a:solidFill>
          <a:ln/>
        </p:spPr>
        <p:txBody>
          <a:bodyPr wrap="square" lIns="0" tIns="0" rIns="0" bIns="0" rtlCol="0" anchor="ctr"/>
          <a:lstStyle/>
          <a:p>
            <a:pPr marL="0" indent="0" algn="ctr">
              <a:buNone/>
            </a:pPr>
            <a:r>
              <a:rPr lang="en-US" sz="1200" b="1" dirty="0">
                <a:solidFill>
                  <a:srgbClr val="FFFFFF"/>
                </a:solidFill>
              </a:rPr>
              <a:t>9</a:t>
            </a:r>
            <a:endParaRPr lang="en-US" sz="1200" dirty="0"/>
          </a:p>
        </p:txBody>
      </p:sp>
      <p:sp>
        <p:nvSpPr>
          <p:cNvPr id="56" name="Text 45"/>
          <p:cNvSpPr txBox="1"/>
          <p:nvPr/>
        </p:nvSpPr>
        <p:spPr>
          <a:xfrm>
            <a:off x="10243240" y="4623272"/>
            <a:ext cx="1205856" cy="329184"/>
          </a:xfrm>
          <a:prstGeom prst="rect">
            <a:avLst/>
          </a:prstGeom>
          <a:noFill/>
          <a:ln/>
        </p:spPr>
        <p:txBody>
          <a:bodyPr wrap="square" lIns="0" tIns="0" rIns="0" bIns="0" rtlCol="0" anchor="ctr"/>
          <a:lstStyle/>
          <a:p>
            <a:pPr marL="0" indent="0">
              <a:buNone/>
            </a:pPr>
            <a:r>
              <a:rPr lang="en-US" sz="1250" b="1" dirty="0">
                <a:solidFill>
                  <a:srgbClr val="1B3A5C"/>
                </a:solidFill>
                <a:latin typeface="Calibri" pitchFamily="34" charset="0"/>
                <a:ea typeface="Calibri" pitchFamily="34" charset="-122"/>
                <a:cs typeface="Calibri" pitchFamily="34" charset="-120"/>
              </a:rPr>
              <a:t>Watches over you like a parent</a:t>
            </a:r>
            <a:endParaRPr lang="en-US" sz="1250" dirty="0"/>
          </a:p>
        </p:txBody>
      </p:sp>
      <p:sp>
        <p:nvSpPr>
          <p:cNvPr id="57" name="Text 46"/>
          <p:cNvSpPr txBox="1"/>
          <p:nvPr/>
        </p:nvSpPr>
        <p:spPr>
          <a:xfrm>
            <a:off x="10158984" y="5010912"/>
            <a:ext cx="1636776" cy="1115568"/>
          </a:xfrm>
          <a:prstGeom prst="rect">
            <a:avLst/>
          </a:prstGeom>
          <a:noFill/>
          <a:ln/>
        </p:spPr>
        <p:txBody>
          <a:bodyPr wrap="square" lIns="0" tIns="0" rIns="0" bIns="0" rtlCol="0" anchor="ctr"/>
          <a:lstStyle/>
          <a:p>
            <a:pPr marL="0" indent="0">
              <a:buNone/>
            </a:pPr>
            <a:r>
              <a:rPr lang="en-US" sz="1000" dirty="0">
                <a:solidFill>
                  <a:srgbClr val="1F2A37"/>
                </a:solidFill>
                <a:latin typeface="Calibri" pitchFamily="34" charset="0"/>
                <a:ea typeface="Calibri" pitchFamily="34" charset="-122"/>
                <a:cs typeface="Calibri" pitchFamily="34" charset="-120"/>
              </a:rPr>
              <a:t>Knows what suits you and what doesn't: your top spiking foods, how much a walk helps, the dose you missed. It reminds and warns before trouble.</a:t>
            </a:r>
            <a:endParaRPr lang="en-US" sz="10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itle tag"/>
          <p:cNvSpPr/>
          <p:nvPr/>
        </p:nvSpPr>
        <p:spPr>
          <a:xfrm>
            <a:off x="274320" y="109728"/>
            <a:ext cx="2234794" cy="603504"/>
          </a:xfrm>
          <a:prstGeom prst="rect">
            <a:avLst/>
          </a:prstGeom>
          <a:solidFill>
            <a:srgbClr val="FFFFFF"/>
          </a:solidFill>
          <a:ln w="22225">
            <a:solidFill>
              <a:srgbClr val="2F6DB5"/>
            </a:solidFill>
            <a:prstDash val="solid"/>
          </a:ln>
        </p:spPr>
      </p:sp>
      <p:sp>
        <p:nvSpPr>
          <p:cNvPr id="3" name="Text 10"/>
          <p:cNvSpPr>
            <a:spLocks noGrp="1"/>
          </p:cNvSpPr>
          <p:nvPr>
            <p:ph type="title" idx="111" hasCustomPrompt="1"/>
          </p:nvPr>
        </p:nvSpPr>
        <p:spPr>
          <a:xfrm>
            <a:off x="384048" y="128016"/>
            <a:ext cx="8686800" cy="566928"/>
          </a:xfrm>
          <a:prstGeom prst="rect">
            <a:avLst/>
          </a:prstGeom>
          <a:noFill/>
          <a:ln/>
        </p:spPr>
        <p:txBody>
          <a:bodyPr wrap="square" lIns="0" tIns="0" rIns="0" bIns="0" rtlCol="0" anchor="ctr"/>
          <a:lstStyle/>
          <a:p>
            <a:pPr marL="0" indent="0" algn="l">
              <a:buNone/>
            </a:pPr>
            <a:r>
              <a:rPr lang="en-US" sz="2600" b="1" dirty="0">
                <a:solidFill>
                  <a:srgbClr val="E9712F"/>
                </a:solidFill>
              </a:rPr>
              <a:t>Architecture</a:t>
            </a:r>
            <a:endParaRPr lang="en-US" sz="2600" dirty="0"/>
          </a:p>
        </p:txBody>
      </p:sp>
      <p:sp>
        <p:nvSpPr>
          <p:cNvPr id="4" name="Shape 2"/>
          <p:cNvSpPr/>
          <p:nvPr/>
        </p:nvSpPr>
        <p:spPr>
          <a:xfrm>
            <a:off x="356616" y="914400"/>
            <a:ext cx="8549640" cy="4809744"/>
          </a:xfrm>
          <a:prstGeom prst="rect">
            <a:avLst/>
          </a:prstGeom>
          <a:solidFill>
            <a:srgbClr val="D9DEE4"/>
          </a:solidFill>
          <a:ln w="12700">
            <a:solidFill>
              <a:srgbClr val="D9DEE4"/>
            </a:solidFill>
            <a:prstDash val="solid"/>
          </a:ln>
        </p:spPr>
      </p:sp>
      <p:pic>
        <p:nvPicPr>
          <p:cNvPr id="5" name="Architecture diagram" descr="/home/claude/gr/assets/architecture.png"/>
          <p:cNvPicPr>
            <a:picLocks noChangeAspect="1"/>
          </p:cNvPicPr>
          <p:nvPr/>
        </p:nvPicPr>
        <p:blipFill>
          <a:blip r:embed="rId3"/>
          <a:stretch>
            <a:fillRect/>
          </a:stretch>
        </p:blipFill>
        <p:spPr>
          <a:xfrm>
            <a:off x="320040" y="868680"/>
            <a:ext cx="8549640" cy="4809744"/>
          </a:xfrm>
          <a:prstGeom prst="rect">
            <a:avLst/>
          </a:prstGeom>
        </p:spPr>
      </p:pic>
      <p:sp>
        <p:nvSpPr>
          <p:cNvPr id="6" name="Shape 3"/>
          <p:cNvSpPr/>
          <p:nvPr/>
        </p:nvSpPr>
        <p:spPr>
          <a:xfrm>
            <a:off x="320040" y="868680"/>
            <a:ext cx="8549640" cy="4809744"/>
          </a:xfrm>
          <a:prstGeom prst="rect">
            <a:avLst/>
          </a:prstGeom>
          <a:ln w="9525">
            <a:solidFill>
              <a:srgbClr val="C9D1D9"/>
            </a:solidFill>
            <a:prstDash val="solid"/>
          </a:ln>
        </p:spPr>
      </p:sp>
      <p:sp>
        <p:nvSpPr>
          <p:cNvPr id="7" name="Shape 4"/>
          <p:cNvSpPr/>
          <p:nvPr/>
        </p:nvSpPr>
        <p:spPr>
          <a:xfrm>
            <a:off x="4489704" y="3392424"/>
            <a:ext cx="0" cy="786384"/>
          </a:xfrm>
          <a:prstGeom prst="line">
            <a:avLst/>
          </a:prstGeom>
          <a:noFill/>
          <a:ln w="19050">
            <a:solidFill>
              <a:srgbClr val="E9712F"/>
            </a:solidFill>
            <a:prstDash val="dash"/>
          </a:ln>
        </p:spPr>
      </p:sp>
      <p:sp>
        <p:nvSpPr>
          <p:cNvPr id="8" name="Progressive twin callout"/>
          <p:cNvSpPr/>
          <p:nvPr/>
        </p:nvSpPr>
        <p:spPr>
          <a:xfrm>
            <a:off x="3776472" y="4178808"/>
            <a:ext cx="1426464" cy="868680"/>
          </a:xfrm>
          <a:prstGeom prst="roundRect">
            <a:avLst>
              <a:gd name="adj" fmla="val 8421"/>
            </a:avLst>
          </a:prstGeom>
          <a:solidFill>
            <a:srgbClr val="E9712F"/>
          </a:solidFill>
          <a:ln>
            <a:solidFill>
              <a:srgbClr val="E9712F"/>
            </a:solidFill>
          </a:ln>
        </p:spPr>
        <p:txBody>
          <a:bodyPr wrap="square" lIns="38100" tIns="38100" rIns="38100" bIns="38100" rtlCol="0" anchor="ctr"/>
          <a:lstStyle/>
          <a:p>
            <a:pPr marL="0" indent="0" algn="ctr">
              <a:buNone/>
            </a:pPr>
            <a:r>
              <a:rPr lang="en-US" sz="1100" b="1" dirty="0">
                <a:solidFill>
                  <a:srgbClr val="FFFFFF"/>
                </a:solidFill>
              </a:rPr>
              <a:t>Progressive twin</a:t>
            </a:r>
            <a:endParaRPr lang="en-US" sz="1100" dirty="0"/>
          </a:p>
          <a:p>
            <a:pPr marL="0" indent="0" algn="ctr">
              <a:buNone/>
            </a:pPr>
            <a:r>
              <a:rPr lang="en-US" sz="900" dirty="0">
                <a:solidFill>
                  <a:srgbClr val="FFFFFF"/>
                </a:solidFill>
              </a:rPr>
              <a:t>starts at population values, refits nightly on the patient's own data</a:t>
            </a:r>
            <a:endParaRPr lang="en-US" sz="1100" dirty="0"/>
          </a:p>
        </p:txBody>
      </p:sp>
      <p:sp>
        <p:nvSpPr>
          <p:cNvPr id="9" name="Text 6"/>
          <p:cNvSpPr/>
          <p:nvPr/>
        </p:nvSpPr>
        <p:spPr>
          <a:xfrm>
            <a:off x="320040" y="5815584"/>
            <a:ext cx="1600200" cy="365760"/>
          </a:xfrm>
          <a:prstGeom prst="roundRect">
            <a:avLst>
              <a:gd name="adj" fmla="val 20000"/>
            </a:avLst>
          </a:prstGeom>
          <a:solidFill>
            <a:srgbClr val="EEF5FC"/>
          </a:solidFill>
          <a:ln w="12700">
            <a:solidFill>
              <a:srgbClr val="8DBBE6"/>
            </a:solidFill>
          </a:ln>
        </p:spPr>
        <p:txBody>
          <a:bodyPr wrap="square" lIns="0" tIns="0" rIns="0" bIns="0" rtlCol="0" anchor="ctr"/>
          <a:lstStyle/>
          <a:p>
            <a:pPr marL="0" indent="0" algn="ctr">
              <a:buNone/>
            </a:pPr>
            <a:r>
              <a:rPr lang="en-US" sz="1050" b="1" dirty="0">
                <a:solidFill>
                  <a:srgbClr val="1B3A5C"/>
                </a:solidFill>
              </a:rPr>
              <a:t>FastAPI, JWT + bcrypt roles</a:t>
            </a:r>
            <a:endParaRPr lang="en-US" sz="1050" dirty="0"/>
          </a:p>
        </p:txBody>
      </p:sp>
      <p:sp>
        <p:nvSpPr>
          <p:cNvPr id="10" name="Text 7"/>
          <p:cNvSpPr/>
          <p:nvPr/>
        </p:nvSpPr>
        <p:spPr>
          <a:xfrm>
            <a:off x="2057400" y="5815584"/>
            <a:ext cx="1600200" cy="365760"/>
          </a:xfrm>
          <a:prstGeom prst="roundRect">
            <a:avLst>
              <a:gd name="adj" fmla="val 20000"/>
            </a:avLst>
          </a:prstGeom>
          <a:solidFill>
            <a:srgbClr val="EEF5FC"/>
          </a:solidFill>
          <a:ln w="12700">
            <a:solidFill>
              <a:srgbClr val="8DBBE6"/>
            </a:solidFill>
          </a:ln>
        </p:spPr>
        <p:txBody>
          <a:bodyPr wrap="square" lIns="0" tIns="0" rIns="0" bIns="0" rtlCol="0" anchor="ctr"/>
          <a:lstStyle/>
          <a:p>
            <a:pPr marL="0" indent="0" algn="ctr">
              <a:buNone/>
            </a:pPr>
            <a:r>
              <a:rPr lang="en-US" sz="1050" b="1" dirty="0">
                <a:solidFill>
                  <a:srgbClr val="1B3A5C"/>
                </a:solidFill>
              </a:rPr>
              <a:t>Streamlit UI</a:t>
            </a:r>
            <a:endParaRPr lang="en-US" sz="1050" dirty="0"/>
          </a:p>
        </p:txBody>
      </p:sp>
      <p:sp>
        <p:nvSpPr>
          <p:cNvPr id="11" name="Text 8"/>
          <p:cNvSpPr/>
          <p:nvPr/>
        </p:nvSpPr>
        <p:spPr>
          <a:xfrm>
            <a:off x="3794760" y="5815584"/>
            <a:ext cx="1600200" cy="365760"/>
          </a:xfrm>
          <a:prstGeom prst="roundRect">
            <a:avLst>
              <a:gd name="adj" fmla="val 20000"/>
            </a:avLst>
          </a:prstGeom>
          <a:solidFill>
            <a:srgbClr val="EEF5FC"/>
          </a:solidFill>
          <a:ln w="12700">
            <a:solidFill>
              <a:srgbClr val="8DBBE6"/>
            </a:solidFill>
          </a:ln>
        </p:spPr>
        <p:txBody>
          <a:bodyPr wrap="square" lIns="0" tIns="0" rIns="0" bIns="0" rtlCol="0" anchor="ctr"/>
          <a:lstStyle/>
          <a:p>
            <a:pPr marL="0" indent="0" algn="ctr">
              <a:buNone/>
            </a:pPr>
            <a:r>
              <a:rPr lang="en-US" sz="1050" b="1" dirty="0">
                <a:solidFill>
                  <a:srgbClr val="1B3A5C"/>
                </a:solidFill>
              </a:rPr>
              <a:t>SQLite twin store</a:t>
            </a:r>
            <a:endParaRPr lang="en-US" sz="1050" dirty="0"/>
          </a:p>
        </p:txBody>
      </p:sp>
      <p:sp>
        <p:nvSpPr>
          <p:cNvPr id="12" name="Text 9"/>
          <p:cNvSpPr/>
          <p:nvPr/>
        </p:nvSpPr>
        <p:spPr>
          <a:xfrm>
            <a:off x="5532120" y="5815584"/>
            <a:ext cx="1600200" cy="365760"/>
          </a:xfrm>
          <a:prstGeom prst="roundRect">
            <a:avLst>
              <a:gd name="adj" fmla="val 20000"/>
            </a:avLst>
          </a:prstGeom>
          <a:solidFill>
            <a:srgbClr val="EEF5FC"/>
          </a:solidFill>
          <a:ln w="12700">
            <a:solidFill>
              <a:srgbClr val="8DBBE6"/>
            </a:solidFill>
          </a:ln>
        </p:spPr>
        <p:txBody>
          <a:bodyPr wrap="square" lIns="0" tIns="0" rIns="0" bIns="0" rtlCol="0" anchor="ctr"/>
          <a:lstStyle/>
          <a:p>
            <a:pPr marL="0" indent="0" algn="ctr">
              <a:buNone/>
            </a:pPr>
            <a:r>
              <a:rPr lang="en-US" sz="1050" b="1" dirty="0">
                <a:solidFill>
                  <a:srgbClr val="1B3A5C"/>
                </a:solidFill>
              </a:rPr>
              <a:t>FHIR R4 in / out</a:t>
            </a:r>
            <a:endParaRPr lang="en-US" sz="1050" dirty="0"/>
          </a:p>
        </p:txBody>
      </p:sp>
      <p:sp>
        <p:nvSpPr>
          <p:cNvPr id="13" name="Text 10"/>
          <p:cNvSpPr/>
          <p:nvPr/>
        </p:nvSpPr>
        <p:spPr>
          <a:xfrm>
            <a:off x="7269480" y="5815584"/>
            <a:ext cx="1600200" cy="365760"/>
          </a:xfrm>
          <a:prstGeom prst="roundRect">
            <a:avLst>
              <a:gd name="adj" fmla="val 20000"/>
            </a:avLst>
          </a:prstGeom>
          <a:solidFill>
            <a:srgbClr val="E9712F"/>
          </a:solidFill>
          <a:ln w="12700">
            <a:solidFill>
              <a:srgbClr val="E9712F"/>
            </a:solidFill>
          </a:ln>
        </p:spPr>
        <p:txBody>
          <a:bodyPr wrap="square" lIns="0" tIns="0" rIns="0" bIns="0" rtlCol="0" anchor="ctr"/>
          <a:lstStyle/>
          <a:p>
            <a:pPr marL="0" indent="0" algn="ctr">
              <a:buNone/>
            </a:pPr>
            <a:r>
              <a:rPr lang="en-US" sz="1050" b="1" dirty="0">
                <a:solidFill>
                  <a:srgbClr val="FFFFFF"/>
                </a:solidFill>
              </a:rPr>
              <a:t>Progressive twin</a:t>
            </a:r>
            <a:endParaRPr lang="en-US" sz="1050" dirty="0"/>
          </a:p>
        </p:txBody>
      </p:sp>
      <p:sp>
        <p:nvSpPr>
          <p:cNvPr id="14" name="Living twin loop"/>
          <p:cNvSpPr/>
          <p:nvPr/>
        </p:nvSpPr>
        <p:spPr>
          <a:xfrm>
            <a:off x="9098280" y="868680"/>
            <a:ext cx="2788920" cy="5312664"/>
          </a:xfrm>
          <a:prstGeom prst="roundRect">
            <a:avLst>
              <a:gd name="adj" fmla="val 3279"/>
            </a:avLst>
          </a:prstGeom>
          <a:solidFill>
            <a:srgbClr val="FDEBDF"/>
          </a:solidFill>
          <a:ln w="15875">
            <a:solidFill>
              <a:srgbClr val="F2A679"/>
            </a:solidFill>
            <a:prstDash val="dash"/>
          </a:ln>
        </p:spPr>
      </p:sp>
      <p:sp>
        <p:nvSpPr>
          <p:cNvPr id="15" name="Text 12"/>
          <p:cNvSpPr txBox="1"/>
          <p:nvPr/>
        </p:nvSpPr>
        <p:spPr>
          <a:xfrm>
            <a:off x="9253728" y="960120"/>
            <a:ext cx="2514600" cy="365760"/>
          </a:xfrm>
          <a:prstGeom prst="rect">
            <a:avLst/>
          </a:prstGeom>
          <a:noFill/>
          <a:ln/>
        </p:spPr>
        <p:txBody>
          <a:bodyPr wrap="square" lIns="0" tIns="0" rIns="0" bIns="0" rtlCol="0" anchor="t"/>
          <a:lstStyle/>
          <a:p>
            <a:pPr marL="0" indent="0">
              <a:buNone/>
            </a:pPr>
            <a:r>
              <a:rPr lang="en-US" sz="1500" b="1" dirty="0">
                <a:solidFill>
                  <a:srgbClr val="1B3A5C"/>
                </a:solidFill>
                <a:latin typeface="Calibri" pitchFamily="34" charset="0"/>
                <a:ea typeface="Calibri" pitchFamily="34" charset="-122"/>
                <a:cs typeface="Calibri" pitchFamily="34" charset="-120"/>
              </a:rPr>
              <a:t>Living-twin loop</a:t>
            </a:r>
            <a:endParaRPr lang="en-US" sz="1500" dirty="0"/>
          </a:p>
        </p:txBody>
      </p:sp>
      <p:sp>
        <p:nvSpPr>
          <p:cNvPr id="16" name="Text 13"/>
          <p:cNvSpPr/>
          <p:nvPr/>
        </p:nvSpPr>
        <p:spPr>
          <a:xfrm>
            <a:off x="9281160" y="1408176"/>
            <a:ext cx="329184" cy="329184"/>
          </a:xfrm>
          <a:prstGeom prst="ellipse">
            <a:avLst/>
          </a:prstGeom>
          <a:solidFill>
            <a:srgbClr val="E9712F"/>
          </a:solidFill>
          <a:ln/>
        </p:spPr>
        <p:txBody>
          <a:bodyPr wrap="square" lIns="0" tIns="0" rIns="0" bIns="0" rtlCol="0" anchor="ctr"/>
          <a:lstStyle/>
          <a:p>
            <a:pPr marL="0" indent="0" algn="ctr">
              <a:buNone/>
            </a:pPr>
            <a:r>
              <a:rPr lang="en-US" sz="1200" b="1" dirty="0">
                <a:solidFill>
                  <a:srgbClr val="FFFFFF"/>
                </a:solidFill>
              </a:rPr>
              <a:t>1</a:t>
            </a:r>
            <a:endParaRPr lang="en-US" sz="1200" dirty="0"/>
          </a:p>
        </p:txBody>
      </p:sp>
      <p:sp>
        <p:nvSpPr>
          <p:cNvPr id="17" name="Shape 14"/>
          <p:cNvSpPr/>
          <p:nvPr/>
        </p:nvSpPr>
        <p:spPr>
          <a:xfrm>
            <a:off x="9445752" y="1755648"/>
            <a:ext cx="0" cy="301752"/>
          </a:xfrm>
          <a:prstGeom prst="line">
            <a:avLst/>
          </a:prstGeom>
          <a:noFill/>
          <a:ln w="15875">
            <a:solidFill>
              <a:srgbClr val="E9712F"/>
            </a:solidFill>
            <a:prstDash val="dash"/>
          </a:ln>
        </p:spPr>
      </p:sp>
      <p:sp>
        <p:nvSpPr>
          <p:cNvPr id="18" name="Text 15"/>
          <p:cNvSpPr txBox="1"/>
          <p:nvPr/>
        </p:nvSpPr>
        <p:spPr>
          <a:xfrm>
            <a:off x="9710928" y="1371600"/>
            <a:ext cx="2103120" cy="640080"/>
          </a:xfrm>
          <a:prstGeom prst="rect">
            <a:avLst/>
          </a:prstGeom>
          <a:noFill/>
          <a:ln/>
        </p:spPr>
        <p:txBody>
          <a:bodyPr wrap="square" lIns="0" tIns="0" rIns="0" bIns="0" rtlCol="0" anchor="t"/>
          <a:lstStyle/>
          <a:p>
            <a:pPr marL="0" indent="0">
              <a:buNone/>
            </a:pPr>
            <a:r>
              <a:rPr lang="en-US" sz="1250" b="1" dirty="0">
                <a:solidFill>
                  <a:srgbClr val="1B3A5C"/>
                </a:solidFill>
                <a:latin typeface="Calibri" pitchFamily="34" charset="0"/>
                <a:ea typeface="Calibri" pitchFamily="34" charset="-122"/>
                <a:cs typeface="Calibri" pitchFamily="34" charset="-120"/>
              </a:rPr>
              <a:t>New reading</a:t>
            </a:r>
            <a:endParaRPr lang="en-US" sz="1250" dirty="0"/>
          </a:p>
          <a:p>
            <a:pPr marL="0" indent="0">
              <a:buNone/>
            </a:pPr>
            <a:r>
              <a:rPr lang="en-US" sz="1050" dirty="0">
                <a:solidFill>
                  <a:srgbClr val="52606D"/>
                </a:solidFill>
                <a:latin typeface="Calibri" pitchFamily="34" charset="0"/>
                <a:ea typeface="Calibri" pitchFamily="34" charset="-122"/>
                <a:cs typeface="Calibri" pitchFamily="34" charset="-120"/>
              </a:rPr>
              <a:t>CGM, lab, dose, meal, BP</a:t>
            </a:r>
            <a:endParaRPr lang="en-US" sz="1250" dirty="0"/>
          </a:p>
        </p:txBody>
      </p:sp>
      <p:sp>
        <p:nvSpPr>
          <p:cNvPr id="19" name="Text 16"/>
          <p:cNvSpPr/>
          <p:nvPr/>
        </p:nvSpPr>
        <p:spPr>
          <a:xfrm>
            <a:off x="9281160" y="2075688"/>
            <a:ext cx="329184" cy="329184"/>
          </a:xfrm>
          <a:prstGeom prst="ellipse">
            <a:avLst/>
          </a:prstGeom>
          <a:solidFill>
            <a:srgbClr val="E9712F"/>
          </a:solidFill>
          <a:ln/>
        </p:spPr>
        <p:txBody>
          <a:bodyPr wrap="square" lIns="0" tIns="0" rIns="0" bIns="0" rtlCol="0" anchor="ctr"/>
          <a:lstStyle/>
          <a:p>
            <a:pPr marL="0" indent="0" algn="ctr">
              <a:buNone/>
            </a:pPr>
            <a:r>
              <a:rPr lang="en-US" sz="1200" b="1" dirty="0">
                <a:solidFill>
                  <a:srgbClr val="FFFFFF"/>
                </a:solidFill>
              </a:rPr>
              <a:t>2</a:t>
            </a:r>
            <a:endParaRPr lang="en-US" sz="1200" dirty="0"/>
          </a:p>
        </p:txBody>
      </p:sp>
      <p:sp>
        <p:nvSpPr>
          <p:cNvPr id="20" name="Shape 17"/>
          <p:cNvSpPr/>
          <p:nvPr/>
        </p:nvSpPr>
        <p:spPr>
          <a:xfrm>
            <a:off x="9445752" y="2423160"/>
            <a:ext cx="0" cy="301752"/>
          </a:xfrm>
          <a:prstGeom prst="line">
            <a:avLst/>
          </a:prstGeom>
          <a:noFill/>
          <a:ln w="15875">
            <a:solidFill>
              <a:srgbClr val="E9712F"/>
            </a:solidFill>
            <a:prstDash val="dash"/>
          </a:ln>
        </p:spPr>
      </p:sp>
      <p:sp>
        <p:nvSpPr>
          <p:cNvPr id="21" name="Text 18"/>
          <p:cNvSpPr txBox="1"/>
          <p:nvPr/>
        </p:nvSpPr>
        <p:spPr>
          <a:xfrm>
            <a:off x="9710928" y="2039112"/>
            <a:ext cx="2103120" cy="640080"/>
          </a:xfrm>
          <a:prstGeom prst="rect">
            <a:avLst/>
          </a:prstGeom>
          <a:noFill/>
          <a:ln/>
        </p:spPr>
        <p:txBody>
          <a:bodyPr wrap="square" lIns="0" tIns="0" rIns="0" bIns="0" rtlCol="0" anchor="t"/>
          <a:lstStyle/>
          <a:p>
            <a:pPr marL="0" indent="0">
              <a:buNone/>
            </a:pPr>
            <a:r>
              <a:rPr lang="en-US" sz="1250" b="1" dirty="0">
                <a:solidFill>
                  <a:srgbClr val="1B3A5C"/>
                </a:solidFill>
                <a:latin typeface="Calibri" pitchFamily="34" charset="0"/>
                <a:ea typeface="Calibri" pitchFamily="34" charset="-122"/>
                <a:cs typeface="Calibri" pitchFamily="34" charset="-120"/>
              </a:rPr>
              <a:t>Translate + save</a:t>
            </a:r>
            <a:endParaRPr lang="en-US" sz="1250" dirty="0"/>
          </a:p>
          <a:p>
            <a:pPr marL="0" indent="0">
              <a:buNone/>
            </a:pPr>
            <a:r>
              <a:rPr lang="en-US" sz="1050" dirty="0">
                <a:solidFill>
                  <a:srgbClr val="52606D"/>
                </a:solidFill>
                <a:latin typeface="Calibri" pitchFamily="34" charset="0"/>
                <a:ea typeface="Calibri" pitchFamily="34" charset="-122"/>
                <a:cs typeface="Calibri" pitchFamily="34" charset="-120"/>
              </a:rPr>
              <a:t>LOINC, units, de-duplicate</a:t>
            </a:r>
            <a:endParaRPr lang="en-US" sz="1250" dirty="0"/>
          </a:p>
        </p:txBody>
      </p:sp>
      <p:sp>
        <p:nvSpPr>
          <p:cNvPr id="22" name="Text 19"/>
          <p:cNvSpPr/>
          <p:nvPr/>
        </p:nvSpPr>
        <p:spPr>
          <a:xfrm>
            <a:off x="9281160" y="2743200"/>
            <a:ext cx="329184" cy="329184"/>
          </a:xfrm>
          <a:prstGeom prst="ellipse">
            <a:avLst/>
          </a:prstGeom>
          <a:solidFill>
            <a:srgbClr val="E9712F"/>
          </a:solidFill>
          <a:ln/>
        </p:spPr>
        <p:txBody>
          <a:bodyPr wrap="square" lIns="0" tIns="0" rIns="0" bIns="0" rtlCol="0" anchor="ctr"/>
          <a:lstStyle/>
          <a:p>
            <a:pPr marL="0" indent="0" algn="ctr">
              <a:buNone/>
            </a:pPr>
            <a:r>
              <a:rPr lang="en-US" sz="1200" b="1" dirty="0">
                <a:solidFill>
                  <a:srgbClr val="FFFFFF"/>
                </a:solidFill>
              </a:rPr>
              <a:t>3</a:t>
            </a:r>
            <a:endParaRPr lang="en-US" sz="1200" dirty="0"/>
          </a:p>
        </p:txBody>
      </p:sp>
      <p:sp>
        <p:nvSpPr>
          <p:cNvPr id="23" name="Shape 20"/>
          <p:cNvSpPr/>
          <p:nvPr/>
        </p:nvSpPr>
        <p:spPr>
          <a:xfrm>
            <a:off x="9445752" y="3090672"/>
            <a:ext cx="0" cy="301752"/>
          </a:xfrm>
          <a:prstGeom prst="line">
            <a:avLst/>
          </a:prstGeom>
          <a:noFill/>
          <a:ln w="15875">
            <a:solidFill>
              <a:srgbClr val="E9712F"/>
            </a:solidFill>
            <a:prstDash val="dash"/>
          </a:ln>
        </p:spPr>
      </p:sp>
      <p:sp>
        <p:nvSpPr>
          <p:cNvPr id="24" name="Text 21"/>
          <p:cNvSpPr txBox="1"/>
          <p:nvPr/>
        </p:nvSpPr>
        <p:spPr>
          <a:xfrm>
            <a:off x="9710928" y="2706624"/>
            <a:ext cx="2103120" cy="640080"/>
          </a:xfrm>
          <a:prstGeom prst="rect">
            <a:avLst/>
          </a:prstGeom>
          <a:noFill/>
          <a:ln/>
        </p:spPr>
        <p:txBody>
          <a:bodyPr wrap="square" lIns="0" tIns="0" rIns="0" bIns="0" rtlCol="0" anchor="t"/>
          <a:lstStyle/>
          <a:p>
            <a:pPr marL="0" indent="0">
              <a:buNone/>
            </a:pPr>
            <a:r>
              <a:rPr lang="en-US" sz="1250" b="1" dirty="0">
                <a:solidFill>
                  <a:srgbClr val="1B3A5C"/>
                </a:solidFill>
                <a:latin typeface="Calibri" pitchFamily="34" charset="0"/>
                <a:ea typeface="Calibri" pitchFamily="34" charset="-122"/>
                <a:cs typeface="Calibri" pitchFamily="34" charset="-120"/>
              </a:rPr>
              <a:t>Instant alerts</a:t>
            </a:r>
            <a:endParaRPr lang="en-US" sz="1250" dirty="0"/>
          </a:p>
          <a:p>
            <a:pPr marL="0" indent="0">
              <a:buNone/>
            </a:pPr>
            <a:r>
              <a:rPr lang="en-US" sz="1050" dirty="0">
                <a:solidFill>
                  <a:srgbClr val="52606D"/>
                </a:solidFill>
                <a:latin typeface="Calibri" pitchFamily="34" charset="0"/>
                <a:ea typeface="Calibri" pitchFamily="34" charset="-122"/>
                <a:cs typeface="Calibri" pitchFamily="34" charset="-120"/>
              </a:rPr>
              <a:t>hypo, spike, UACR, K⁺, BP</a:t>
            </a:r>
            <a:endParaRPr lang="en-US" sz="1250" dirty="0"/>
          </a:p>
        </p:txBody>
      </p:sp>
      <p:sp>
        <p:nvSpPr>
          <p:cNvPr id="25" name="Text 22"/>
          <p:cNvSpPr/>
          <p:nvPr/>
        </p:nvSpPr>
        <p:spPr>
          <a:xfrm>
            <a:off x="9281160" y="3410712"/>
            <a:ext cx="329184" cy="329184"/>
          </a:xfrm>
          <a:prstGeom prst="ellipse">
            <a:avLst/>
          </a:prstGeom>
          <a:solidFill>
            <a:srgbClr val="E9712F"/>
          </a:solidFill>
          <a:ln/>
        </p:spPr>
        <p:txBody>
          <a:bodyPr wrap="square" lIns="0" tIns="0" rIns="0" bIns="0" rtlCol="0" anchor="ctr"/>
          <a:lstStyle/>
          <a:p>
            <a:pPr marL="0" indent="0" algn="ctr">
              <a:buNone/>
            </a:pPr>
            <a:r>
              <a:rPr lang="en-US" sz="1200" b="1" dirty="0">
                <a:solidFill>
                  <a:srgbClr val="FFFFFF"/>
                </a:solidFill>
              </a:rPr>
              <a:t>4</a:t>
            </a:r>
            <a:endParaRPr lang="en-US" sz="1200" dirty="0"/>
          </a:p>
        </p:txBody>
      </p:sp>
      <p:sp>
        <p:nvSpPr>
          <p:cNvPr id="26" name="Shape 23"/>
          <p:cNvSpPr/>
          <p:nvPr/>
        </p:nvSpPr>
        <p:spPr>
          <a:xfrm>
            <a:off x="9445752" y="3758184"/>
            <a:ext cx="0" cy="301752"/>
          </a:xfrm>
          <a:prstGeom prst="line">
            <a:avLst/>
          </a:prstGeom>
          <a:noFill/>
          <a:ln w="15875">
            <a:solidFill>
              <a:srgbClr val="E9712F"/>
            </a:solidFill>
            <a:prstDash val="dash"/>
          </a:ln>
        </p:spPr>
      </p:sp>
      <p:sp>
        <p:nvSpPr>
          <p:cNvPr id="27" name="Text 24"/>
          <p:cNvSpPr txBox="1"/>
          <p:nvPr/>
        </p:nvSpPr>
        <p:spPr>
          <a:xfrm>
            <a:off x="9710928" y="3374136"/>
            <a:ext cx="2103120" cy="640080"/>
          </a:xfrm>
          <a:prstGeom prst="rect">
            <a:avLst/>
          </a:prstGeom>
          <a:noFill/>
          <a:ln/>
        </p:spPr>
        <p:txBody>
          <a:bodyPr wrap="square" lIns="0" tIns="0" rIns="0" bIns="0" rtlCol="0" anchor="t"/>
          <a:lstStyle/>
          <a:p>
            <a:pPr marL="0" indent="0">
              <a:buNone/>
            </a:pPr>
            <a:r>
              <a:rPr lang="en-US" sz="1250" b="1" dirty="0">
                <a:solidFill>
                  <a:srgbClr val="1B3A5C"/>
                </a:solidFill>
                <a:latin typeface="Calibri" pitchFamily="34" charset="0"/>
                <a:ea typeface="Calibri" pitchFamily="34" charset="-122"/>
                <a:cs typeface="Calibri" pitchFamily="34" charset="-120"/>
              </a:rPr>
              <a:t>CGM metrics</a:t>
            </a:r>
            <a:endParaRPr lang="en-US" sz="1250" dirty="0"/>
          </a:p>
          <a:p>
            <a:pPr marL="0" indent="0">
              <a:buNone/>
            </a:pPr>
            <a:r>
              <a:rPr lang="en-US" sz="1050" dirty="0">
                <a:solidFill>
                  <a:srgbClr val="52606D"/>
                </a:solidFill>
                <a:latin typeface="Calibri" pitchFamily="34" charset="0"/>
                <a:ea typeface="Calibri" pitchFamily="34" charset="-122"/>
                <a:cs typeface="Calibri" pitchFamily="34" charset="-120"/>
              </a:rPr>
              <a:t>TIR, TBR, TAR, GMI, CV</a:t>
            </a:r>
            <a:endParaRPr lang="en-US" sz="1250" dirty="0"/>
          </a:p>
        </p:txBody>
      </p:sp>
      <p:sp>
        <p:nvSpPr>
          <p:cNvPr id="28" name="Text 25"/>
          <p:cNvSpPr/>
          <p:nvPr/>
        </p:nvSpPr>
        <p:spPr>
          <a:xfrm>
            <a:off x="9281160" y="4078224"/>
            <a:ext cx="329184" cy="329184"/>
          </a:xfrm>
          <a:prstGeom prst="ellipse">
            <a:avLst/>
          </a:prstGeom>
          <a:solidFill>
            <a:srgbClr val="E9712F"/>
          </a:solidFill>
          <a:ln/>
        </p:spPr>
        <p:txBody>
          <a:bodyPr wrap="square" lIns="0" tIns="0" rIns="0" bIns="0" rtlCol="0" anchor="ctr"/>
          <a:lstStyle/>
          <a:p>
            <a:pPr marL="0" indent="0" algn="ctr">
              <a:buNone/>
            </a:pPr>
            <a:r>
              <a:rPr lang="en-US" sz="1200" b="1" dirty="0">
                <a:solidFill>
                  <a:srgbClr val="FFFFFF"/>
                </a:solidFill>
              </a:rPr>
              <a:t>5</a:t>
            </a:r>
            <a:endParaRPr lang="en-US" sz="1200" dirty="0"/>
          </a:p>
        </p:txBody>
      </p:sp>
      <p:sp>
        <p:nvSpPr>
          <p:cNvPr id="29" name="Shape 26"/>
          <p:cNvSpPr/>
          <p:nvPr/>
        </p:nvSpPr>
        <p:spPr>
          <a:xfrm>
            <a:off x="9445752" y="4425696"/>
            <a:ext cx="0" cy="301752"/>
          </a:xfrm>
          <a:prstGeom prst="line">
            <a:avLst/>
          </a:prstGeom>
          <a:noFill/>
          <a:ln w="15875">
            <a:solidFill>
              <a:srgbClr val="E9712F"/>
            </a:solidFill>
            <a:prstDash val="dash"/>
          </a:ln>
        </p:spPr>
      </p:sp>
      <p:sp>
        <p:nvSpPr>
          <p:cNvPr id="30" name="Text 27"/>
          <p:cNvSpPr txBox="1"/>
          <p:nvPr/>
        </p:nvSpPr>
        <p:spPr>
          <a:xfrm>
            <a:off x="9710928" y="4041648"/>
            <a:ext cx="2103120" cy="640080"/>
          </a:xfrm>
          <a:prstGeom prst="rect">
            <a:avLst/>
          </a:prstGeom>
          <a:noFill/>
          <a:ln/>
        </p:spPr>
        <p:txBody>
          <a:bodyPr wrap="square" lIns="0" tIns="0" rIns="0" bIns="0" rtlCol="0" anchor="t"/>
          <a:lstStyle/>
          <a:p>
            <a:pPr marL="0" indent="0">
              <a:buNone/>
            </a:pPr>
            <a:r>
              <a:rPr lang="en-US" sz="1250" b="1" dirty="0">
                <a:solidFill>
                  <a:srgbClr val="1B3A5C"/>
                </a:solidFill>
                <a:latin typeface="Calibri" pitchFamily="34" charset="0"/>
                <a:ea typeface="Calibri" pitchFamily="34" charset="-122"/>
                <a:cs typeface="Calibri" pitchFamily="34" charset="-120"/>
              </a:rPr>
              <a:t>Short-term forecast</a:t>
            </a:r>
            <a:endParaRPr lang="en-US" sz="1250" dirty="0"/>
          </a:p>
          <a:p>
            <a:pPr marL="0" indent="0">
              <a:buNone/>
            </a:pPr>
            <a:r>
              <a:rPr lang="en-US" sz="1050" dirty="0">
                <a:solidFill>
                  <a:srgbClr val="52606D"/>
                </a:solidFill>
                <a:latin typeface="Calibri" pitchFamily="34" charset="0"/>
                <a:ea typeface="Calibri" pitchFamily="34" charset="-122"/>
                <a:cs typeface="Calibri" pitchFamily="34" charset="-120"/>
              </a:rPr>
              <a:t>glucose +30 / +60 min</a:t>
            </a:r>
            <a:endParaRPr lang="en-US" sz="1250" dirty="0"/>
          </a:p>
        </p:txBody>
      </p:sp>
      <p:sp>
        <p:nvSpPr>
          <p:cNvPr id="31" name="Text 28"/>
          <p:cNvSpPr/>
          <p:nvPr/>
        </p:nvSpPr>
        <p:spPr>
          <a:xfrm>
            <a:off x="9281160" y="4745736"/>
            <a:ext cx="329184" cy="329184"/>
          </a:xfrm>
          <a:prstGeom prst="ellipse">
            <a:avLst/>
          </a:prstGeom>
          <a:solidFill>
            <a:srgbClr val="E9712F"/>
          </a:solidFill>
          <a:ln/>
        </p:spPr>
        <p:txBody>
          <a:bodyPr wrap="square" lIns="0" tIns="0" rIns="0" bIns="0" rtlCol="0" anchor="ctr"/>
          <a:lstStyle/>
          <a:p>
            <a:pPr marL="0" indent="0" algn="ctr">
              <a:buNone/>
            </a:pPr>
            <a:r>
              <a:rPr lang="en-US" sz="1200" b="1" dirty="0">
                <a:solidFill>
                  <a:srgbClr val="FFFFFF"/>
                </a:solidFill>
              </a:rPr>
              <a:t>6</a:t>
            </a:r>
            <a:endParaRPr lang="en-US" sz="1200" dirty="0"/>
          </a:p>
        </p:txBody>
      </p:sp>
      <p:sp>
        <p:nvSpPr>
          <p:cNvPr id="32" name="Shape 29"/>
          <p:cNvSpPr/>
          <p:nvPr/>
        </p:nvSpPr>
        <p:spPr>
          <a:xfrm>
            <a:off x="9445752" y="5093208"/>
            <a:ext cx="0" cy="301752"/>
          </a:xfrm>
          <a:prstGeom prst="line">
            <a:avLst/>
          </a:prstGeom>
          <a:noFill/>
          <a:ln w="15875">
            <a:solidFill>
              <a:srgbClr val="E9712F"/>
            </a:solidFill>
            <a:prstDash val="dash"/>
          </a:ln>
        </p:spPr>
      </p:sp>
      <p:sp>
        <p:nvSpPr>
          <p:cNvPr id="33" name="Text 30"/>
          <p:cNvSpPr txBox="1"/>
          <p:nvPr/>
        </p:nvSpPr>
        <p:spPr>
          <a:xfrm>
            <a:off x="9710928" y="4709160"/>
            <a:ext cx="2103120" cy="640080"/>
          </a:xfrm>
          <a:prstGeom prst="rect">
            <a:avLst/>
          </a:prstGeom>
          <a:noFill/>
          <a:ln/>
        </p:spPr>
        <p:txBody>
          <a:bodyPr wrap="square" lIns="0" tIns="0" rIns="0" bIns="0" rtlCol="0" anchor="t"/>
          <a:lstStyle/>
          <a:p>
            <a:pPr marL="0" indent="0">
              <a:buNone/>
            </a:pPr>
            <a:r>
              <a:rPr lang="en-US" sz="1250" b="1" dirty="0">
                <a:solidFill>
                  <a:srgbClr val="1B3A5C"/>
                </a:solidFill>
                <a:latin typeface="Calibri" pitchFamily="34" charset="0"/>
                <a:ea typeface="Calibri" pitchFamily="34" charset="-122"/>
                <a:cs typeface="Calibri" pitchFamily="34" charset="-120"/>
              </a:rPr>
              <a:t>DKD risk re-run</a:t>
            </a:r>
            <a:endParaRPr lang="en-US" sz="1250" dirty="0"/>
          </a:p>
          <a:p>
            <a:pPr marL="0" indent="0">
              <a:buNone/>
            </a:pPr>
            <a:r>
              <a:rPr lang="en-US" sz="1050" dirty="0">
                <a:solidFill>
                  <a:srgbClr val="52606D"/>
                </a:solidFill>
                <a:latin typeface="Calibri" pitchFamily="34" charset="0"/>
                <a:ea typeface="Calibri" pitchFamily="34" charset="-122"/>
                <a:cs typeface="Calibri" pitchFamily="34" charset="-120"/>
              </a:rPr>
              <a:t>new labs, medicine change, daily</a:t>
            </a:r>
            <a:endParaRPr lang="en-US" sz="1250" dirty="0"/>
          </a:p>
        </p:txBody>
      </p:sp>
      <p:sp>
        <p:nvSpPr>
          <p:cNvPr id="34" name="Text 31"/>
          <p:cNvSpPr/>
          <p:nvPr/>
        </p:nvSpPr>
        <p:spPr>
          <a:xfrm>
            <a:off x="9281160" y="5413248"/>
            <a:ext cx="329184" cy="329184"/>
          </a:xfrm>
          <a:prstGeom prst="ellipse">
            <a:avLst/>
          </a:prstGeom>
          <a:solidFill>
            <a:srgbClr val="1B3A5C"/>
          </a:solidFill>
          <a:ln/>
        </p:spPr>
        <p:txBody>
          <a:bodyPr wrap="square" lIns="0" tIns="0" rIns="0" bIns="0" rtlCol="0" anchor="ctr"/>
          <a:lstStyle/>
          <a:p>
            <a:pPr marL="0" indent="0" algn="ctr">
              <a:buNone/>
            </a:pPr>
            <a:r>
              <a:rPr lang="en-US" sz="1200" b="1" dirty="0">
                <a:solidFill>
                  <a:srgbClr val="FFFFFF"/>
                </a:solidFill>
              </a:rPr>
              <a:t>7</a:t>
            </a:r>
            <a:endParaRPr lang="en-US" sz="1200" dirty="0"/>
          </a:p>
        </p:txBody>
      </p:sp>
      <p:sp>
        <p:nvSpPr>
          <p:cNvPr id="35" name="Text 32"/>
          <p:cNvSpPr txBox="1"/>
          <p:nvPr/>
        </p:nvSpPr>
        <p:spPr>
          <a:xfrm>
            <a:off x="9710928" y="5376672"/>
            <a:ext cx="2103120" cy="640080"/>
          </a:xfrm>
          <a:prstGeom prst="rect">
            <a:avLst/>
          </a:prstGeom>
          <a:noFill/>
          <a:ln/>
        </p:spPr>
        <p:txBody>
          <a:bodyPr wrap="square" lIns="0" tIns="0" rIns="0" bIns="0" rtlCol="0" anchor="t"/>
          <a:lstStyle/>
          <a:p>
            <a:pPr marL="0" indent="0">
              <a:buNone/>
            </a:pPr>
            <a:r>
              <a:rPr lang="en-US" sz="1250" b="1" dirty="0">
                <a:solidFill>
                  <a:srgbClr val="1B3A5C"/>
                </a:solidFill>
                <a:latin typeface="Calibri" pitchFamily="34" charset="0"/>
                <a:ea typeface="Calibri" pitchFamily="34" charset="-122"/>
                <a:cs typeface="Calibri" pitchFamily="34" charset="-120"/>
              </a:rPr>
              <a:t>Progressive re-tune</a:t>
            </a:r>
            <a:endParaRPr lang="en-US" sz="1250" dirty="0"/>
          </a:p>
          <a:p>
            <a:pPr marL="0" indent="0">
              <a:buNone/>
            </a:pPr>
            <a:r>
              <a:rPr lang="en-US" sz="1050" dirty="0">
                <a:solidFill>
                  <a:srgbClr val="52606D"/>
                </a:solidFill>
                <a:latin typeface="Calibri" pitchFamily="34" charset="0"/>
                <a:ea typeface="Calibri" pitchFamily="34" charset="-122"/>
                <a:cs typeface="Calibri" pitchFamily="34" charset="-120"/>
              </a:rPr>
              <a:t>nightly refit on the patient's own data</a:t>
            </a:r>
            <a:endParaRPr lang="en-US" sz="12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itle tag"/>
          <p:cNvSpPr/>
          <p:nvPr/>
        </p:nvSpPr>
        <p:spPr>
          <a:xfrm>
            <a:off x="274320" y="109728"/>
            <a:ext cx="2077517" cy="603504"/>
          </a:xfrm>
          <a:prstGeom prst="rect">
            <a:avLst/>
          </a:prstGeom>
          <a:solidFill>
            <a:srgbClr val="FFFFFF"/>
          </a:solidFill>
          <a:ln w="22225">
            <a:solidFill>
              <a:srgbClr val="2F6DB5"/>
            </a:solidFill>
            <a:prstDash val="solid"/>
          </a:ln>
        </p:spPr>
      </p:sp>
      <p:sp>
        <p:nvSpPr>
          <p:cNvPr id="3" name="Text 10"/>
          <p:cNvSpPr>
            <a:spLocks noGrp="1"/>
          </p:cNvSpPr>
          <p:nvPr>
            <p:ph type="title" idx="111" hasCustomPrompt="1"/>
          </p:nvPr>
        </p:nvSpPr>
        <p:spPr>
          <a:xfrm>
            <a:off x="384048" y="128016"/>
            <a:ext cx="8686800" cy="566928"/>
          </a:xfrm>
          <a:prstGeom prst="rect">
            <a:avLst/>
          </a:prstGeom>
          <a:noFill/>
          <a:ln/>
        </p:spPr>
        <p:txBody>
          <a:bodyPr wrap="square" lIns="0" tIns="0" rIns="0" bIns="0" rtlCol="0" anchor="ctr"/>
          <a:lstStyle/>
          <a:p>
            <a:pPr marL="0" indent="0" algn="l">
              <a:buNone/>
            </a:pPr>
            <a:r>
              <a:rPr lang="en-US" sz="2600" b="1" dirty="0">
                <a:solidFill>
                  <a:srgbClr val="E9712F"/>
                </a:solidFill>
              </a:rPr>
              <a:t>Methodology</a:t>
            </a:r>
            <a:endParaRPr lang="en-US" sz="2600" dirty="0"/>
          </a:p>
        </p:txBody>
      </p:sp>
      <p:sp>
        <p:nvSpPr>
          <p:cNvPr id="4" name="Step 1"/>
          <p:cNvSpPr/>
          <p:nvPr/>
        </p:nvSpPr>
        <p:spPr>
          <a:xfrm>
            <a:off x="822960" y="868680"/>
            <a:ext cx="3474720" cy="1664208"/>
          </a:xfrm>
          <a:prstGeom prst="roundRect">
            <a:avLst>
              <a:gd name="adj" fmla="val 5495"/>
            </a:avLst>
          </a:prstGeom>
          <a:solidFill>
            <a:srgbClr val="FDEBDF"/>
          </a:solidFill>
          <a:ln w="15875">
            <a:solidFill>
              <a:srgbClr val="F2A679"/>
            </a:solidFill>
            <a:prstDash val="dash"/>
          </a:ln>
        </p:spPr>
      </p:sp>
      <p:sp>
        <p:nvSpPr>
          <p:cNvPr id="5" name="Text 3"/>
          <p:cNvSpPr/>
          <p:nvPr/>
        </p:nvSpPr>
        <p:spPr>
          <a:xfrm>
            <a:off x="950976" y="987552"/>
            <a:ext cx="310896" cy="310896"/>
          </a:xfrm>
          <a:prstGeom prst="ellipse">
            <a:avLst/>
          </a:prstGeom>
          <a:solidFill>
            <a:srgbClr val="E9712F"/>
          </a:solidFill>
          <a:ln/>
        </p:spPr>
        <p:txBody>
          <a:bodyPr wrap="square" lIns="0" tIns="0" rIns="0" bIns="0" rtlCol="0" anchor="ctr"/>
          <a:lstStyle/>
          <a:p>
            <a:pPr marL="0" indent="0" algn="ctr">
              <a:buNone/>
            </a:pPr>
            <a:r>
              <a:rPr lang="en-US" sz="1200" b="1" dirty="0">
                <a:solidFill>
                  <a:srgbClr val="FFFFFF"/>
                </a:solidFill>
              </a:rPr>
              <a:t>1</a:t>
            </a:r>
            <a:endParaRPr lang="en-US" sz="1200" dirty="0"/>
          </a:p>
        </p:txBody>
      </p:sp>
      <p:sp>
        <p:nvSpPr>
          <p:cNvPr id="6" name="Text 4"/>
          <p:cNvSpPr txBox="1"/>
          <p:nvPr/>
        </p:nvSpPr>
        <p:spPr>
          <a:xfrm>
            <a:off x="1335024" y="960120"/>
            <a:ext cx="2468880" cy="365760"/>
          </a:xfrm>
          <a:prstGeom prst="rect">
            <a:avLst/>
          </a:prstGeom>
          <a:noFill/>
          <a:ln/>
        </p:spPr>
        <p:txBody>
          <a:bodyPr wrap="square" lIns="0" tIns="0" rIns="0" bIns="0" rtlCol="0" anchor="ctr"/>
          <a:lstStyle/>
          <a:p>
            <a:pPr marL="0" indent="0">
              <a:buNone/>
            </a:pPr>
            <a:r>
              <a:rPr lang="en-US" sz="1350" b="1" dirty="0">
                <a:solidFill>
                  <a:srgbClr val="1B3A5C"/>
                </a:solidFill>
                <a:latin typeface="Calibri" pitchFamily="34" charset="0"/>
                <a:ea typeface="Calibri" pitchFamily="34" charset="-122"/>
                <a:cs typeface="Calibri" pitchFamily="34" charset="-120"/>
              </a:rPr>
              <a:t>Data in</a:t>
            </a:r>
            <a:endParaRPr lang="en-US" sz="1350" dirty="0"/>
          </a:p>
        </p:txBody>
      </p:sp>
      <p:pic>
        <p:nvPicPr>
          <p:cNvPr id="7" name="Image 0" descr="preencoded.png"/>
          <p:cNvPicPr>
            <a:picLocks noChangeAspect="1"/>
          </p:cNvPicPr>
          <p:nvPr/>
        </p:nvPicPr>
        <p:blipFill>
          <a:blip r:embed="rId3"/>
          <a:stretch>
            <a:fillRect/>
          </a:stretch>
        </p:blipFill>
        <p:spPr>
          <a:xfrm>
            <a:off x="3840480" y="978408"/>
            <a:ext cx="329184" cy="329184"/>
          </a:xfrm>
          <a:prstGeom prst="rect">
            <a:avLst/>
          </a:prstGeom>
        </p:spPr>
      </p:pic>
      <p:sp>
        <p:nvSpPr>
          <p:cNvPr id="8" name="Text 5"/>
          <p:cNvSpPr txBox="1"/>
          <p:nvPr/>
        </p:nvSpPr>
        <p:spPr>
          <a:xfrm>
            <a:off x="960120" y="1371600"/>
            <a:ext cx="3246120" cy="1097280"/>
          </a:xfrm>
          <a:prstGeom prst="rect">
            <a:avLst/>
          </a:prstGeom>
          <a:noFill/>
          <a:ln/>
        </p:spPr>
        <p:txBody>
          <a:bodyPr wrap="square" lIns="0" tIns="0" rIns="0" bIns="0" rtlCol="0" anchor="t"/>
          <a:lstStyle/>
          <a:p>
            <a:pPr marL="152400" indent="-152400">
              <a:spcAft>
                <a:spcPts val="300"/>
              </a:spcAft>
              <a:buSzPct val="100000"/>
              <a:buChar char="•"/>
            </a:pPr>
            <a:r>
              <a:rPr lang="en-US" sz="1150" dirty="0">
                <a:solidFill>
                  <a:srgbClr val="1F2A37"/>
                </a:solidFill>
                <a:latin typeface="Calibri" pitchFamily="34" charset="0"/>
                <a:ea typeface="Calibri" pitchFamily="34" charset="-122"/>
                <a:cs typeface="Calibri" pitchFamily="34" charset="-120"/>
              </a:rPr>
              <a:t>FHIR R4 import / export (Synthea, public HAPI)</a:t>
            </a:r>
            <a:endParaRPr lang="en-US" sz="1150" dirty="0"/>
          </a:p>
          <a:p>
            <a:pPr marL="152400" indent="-152400">
              <a:spcAft>
                <a:spcPts val="300"/>
              </a:spcAft>
              <a:buSzPct val="100000"/>
              <a:buChar char="•"/>
            </a:pPr>
            <a:r>
              <a:rPr lang="en-US" sz="1150" dirty="0">
                <a:solidFill>
                  <a:srgbClr val="1F2A37"/>
                </a:solidFill>
                <a:latin typeface="Calibri" pitchFamily="34" charset="0"/>
                <a:ea typeface="Calibri" pitchFamily="34" charset="-122"/>
                <a:cs typeface="Calibri" pitchFamily="34" charset="-120"/>
              </a:rPr>
              <a:t>Lab CSV and manual entry</a:t>
            </a:r>
            <a:endParaRPr lang="en-US" sz="1150" dirty="0"/>
          </a:p>
          <a:p>
            <a:pPr marL="152400" indent="-152400">
              <a:spcAft>
                <a:spcPts val="300"/>
              </a:spcAft>
              <a:buSzPct val="100000"/>
              <a:buChar char="•"/>
            </a:pPr>
            <a:r>
              <a:rPr lang="en-US" sz="1150" dirty="0">
                <a:solidFill>
                  <a:srgbClr val="1F2A37"/>
                </a:solidFill>
                <a:latin typeface="Calibri" pitchFamily="34" charset="0"/>
                <a:ea typeface="Calibri" pitchFamily="34" charset="-122"/>
                <a:cs typeface="Calibri" pitchFamily="34" charset="-120"/>
              </a:rPr>
              <a:t>Live CGM simulator, Libre CSV, Dexcom (soon)</a:t>
            </a:r>
            <a:endParaRPr lang="en-US" sz="1150" dirty="0"/>
          </a:p>
          <a:p>
            <a:pPr marL="152400" indent="-152400">
              <a:spcAft>
                <a:spcPts val="300"/>
              </a:spcAft>
              <a:buSzPct val="100000"/>
              <a:buChar char="•"/>
            </a:pPr>
            <a:r>
              <a:rPr lang="en-US" sz="1150" dirty="0">
                <a:solidFill>
                  <a:srgbClr val="1F2A37"/>
                </a:solidFill>
                <a:latin typeface="Calibri" pitchFamily="34" charset="0"/>
                <a:ea typeface="Calibri" pitchFamily="34" charset="-122"/>
                <a:cs typeface="Calibri" pitchFamily="34" charset="-120"/>
              </a:rPr>
              <a:t>Patient app: meals, doses, BP, weight, sleep</a:t>
            </a:r>
            <a:endParaRPr lang="en-US" sz="1150" dirty="0"/>
          </a:p>
        </p:txBody>
      </p:sp>
      <p:sp>
        <p:nvSpPr>
          <p:cNvPr id="9" name="Shape 6"/>
          <p:cNvSpPr/>
          <p:nvPr/>
        </p:nvSpPr>
        <p:spPr>
          <a:xfrm>
            <a:off x="4334256" y="1600200"/>
            <a:ext cx="201168" cy="201168"/>
          </a:xfrm>
          <a:prstGeom prst="rightArrow">
            <a:avLst/>
          </a:prstGeom>
          <a:solidFill>
            <a:srgbClr val="2F6DB5"/>
          </a:solidFill>
          <a:ln w="12700">
            <a:solidFill>
              <a:srgbClr val="2F6DB5"/>
            </a:solidFill>
            <a:prstDash val="solid"/>
          </a:ln>
        </p:spPr>
      </p:sp>
      <p:sp>
        <p:nvSpPr>
          <p:cNvPr id="10" name="Step 2"/>
          <p:cNvSpPr/>
          <p:nvPr/>
        </p:nvSpPr>
        <p:spPr>
          <a:xfrm>
            <a:off x="4572000" y="868680"/>
            <a:ext cx="3474720" cy="1664208"/>
          </a:xfrm>
          <a:prstGeom prst="roundRect">
            <a:avLst>
              <a:gd name="adj" fmla="val 5495"/>
            </a:avLst>
          </a:prstGeom>
          <a:solidFill>
            <a:srgbClr val="FDEBDF"/>
          </a:solidFill>
          <a:ln w="15875">
            <a:solidFill>
              <a:srgbClr val="F2A679"/>
            </a:solidFill>
            <a:prstDash val="dash"/>
          </a:ln>
        </p:spPr>
      </p:sp>
      <p:sp>
        <p:nvSpPr>
          <p:cNvPr id="11" name="Text 8"/>
          <p:cNvSpPr/>
          <p:nvPr/>
        </p:nvSpPr>
        <p:spPr>
          <a:xfrm>
            <a:off x="4700016" y="987552"/>
            <a:ext cx="310896" cy="310896"/>
          </a:xfrm>
          <a:prstGeom prst="ellipse">
            <a:avLst/>
          </a:prstGeom>
          <a:solidFill>
            <a:srgbClr val="E9712F"/>
          </a:solidFill>
          <a:ln/>
        </p:spPr>
        <p:txBody>
          <a:bodyPr wrap="square" lIns="0" tIns="0" rIns="0" bIns="0" rtlCol="0" anchor="ctr"/>
          <a:lstStyle/>
          <a:p>
            <a:pPr marL="0" indent="0" algn="ctr">
              <a:buNone/>
            </a:pPr>
            <a:r>
              <a:rPr lang="en-US" sz="1200" b="1" dirty="0">
                <a:solidFill>
                  <a:srgbClr val="FFFFFF"/>
                </a:solidFill>
              </a:rPr>
              <a:t>2</a:t>
            </a:r>
            <a:endParaRPr lang="en-US" sz="1200" dirty="0"/>
          </a:p>
        </p:txBody>
      </p:sp>
      <p:sp>
        <p:nvSpPr>
          <p:cNvPr id="12" name="Text 9"/>
          <p:cNvSpPr txBox="1"/>
          <p:nvPr/>
        </p:nvSpPr>
        <p:spPr>
          <a:xfrm>
            <a:off x="5084064" y="960120"/>
            <a:ext cx="2468880" cy="365760"/>
          </a:xfrm>
          <a:prstGeom prst="rect">
            <a:avLst/>
          </a:prstGeom>
          <a:noFill/>
          <a:ln/>
        </p:spPr>
        <p:txBody>
          <a:bodyPr wrap="square" lIns="0" tIns="0" rIns="0" bIns="0" rtlCol="0" anchor="ctr"/>
          <a:lstStyle/>
          <a:p>
            <a:pPr marL="0" indent="0">
              <a:buNone/>
            </a:pPr>
            <a:r>
              <a:rPr lang="en-US" sz="1350" b="1" dirty="0">
                <a:solidFill>
                  <a:srgbClr val="1B3A5C"/>
                </a:solidFill>
                <a:latin typeface="Calibri" pitchFamily="34" charset="0"/>
                <a:ea typeface="Calibri" pitchFamily="34" charset="-122"/>
                <a:cs typeface="Calibri" pitchFamily="34" charset="-120"/>
              </a:rPr>
              <a:t>Translator</a:t>
            </a:r>
            <a:endParaRPr lang="en-US" sz="1350" dirty="0"/>
          </a:p>
        </p:txBody>
      </p:sp>
      <p:pic>
        <p:nvPicPr>
          <p:cNvPr id="13" name="Image 1" descr="preencoded.png"/>
          <p:cNvPicPr>
            <a:picLocks noChangeAspect="1"/>
          </p:cNvPicPr>
          <p:nvPr/>
        </p:nvPicPr>
        <p:blipFill>
          <a:blip r:embed="rId4"/>
          <a:stretch>
            <a:fillRect/>
          </a:stretch>
        </p:blipFill>
        <p:spPr>
          <a:xfrm>
            <a:off x="7589520" y="978408"/>
            <a:ext cx="329184" cy="329184"/>
          </a:xfrm>
          <a:prstGeom prst="rect">
            <a:avLst/>
          </a:prstGeom>
        </p:spPr>
      </p:pic>
      <p:sp>
        <p:nvSpPr>
          <p:cNvPr id="14" name="Text 10"/>
          <p:cNvSpPr txBox="1"/>
          <p:nvPr/>
        </p:nvSpPr>
        <p:spPr>
          <a:xfrm>
            <a:off x="4709160" y="1371600"/>
            <a:ext cx="3246120" cy="1097280"/>
          </a:xfrm>
          <a:prstGeom prst="rect">
            <a:avLst/>
          </a:prstGeom>
          <a:noFill/>
          <a:ln/>
        </p:spPr>
        <p:txBody>
          <a:bodyPr wrap="square" lIns="0" tIns="0" rIns="0" bIns="0" rtlCol="0" anchor="t"/>
          <a:lstStyle/>
          <a:p>
            <a:pPr marL="152400" indent="-152400">
              <a:spcAft>
                <a:spcPts val="300"/>
              </a:spcAft>
              <a:buSzPct val="100000"/>
              <a:buChar char="•"/>
            </a:pPr>
            <a:r>
              <a:rPr lang="en-US" sz="1150" dirty="0">
                <a:solidFill>
                  <a:srgbClr val="1F2A37"/>
                </a:solidFill>
                <a:latin typeface="Calibri" pitchFamily="34" charset="0"/>
                <a:ea typeface="Calibri" pitchFamily="34" charset="-122"/>
                <a:cs typeface="Calibri" pitchFamily="34" charset="-120"/>
              </a:rPr>
              <a:t>LOINC map + aliases</a:t>
            </a:r>
            <a:endParaRPr lang="en-US" sz="1150" dirty="0"/>
          </a:p>
          <a:p>
            <a:pPr marL="152400" indent="-152400">
              <a:spcAft>
                <a:spcPts val="300"/>
              </a:spcAft>
              <a:buSzPct val="100000"/>
              <a:buChar char="•"/>
            </a:pPr>
            <a:r>
              <a:rPr lang="en-US" sz="1150" dirty="0">
                <a:solidFill>
                  <a:srgbClr val="1F2A37"/>
                </a:solidFill>
                <a:latin typeface="Calibri" pitchFamily="34" charset="0"/>
                <a:ea typeface="Calibri" pitchFamily="34" charset="-122"/>
                <a:cs typeface="Calibri" pitchFamily="34" charset="-120"/>
              </a:rPr>
              <a:t>Unit conversion</a:t>
            </a:r>
            <a:endParaRPr lang="en-US" sz="1150" dirty="0"/>
          </a:p>
          <a:p>
            <a:pPr marL="152400" indent="-152400">
              <a:spcAft>
                <a:spcPts val="300"/>
              </a:spcAft>
              <a:buSzPct val="100000"/>
              <a:buChar char="•"/>
            </a:pPr>
            <a:r>
              <a:rPr lang="en-US" sz="1150" dirty="0">
                <a:solidFill>
                  <a:srgbClr val="1F2A37"/>
                </a:solidFill>
                <a:latin typeface="Calibri" pitchFamily="34" charset="0"/>
                <a:ea typeface="Calibri" pitchFamily="34" charset="-122"/>
                <a:cs typeface="Calibri" pitchFamily="34" charset="-120"/>
              </a:rPr>
              <a:t>De-duplication</a:t>
            </a:r>
            <a:endParaRPr lang="en-US" sz="1150" dirty="0"/>
          </a:p>
          <a:p>
            <a:pPr marL="152400" indent="-152400">
              <a:spcAft>
                <a:spcPts val="300"/>
              </a:spcAft>
              <a:buSzPct val="100000"/>
              <a:buChar char="•"/>
            </a:pPr>
            <a:r>
              <a:rPr lang="en-US" sz="1150" dirty="0">
                <a:solidFill>
                  <a:srgbClr val="1F2A37"/>
                </a:solidFill>
                <a:latin typeface="Calibri" pitchFamily="34" charset="0"/>
                <a:ea typeface="Calibri" pitchFamily="34" charset="-122"/>
                <a:cs typeface="Calibri" pitchFamily="34" charset="-120"/>
              </a:rPr>
              <a:t>Saves Observation, Medication, Meal, Alert, Prediction</a:t>
            </a:r>
            <a:endParaRPr lang="en-US" sz="1150" dirty="0"/>
          </a:p>
        </p:txBody>
      </p:sp>
      <p:sp>
        <p:nvSpPr>
          <p:cNvPr id="15" name="Shape 11"/>
          <p:cNvSpPr/>
          <p:nvPr/>
        </p:nvSpPr>
        <p:spPr>
          <a:xfrm>
            <a:off x="8083296" y="1600200"/>
            <a:ext cx="201168" cy="201168"/>
          </a:xfrm>
          <a:prstGeom prst="rightArrow">
            <a:avLst/>
          </a:prstGeom>
          <a:solidFill>
            <a:srgbClr val="2F6DB5"/>
          </a:solidFill>
          <a:ln w="12700">
            <a:solidFill>
              <a:srgbClr val="2F6DB5"/>
            </a:solidFill>
            <a:prstDash val="solid"/>
          </a:ln>
        </p:spPr>
      </p:sp>
      <p:sp>
        <p:nvSpPr>
          <p:cNvPr id="16" name="Step 3"/>
          <p:cNvSpPr/>
          <p:nvPr/>
        </p:nvSpPr>
        <p:spPr>
          <a:xfrm>
            <a:off x="8321040" y="868680"/>
            <a:ext cx="3474720" cy="1664208"/>
          </a:xfrm>
          <a:prstGeom prst="roundRect">
            <a:avLst>
              <a:gd name="adj" fmla="val 5495"/>
            </a:avLst>
          </a:prstGeom>
          <a:solidFill>
            <a:srgbClr val="FDEBDF"/>
          </a:solidFill>
          <a:ln w="15875">
            <a:solidFill>
              <a:srgbClr val="F2A679"/>
            </a:solidFill>
            <a:prstDash val="dash"/>
          </a:ln>
        </p:spPr>
      </p:sp>
      <p:sp>
        <p:nvSpPr>
          <p:cNvPr id="17" name="Text 13"/>
          <p:cNvSpPr/>
          <p:nvPr/>
        </p:nvSpPr>
        <p:spPr>
          <a:xfrm>
            <a:off x="8449056" y="987552"/>
            <a:ext cx="310896" cy="310896"/>
          </a:xfrm>
          <a:prstGeom prst="ellipse">
            <a:avLst/>
          </a:prstGeom>
          <a:solidFill>
            <a:srgbClr val="E9712F"/>
          </a:solidFill>
          <a:ln/>
        </p:spPr>
        <p:txBody>
          <a:bodyPr wrap="square" lIns="0" tIns="0" rIns="0" bIns="0" rtlCol="0" anchor="ctr"/>
          <a:lstStyle/>
          <a:p>
            <a:pPr marL="0" indent="0" algn="ctr">
              <a:buNone/>
            </a:pPr>
            <a:r>
              <a:rPr lang="en-US" sz="1200" b="1" dirty="0">
                <a:solidFill>
                  <a:srgbClr val="FFFFFF"/>
                </a:solidFill>
              </a:rPr>
              <a:t>3</a:t>
            </a:r>
            <a:endParaRPr lang="en-US" sz="1200" dirty="0"/>
          </a:p>
        </p:txBody>
      </p:sp>
      <p:sp>
        <p:nvSpPr>
          <p:cNvPr id="18" name="Text 14"/>
          <p:cNvSpPr txBox="1"/>
          <p:nvPr/>
        </p:nvSpPr>
        <p:spPr>
          <a:xfrm>
            <a:off x="8833104" y="960120"/>
            <a:ext cx="2468880" cy="365760"/>
          </a:xfrm>
          <a:prstGeom prst="rect">
            <a:avLst/>
          </a:prstGeom>
          <a:noFill/>
          <a:ln/>
        </p:spPr>
        <p:txBody>
          <a:bodyPr wrap="square" lIns="0" tIns="0" rIns="0" bIns="0" rtlCol="0" anchor="ctr"/>
          <a:lstStyle/>
          <a:p>
            <a:pPr marL="0" indent="0">
              <a:buNone/>
            </a:pPr>
            <a:r>
              <a:rPr lang="en-US" sz="1350" b="1" dirty="0">
                <a:solidFill>
                  <a:srgbClr val="1B3A5C"/>
                </a:solidFill>
                <a:latin typeface="Calibri" pitchFamily="34" charset="0"/>
                <a:ea typeface="Calibri" pitchFamily="34" charset="-122"/>
                <a:cs typeface="Calibri" pitchFamily="34" charset="-120"/>
              </a:rPr>
              <a:t>Twin state</a:t>
            </a:r>
            <a:endParaRPr lang="en-US" sz="1350" dirty="0"/>
          </a:p>
        </p:txBody>
      </p:sp>
      <p:pic>
        <p:nvPicPr>
          <p:cNvPr id="19" name="Image 2" descr="preencoded.png"/>
          <p:cNvPicPr>
            <a:picLocks noChangeAspect="1"/>
          </p:cNvPicPr>
          <p:nvPr/>
        </p:nvPicPr>
        <p:blipFill>
          <a:blip r:embed="rId5"/>
          <a:stretch>
            <a:fillRect/>
          </a:stretch>
        </p:blipFill>
        <p:spPr>
          <a:xfrm>
            <a:off x="11338560" y="978408"/>
            <a:ext cx="329184" cy="329184"/>
          </a:xfrm>
          <a:prstGeom prst="rect">
            <a:avLst/>
          </a:prstGeom>
        </p:spPr>
      </p:pic>
      <p:sp>
        <p:nvSpPr>
          <p:cNvPr id="20" name="Text 15"/>
          <p:cNvSpPr txBox="1"/>
          <p:nvPr/>
        </p:nvSpPr>
        <p:spPr>
          <a:xfrm>
            <a:off x="8458200" y="1371600"/>
            <a:ext cx="3246120" cy="1097280"/>
          </a:xfrm>
          <a:prstGeom prst="rect">
            <a:avLst/>
          </a:prstGeom>
          <a:noFill/>
          <a:ln/>
        </p:spPr>
        <p:txBody>
          <a:bodyPr wrap="square" lIns="0" tIns="0" rIns="0" bIns="0" rtlCol="0" anchor="t"/>
          <a:lstStyle/>
          <a:p>
            <a:pPr marL="152400" indent="-152400">
              <a:spcAft>
                <a:spcPts val="300"/>
              </a:spcAft>
              <a:buSzPct val="100000"/>
              <a:buChar char="•"/>
            </a:pPr>
            <a:r>
              <a:rPr lang="en-US" sz="1150" dirty="0">
                <a:solidFill>
                  <a:srgbClr val="1F2A37"/>
                </a:solidFill>
                <a:latin typeface="Calibri" pitchFamily="34" charset="0"/>
                <a:ea typeface="Calibri" pitchFamily="34" charset="-122"/>
                <a:cs typeface="Calibri" pitchFamily="34" charset="-120"/>
              </a:rPr>
              <a:t>eGFR: race-free CKD-EPI 2021</a:t>
            </a:r>
            <a:endParaRPr lang="en-US" sz="1150" dirty="0"/>
          </a:p>
          <a:p>
            <a:pPr marL="152400" indent="-152400">
              <a:spcAft>
                <a:spcPts val="300"/>
              </a:spcAft>
              <a:buSzPct val="100000"/>
              <a:buChar char="•"/>
            </a:pPr>
            <a:r>
              <a:rPr lang="en-US" sz="1150" dirty="0">
                <a:solidFill>
                  <a:srgbClr val="1F2A37"/>
                </a:solidFill>
                <a:latin typeface="Calibri" pitchFamily="34" charset="0"/>
                <a:ea typeface="Calibri" pitchFamily="34" charset="-122"/>
                <a:cs typeface="Calibri" pitchFamily="34" charset="-120"/>
              </a:rPr>
              <a:t>KDIGO G/A stage, heat-map, eGFR slope</a:t>
            </a:r>
            <a:endParaRPr lang="en-US" sz="1150" dirty="0"/>
          </a:p>
          <a:p>
            <a:pPr marL="152400" indent="-152400">
              <a:spcAft>
                <a:spcPts val="300"/>
              </a:spcAft>
              <a:buSzPct val="100000"/>
              <a:buChar char="•"/>
            </a:pPr>
            <a:r>
              <a:rPr lang="en-US" sz="1150" dirty="0">
                <a:solidFill>
                  <a:srgbClr val="1F2A37"/>
                </a:solidFill>
                <a:latin typeface="Calibri" pitchFamily="34" charset="0"/>
                <a:ea typeface="Calibri" pitchFamily="34" charset="-122"/>
                <a:cs typeface="Calibri" pitchFamily="34" charset="-120"/>
              </a:rPr>
              <a:t>14-day CGM: TIR, TBR, TAR, GMI, CV</a:t>
            </a:r>
            <a:endParaRPr lang="en-US" sz="1150" dirty="0"/>
          </a:p>
          <a:p>
            <a:pPr marL="152400" indent="-152400">
              <a:spcAft>
                <a:spcPts val="300"/>
              </a:spcAft>
              <a:buSzPct val="100000"/>
              <a:buChar char="•"/>
            </a:pPr>
            <a:r>
              <a:rPr lang="en-US" sz="1150" dirty="0">
                <a:solidFill>
                  <a:srgbClr val="1F2A37"/>
                </a:solidFill>
                <a:latin typeface="Calibri" pitchFamily="34" charset="0"/>
                <a:ea typeface="Calibri" pitchFamily="34" charset="-122"/>
                <a:cs typeface="Calibri" pitchFamily="34" charset="-120"/>
              </a:rPr>
              <a:t>BP target by albuminuria; 7/30-day adherence</a:t>
            </a:r>
            <a:endParaRPr lang="en-US" sz="1150" dirty="0"/>
          </a:p>
        </p:txBody>
      </p:sp>
      <p:sp>
        <p:nvSpPr>
          <p:cNvPr id="21" name="Step 4"/>
          <p:cNvSpPr/>
          <p:nvPr/>
        </p:nvSpPr>
        <p:spPr>
          <a:xfrm>
            <a:off x="822960" y="2697480"/>
            <a:ext cx="3474720" cy="1664208"/>
          </a:xfrm>
          <a:prstGeom prst="roundRect">
            <a:avLst>
              <a:gd name="adj" fmla="val 5495"/>
            </a:avLst>
          </a:prstGeom>
          <a:solidFill>
            <a:srgbClr val="EEF5FC"/>
          </a:solidFill>
          <a:ln w="15875">
            <a:solidFill>
              <a:srgbClr val="8DBBE6"/>
            </a:solidFill>
            <a:prstDash val="dash"/>
          </a:ln>
        </p:spPr>
      </p:sp>
      <p:sp>
        <p:nvSpPr>
          <p:cNvPr id="22" name="Text 17"/>
          <p:cNvSpPr/>
          <p:nvPr/>
        </p:nvSpPr>
        <p:spPr>
          <a:xfrm>
            <a:off x="950976" y="2816352"/>
            <a:ext cx="310896" cy="310896"/>
          </a:xfrm>
          <a:prstGeom prst="ellipse">
            <a:avLst/>
          </a:prstGeom>
          <a:solidFill>
            <a:srgbClr val="2F6DB5"/>
          </a:solidFill>
          <a:ln/>
        </p:spPr>
        <p:txBody>
          <a:bodyPr wrap="square" lIns="0" tIns="0" rIns="0" bIns="0" rtlCol="0" anchor="ctr"/>
          <a:lstStyle/>
          <a:p>
            <a:pPr marL="0" indent="0" algn="ctr">
              <a:buNone/>
            </a:pPr>
            <a:r>
              <a:rPr lang="en-US" sz="1200" b="1" dirty="0">
                <a:solidFill>
                  <a:srgbClr val="FFFFFF"/>
                </a:solidFill>
              </a:rPr>
              <a:t>4</a:t>
            </a:r>
            <a:endParaRPr lang="en-US" sz="1200" dirty="0"/>
          </a:p>
        </p:txBody>
      </p:sp>
      <p:sp>
        <p:nvSpPr>
          <p:cNvPr id="23" name="Text 18"/>
          <p:cNvSpPr txBox="1"/>
          <p:nvPr/>
        </p:nvSpPr>
        <p:spPr>
          <a:xfrm>
            <a:off x="1335024" y="2788920"/>
            <a:ext cx="2468880" cy="365760"/>
          </a:xfrm>
          <a:prstGeom prst="rect">
            <a:avLst/>
          </a:prstGeom>
          <a:noFill/>
          <a:ln/>
        </p:spPr>
        <p:txBody>
          <a:bodyPr wrap="square" lIns="0" tIns="0" rIns="0" bIns="0" rtlCol="0" anchor="ctr"/>
          <a:lstStyle/>
          <a:p>
            <a:pPr marL="0" indent="0">
              <a:buNone/>
            </a:pPr>
            <a:r>
              <a:rPr lang="en-US" sz="1350" b="1" dirty="0">
                <a:solidFill>
                  <a:srgbClr val="1B3A5C"/>
                </a:solidFill>
                <a:latin typeface="Calibri" pitchFamily="34" charset="0"/>
                <a:ea typeface="Calibri" pitchFamily="34" charset="-122"/>
                <a:cs typeface="Calibri" pitchFamily="34" charset="-120"/>
              </a:rPr>
              <a:t>Track A: T2DM predictor</a:t>
            </a:r>
            <a:endParaRPr lang="en-US" sz="1350" dirty="0"/>
          </a:p>
        </p:txBody>
      </p:sp>
      <p:pic>
        <p:nvPicPr>
          <p:cNvPr id="24" name="Image 3" descr="preencoded.png"/>
          <p:cNvPicPr>
            <a:picLocks noChangeAspect="1"/>
          </p:cNvPicPr>
          <p:nvPr/>
        </p:nvPicPr>
        <p:blipFill>
          <a:blip r:embed="rId6"/>
          <a:stretch>
            <a:fillRect/>
          </a:stretch>
        </p:blipFill>
        <p:spPr>
          <a:xfrm>
            <a:off x="3840480" y="2807208"/>
            <a:ext cx="329184" cy="329184"/>
          </a:xfrm>
          <a:prstGeom prst="rect">
            <a:avLst/>
          </a:prstGeom>
        </p:spPr>
      </p:pic>
      <p:sp>
        <p:nvSpPr>
          <p:cNvPr id="25" name="Text 19"/>
          <p:cNvSpPr txBox="1"/>
          <p:nvPr/>
        </p:nvSpPr>
        <p:spPr>
          <a:xfrm>
            <a:off x="960120" y="3200400"/>
            <a:ext cx="3246120" cy="1097280"/>
          </a:xfrm>
          <a:prstGeom prst="rect">
            <a:avLst/>
          </a:prstGeom>
          <a:noFill/>
          <a:ln/>
        </p:spPr>
        <p:txBody>
          <a:bodyPr wrap="square" lIns="0" tIns="0" rIns="0" bIns="0" rtlCol="0" anchor="t"/>
          <a:lstStyle/>
          <a:p>
            <a:pPr marL="152400" indent="-152400">
              <a:spcAft>
                <a:spcPts val="300"/>
              </a:spcAft>
              <a:buSzPct val="100000"/>
              <a:buChar char="•"/>
            </a:pPr>
            <a:r>
              <a:rPr lang="en-US" sz="1150" dirty="0">
                <a:solidFill>
                  <a:srgbClr val="1F2A37"/>
                </a:solidFill>
                <a:latin typeface="Calibri" pitchFamily="34" charset="0"/>
                <a:ea typeface="Calibri" pitchFamily="34" charset="-122"/>
                <a:cs typeface="Calibri" pitchFamily="34" charset="-120"/>
              </a:rPr>
              <a:t>Glucose +30 / +60 min</a:t>
            </a:r>
            <a:endParaRPr lang="en-US" sz="1150" dirty="0"/>
          </a:p>
          <a:p>
            <a:pPr marL="152400" indent="-152400">
              <a:spcAft>
                <a:spcPts val="300"/>
              </a:spcAft>
              <a:buSzPct val="100000"/>
              <a:buChar char="•"/>
            </a:pPr>
            <a:r>
              <a:rPr lang="en-US" sz="1150" dirty="0">
                <a:solidFill>
                  <a:srgbClr val="1F2A37"/>
                </a:solidFill>
                <a:latin typeface="Calibri" pitchFamily="34" charset="0"/>
                <a:ea typeface="Calibri" pitchFamily="34" charset="-122"/>
                <a:cs typeface="Calibri" pitchFamily="34" charset="-120"/>
              </a:rPr>
              <a:t>Spike warning 90 min ahead</a:t>
            </a:r>
            <a:endParaRPr lang="en-US" sz="1150" dirty="0"/>
          </a:p>
          <a:p>
            <a:pPr marL="152400" indent="-152400">
              <a:spcAft>
                <a:spcPts val="300"/>
              </a:spcAft>
              <a:buSzPct val="100000"/>
              <a:buChar char="•"/>
            </a:pPr>
            <a:r>
              <a:rPr lang="en-US" sz="1150" dirty="0">
                <a:solidFill>
                  <a:srgbClr val="1F2A37"/>
                </a:solidFill>
                <a:latin typeface="Calibri" pitchFamily="34" charset="0"/>
                <a:ea typeface="Calibri" pitchFamily="34" charset="-122"/>
                <a:cs typeface="Calibri" pitchFamily="34" charset="-120"/>
              </a:rPr>
              <a:t>HbA1c in 3 months</a:t>
            </a:r>
            <a:endParaRPr lang="en-US" sz="1150" dirty="0"/>
          </a:p>
          <a:p>
            <a:pPr marL="152400" indent="-152400">
              <a:spcAft>
                <a:spcPts val="300"/>
              </a:spcAft>
              <a:buSzPct val="100000"/>
              <a:buChar char="•"/>
            </a:pPr>
            <a:r>
              <a:rPr lang="en-US" sz="1150" dirty="0">
                <a:solidFill>
                  <a:srgbClr val="1F2A37"/>
                </a:solidFill>
                <a:latin typeface="Calibri" pitchFamily="34" charset="0"/>
                <a:ea typeface="Calibri" pitchFamily="34" charset="-122"/>
                <a:cs typeface="Calibri" pitchFamily="34" charset="-120"/>
              </a:rPr>
              <a:t>Meal spikes, top 3 spiking foods</a:t>
            </a:r>
            <a:endParaRPr lang="en-US" sz="1150" dirty="0"/>
          </a:p>
        </p:txBody>
      </p:sp>
      <p:sp>
        <p:nvSpPr>
          <p:cNvPr id="26" name="Shape 20"/>
          <p:cNvSpPr/>
          <p:nvPr/>
        </p:nvSpPr>
        <p:spPr>
          <a:xfrm>
            <a:off x="4334256" y="3429000"/>
            <a:ext cx="201168" cy="201168"/>
          </a:xfrm>
          <a:prstGeom prst="rightArrow">
            <a:avLst/>
          </a:prstGeom>
          <a:solidFill>
            <a:srgbClr val="2F6DB5"/>
          </a:solidFill>
          <a:ln w="12700">
            <a:solidFill>
              <a:srgbClr val="2F6DB5"/>
            </a:solidFill>
            <a:prstDash val="solid"/>
          </a:ln>
        </p:spPr>
      </p:sp>
      <p:sp>
        <p:nvSpPr>
          <p:cNvPr id="27" name="Step 5"/>
          <p:cNvSpPr/>
          <p:nvPr/>
        </p:nvSpPr>
        <p:spPr>
          <a:xfrm>
            <a:off x="4572000" y="2697480"/>
            <a:ext cx="3474720" cy="1664208"/>
          </a:xfrm>
          <a:prstGeom prst="roundRect">
            <a:avLst>
              <a:gd name="adj" fmla="val 5495"/>
            </a:avLst>
          </a:prstGeom>
          <a:solidFill>
            <a:srgbClr val="EEF5FC"/>
          </a:solidFill>
          <a:ln w="15875">
            <a:solidFill>
              <a:srgbClr val="8DBBE6"/>
            </a:solidFill>
            <a:prstDash val="dash"/>
          </a:ln>
        </p:spPr>
      </p:sp>
      <p:sp>
        <p:nvSpPr>
          <p:cNvPr id="28" name="Text 22"/>
          <p:cNvSpPr/>
          <p:nvPr/>
        </p:nvSpPr>
        <p:spPr>
          <a:xfrm>
            <a:off x="4700016" y="2816352"/>
            <a:ext cx="310896" cy="310896"/>
          </a:xfrm>
          <a:prstGeom prst="ellipse">
            <a:avLst/>
          </a:prstGeom>
          <a:solidFill>
            <a:srgbClr val="2F6DB5"/>
          </a:solidFill>
          <a:ln/>
        </p:spPr>
        <p:txBody>
          <a:bodyPr wrap="square" lIns="0" tIns="0" rIns="0" bIns="0" rtlCol="0" anchor="ctr"/>
          <a:lstStyle/>
          <a:p>
            <a:pPr marL="0" indent="0" algn="ctr">
              <a:buNone/>
            </a:pPr>
            <a:r>
              <a:rPr lang="en-US" sz="1200" b="1" dirty="0">
                <a:solidFill>
                  <a:srgbClr val="FFFFFF"/>
                </a:solidFill>
              </a:rPr>
              <a:t>5</a:t>
            </a:r>
            <a:endParaRPr lang="en-US" sz="1200" dirty="0"/>
          </a:p>
        </p:txBody>
      </p:sp>
      <p:sp>
        <p:nvSpPr>
          <p:cNvPr id="29" name="Text 23"/>
          <p:cNvSpPr txBox="1"/>
          <p:nvPr/>
        </p:nvSpPr>
        <p:spPr>
          <a:xfrm>
            <a:off x="5084064" y="2788920"/>
            <a:ext cx="2468880" cy="365760"/>
          </a:xfrm>
          <a:prstGeom prst="rect">
            <a:avLst/>
          </a:prstGeom>
          <a:noFill/>
          <a:ln/>
        </p:spPr>
        <p:txBody>
          <a:bodyPr wrap="square" lIns="0" tIns="0" rIns="0" bIns="0" rtlCol="0" anchor="ctr"/>
          <a:lstStyle/>
          <a:p>
            <a:pPr marL="0" indent="0">
              <a:buNone/>
            </a:pPr>
            <a:r>
              <a:rPr lang="en-US" sz="1350" b="1" dirty="0">
                <a:solidFill>
                  <a:srgbClr val="1B3A5C"/>
                </a:solidFill>
                <a:latin typeface="Calibri" pitchFamily="34" charset="0"/>
                <a:ea typeface="Calibri" pitchFamily="34" charset="-122"/>
                <a:cs typeface="Calibri" pitchFamily="34" charset="-120"/>
              </a:rPr>
              <a:t>Track B: DKD predictor</a:t>
            </a:r>
            <a:endParaRPr lang="en-US" sz="1350" dirty="0"/>
          </a:p>
        </p:txBody>
      </p:sp>
      <p:pic>
        <p:nvPicPr>
          <p:cNvPr id="30" name="Image 4" descr="preencoded.png"/>
          <p:cNvPicPr>
            <a:picLocks noChangeAspect="1"/>
          </p:cNvPicPr>
          <p:nvPr/>
        </p:nvPicPr>
        <p:blipFill>
          <a:blip r:embed="rId7"/>
          <a:stretch>
            <a:fillRect/>
          </a:stretch>
        </p:blipFill>
        <p:spPr>
          <a:xfrm>
            <a:off x="7589520" y="2807208"/>
            <a:ext cx="329184" cy="329184"/>
          </a:xfrm>
          <a:prstGeom prst="rect">
            <a:avLst/>
          </a:prstGeom>
        </p:spPr>
      </p:pic>
      <p:sp>
        <p:nvSpPr>
          <p:cNvPr id="31" name="Text 24"/>
          <p:cNvSpPr txBox="1"/>
          <p:nvPr/>
        </p:nvSpPr>
        <p:spPr>
          <a:xfrm>
            <a:off x="4709160" y="3200400"/>
            <a:ext cx="3246120" cy="1097280"/>
          </a:xfrm>
          <a:prstGeom prst="rect">
            <a:avLst/>
          </a:prstGeom>
          <a:noFill/>
          <a:ln/>
        </p:spPr>
        <p:txBody>
          <a:bodyPr wrap="square" lIns="0" tIns="0" rIns="0" bIns="0" rtlCol="0" anchor="t"/>
          <a:lstStyle/>
          <a:p>
            <a:pPr marL="152400" indent="-152400">
              <a:spcAft>
                <a:spcPts val="300"/>
              </a:spcAft>
              <a:buSzPct val="100000"/>
              <a:buChar char="•"/>
            </a:pPr>
            <a:r>
              <a:rPr lang="en-US" sz="1150" dirty="0">
                <a:solidFill>
                  <a:srgbClr val="1F2A37"/>
                </a:solidFill>
                <a:latin typeface="Calibri" pitchFamily="34" charset="0"/>
                <a:ea typeface="Calibri" pitchFamily="34" charset="-122"/>
                <a:cs typeface="Calibri" pitchFamily="34" charset="-120"/>
              </a:rPr>
              <a:t>3-yr onset (kidneys healthy now)</a:t>
            </a:r>
            <a:endParaRPr lang="en-US" sz="1150" dirty="0"/>
          </a:p>
          <a:p>
            <a:pPr marL="152400" indent="-152400">
              <a:spcAft>
                <a:spcPts val="300"/>
              </a:spcAft>
              <a:buSzPct val="100000"/>
              <a:buChar char="•"/>
            </a:pPr>
            <a:r>
              <a:rPr lang="en-US" sz="1150" dirty="0">
                <a:solidFill>
                  <a:srgbClr val="1F2A37"/>
                </a:solidFill>
                <a:latin typeface="Calibri" pitchFamily="34" charset="0"/>
                <a:ea typeface="Calibri" pitchFamily="34" charset="-122"/>
                <a:cs typeface="Calibri" pitchFamily="34" charset="-120"/>
              </a:rPr>
              <a:t>3-yr progression (DKD now)</a:t>
            </a:r>
            <a:endParaRPr lang="en-US" sz="1150" dirty="0"/>
          </a:p>
          <a:p>
            <a:pPr marL="152400" indent="-152400">
              <a:spcAft>
                <a:spcPts val="300"/>
              </a:spcAft>
              <a:buSzPct val="100000"/>
              <a:buChar char="•"/>
            </a:pPr>
            <a:r>
              <a:rPr lang="en-US" sz="1150" dirty="0">
                <a:solidFill>
                  <a:srgbClr val="1F2A37"/>
                </a:solidFill>
                <a:latin typeface="Calibri" pitchFamily="34" charset="0"/>
                <a:ea typeface="Calibri" pitchFamily="34" charset="-122"/>
                <a:cs typeface="Calibri" pitchFamily="34" charset="-120"/>
              </a:rPr>
              <a:t>Factors driving the risk</a:t>
            </a:r>
            <a:endParaRPr lang="en-US" sz="1150" dirty="0"/>
          </a:p>
          <a:p>
            <a:pPr marL="152400" indent="-152400">
              <a:spcAft>
                <a:spcPts val="300"/>
              </a:spcAft>
              <a:buSzPct val="100000"/>
              <a:buChar char="•"/>
            </a:pPr>
            <a:r>
              <a:rPr lang="en-US" sz="1150" dirty="0">
                <a:solidFill>
                  <a:srgbClr val="1F2A37"/>
                </a:solidFill>
                <a:latin typeface="Calibri" pitchFamily="34" charset="0"/>
                <a:ea typeface="Calibri" pitchFamily="34" charset="-122"/>
                <a:cs typeface="Calibri" pitchFamily="34" charset="-120"/>
              </a:rPr>
              <a:t>Glycaemic features feed the model</a:t>
            </a:r>
            <a:endParaRPr lang="en-US" sz="1150" dirty="0"/>
          </a:p>
        </p:txBody>
      </p:sp>
      <p:sp>
        <p:nvSpPr>
          <p:cNvPr id="32" name="Shape 25"/>
          <p:cNvSpPr/>
          <p:nvPr/>
        </p:nvSpPr>
        <p:spPr>
          <a:xfrm>
            <a:off x="8083296" y="3429000"/>
            <a:ext cx="201168" cy="201168"/>
          </a:xfrm>
          <a:prstGeom prst="rightArrow">
            <a:avLst/>
          </a:prstGeom>
          <a:solidFill>
            <a:srgbClr val="2F6DB5"/>
          </a:solidFill>
          <a:ln w="12700">
            <a:solidFill>
              <a:srgbClr val="2F6DB5"/>
            </a:solidFill>
            <a:prstDash val="solid"/>
          </a:ln>
        </p:spPr>
      </p:sp>
      <p:sp>
        <p:nvSpPr>
          <p:cNvPr id="33" name="Step 6"/>
          <p:cNvSpPr/>
          <p:nvPr/>
        </p:nvSpPr>
        <p:spPr>
          <a:xfrm>
            <a:off x="8321040" y="2697480"/>
            <a:ext cx="3474720" cy="1664208"/>
          </a:xfrm>
          <a:prstGeom prst="roundRect">
            <a:avLst>
              <a:gd name="adj" fmla="val 5495"/>
            </a:avLst>
          </a:prstGeom>
          <a:solidFill>
            <a:srgbClr val="EEF5FC"/>
          </a:solidFill>
          <a:ln w="15875">
            <a:solidFill>
              <a:srgbClr val="8DBBE6"/>
            </a:solidFill>
            <a:prstDash val="dash"/>
          </a:ln>
        </p:spPr>
      </p:sp>
      <p:sp>
        <p:nvSpPr>
          <p:cNvPr id="34" name="Text 27"/>
          <p:cNvSpPr/>
          <p:nvPr/>
        </p:nvSpPr>
        <p:spPr>
          <a:xfrm>
            <a:off x="8449056" y="2816352"/>
            <a:ext cx="310896" cy="310896"/>
          </a:xfrm>
          <a:prstGeom prst="ellipse">
            <a:avLst/>
          </a:prstGeom>
          <a:solidFill>
            <a:srgbClr val="2F6DB5"/>
          </a:solidFill>
          <a:ln/>
        </p:spPr>
        <p:txBody>
          <a:bodyPr wrap="square" lIns="0" tIns="0" rIns="0" bIns="0" rtlCol="0" anchor="ctr"/>
          <a:lstStyle/>
          <a:p>
            <a:pPr marL="0" indent="0" algn="ctr">
              <a:buNone/>
            </a:pPr>
            <a:r>
              <a:rPr lang="en-US" sz="1200" b="1" dirty="0">
                <a:solidFill>
                  <a:srgbClr val="FFFFFF"/>
                </a:solidFill>
              </a:rPr>
              <a:t>6</a:t>
            </a:r>
            <a:endParaRPr lang="en-US" sz="1200" dirty="0"/>
          </a:p>
        </p:txBody>
      </p:sp>
      <p:sp>
        <p:nvSpPr>
          <p:cNvPr id="35" name="Text 28"/>
          <p:cNvSpPr txBox="1"/>
          <p:nvPr/>
        </p:nvSpPr>
        <p:spPr>
          <a:xfrm>
            <a:off x="8833104" y="2788920"/>
            <a:ext cx="2468880" cy="365760"/>
          </a:xfrm>
          <a:prstGeom prst="rect">
            <a:avLst/>
          </a:prstGeom>
          <a:noFill/>
          <a:ln/>
        </p:spPr>
        <p:txBody>
          <a:bodyPr wrap="square" lIns="0" tIns="0" rIns="0" bIns="0" rtlCol="0" anchor="ctr"/>
          <a:lstStyle/>
          <a:p>
            <a:pPr marL="0" indent="0">
              <a:buNone/>
            </a:pPr>
            <a:r>
              <a:rPr lang="en-US" sz="1350" b="1" dirty="0">
                <a:solidFill>
                  <a:srgbClr val="1B3A5C"/>
                </a:solidFill>
                <a:latin typeface="Calibri" pitchFamily="34" charset="0"/>
                <a:ea typeface="Calibri" pitchFamily="34" charset="-122"/>
                <a:cs typeface="Calibri" pitchFamily="34" charset="-120"/>
              </a:rPr>
              <a:t>Treatment advisor</a:t>
            </a:r>
            <a:endParaRPr lang="en-US" sz="1350" dirty="0"/>
          </a:p>
        </p:txBody>
      </p:sp>
      <p:pic>
        <p:nvPicPr>
          <p:cNvPr id="36" name="Image 5" descr="preencoded.png"/>
          <p:cNvPicPr>
            <a:picLocks noChangeAspect="1"/>
          </p:cNvPicPr>
          <p:nvPr/>
        </p:nvPicPr>
        <p:blipFill>
          <a:blip r:embed="rId8"/>
          <a:stretch>
            <a:fillRect/>
          </a:stretch>
        </p:blipFill>
        <p:spPr>
          <a:xfrm>
            <a:off x="11338560" y="2807208"/>
            <a:ext cx="329184" cy="329184"/>
          </a:xfrm>
          <a:prstGeom prst="rect">
            <a:avLst/>
          </a:prstGeom>
        </p:spPr>
      </p:pic>
      <p:sp>
        <p:nvSpPr>
          <p:cNvPr id="37" name="Text 29"/>
          <p:cNvSpPr txBox="1"/>
          <p:nvPr/>
        </p:nvSpPr>
        <p:spPr>
          <a:xfrm>
            <a:off x="8458200" y="3200400"/>
            <a:ext cx="3246120" cy="1097280"/>
          </a:xfrm>
          <a:prstGeom prst="rect">
            <a:avLst/>
          </a:prstGeom>
          <a:noFill/>
          <a:ln/>
        </p:spPr>
        <p:txBody>
          <a:bodyPr wrap="square" lIns="0" tIns="0" rIns="0" bIns="0" rtlCol="0" anchor="t"/>
          <a:lstStyle/>
          <a:p>
            <a:pPr marL="152400" indent="-152400">
              <a:spcAft>
                <a:spcPts val="300"/>
              </a:spcAft>
              <a:buSzPct val="100000"/>
              <a:buChar char="•"/>
            </a:pPr>
            <a:r>
              <a:rPr lang="en-US" sz="1150" dirty="0">
                <a:solidFill>
                  <a:srgbClr val="1F2A37"/>
                </a:solidFill>
                <a:latin typeface="Calibri" pitchFamily="34" charset="0"/>
                <a:ea typeface="Calibri" pitchFamily="34" charset="-122"/>
                <a:cs typeface="Calibri" pitchFamily="34" charset="-120"/>
              </a:rPr>
              <a:t>Eligibility: KDIGO 2022 / ADA 2026</a:t>
            </a:r>
            <a:endParaRPr lang="en-US" sz="1150" dirty="0"/>
          </a:p>
          <a:p>
            <a:pPr marL="152400" indent="-152400">
              <a:spcAft>
                <a:spcPts val="300"/>
              </a:spcAft>
              <a:buSzPct val="100000"/>
              <a:buChar char="•"/>
            </a:pPr>
            <a:r>
              <a:rPr lang="en-US" sz="1150" dirty="0">
                <a:solidFill>
                  <a:srgbClr val="1F2A37"/>
                </a:solidFill>
                <a:latin typeface="Calibri" pitchFamily="34" charset="0"/>
                <a:ea typeface="Calibri" pitchFamily="34" charset="-122"/>
                <a:cs typeface="Calibri" pitchFamily="34" charset="-120"/>
              </a:rPr>
              <a:t>Simulate each option on the twin</a:t>
            </a:r>
            <a:endParaRPr lang="en-US" sz="1150" dirty="0"/>
          </a:p>
          <a:p>
            <a:pPr marL="152400" indent="-152400">
              <a:spcAft>
                <a:spcPts val="300"/>
              </a:spcAft>
              <a:buSzPct val="100000"/>
              <a:buChar char="•"/>
            </a:pPr>
            <a:r>
              <a:rPr lang="en-US" sz="1150" dirty="0">
                <a:solidFill>
                  <a:srgbClr val="1F2A37"/>
                </a:solidFill>
                <a:latin typeface="Calibri" pitchFamily="34" charset="0"/>
                <a:ea typeface="Calibri" pitchFamily="34" charset="-122"/>
                <a:cs typeface="Calibri" pitchFamily="34" charset="-120"/>
              </a:rPr>
              <a:t>Rank by kidney-risk reduction</a:t>
            </a:r>
            <a:endParaRPr lang="en-US" sz="1150" dirty="0"/>
          </a:p>
          <a:p>
            <a:pPr marL="152400" indent="-152400">
              <a:spcAft>
                <a:spcPts val="300"/>
              </a:spcAft>
              <a:buSzPct val="100000"/>
              <a:buChar char="•"/>
            </a:pPr>
            <a:r>
              <a:rPr lang="en-US" sz="1150" dirty="0">
                <a:solidFill>
                  <a:srgbClr val="1F2A37"/>
                </a:solidFill>
                <a:latin typeface="Calibri" pitchFamily="34" charset="0"/>
                <a:ea typeface="Calibri" pitchFamily="34" charset="-122"/>
                <a:cs typeface="Calibri" pitchFamily="34" charset="-120"/>
              </a:rPr>
              <a:t>Genetic cautions (TCF7L2, CYP2C9, SLC22A1)</a:t>
            </a:r>
            <a:endParaRPr lang="en-US" sz="1150" dirty="0"/>
          </a:p>
        </p:txBody>
      </p:sp>
      <p:sp>
        <p:nvSpPr>
          <p:cNvPr id="38" name="Step 7"/>
          <p:cNvSpPr/>
          <p:nvPr/>
        </p:nvSpPr>
        <p:spPr>
          <a:xfrm>
            <a:off x="822960" y="4526280"/>
            <a:ext cx="3474720" cy="1664208"/>
          </a:xfrm>
          <a:prstGeom prst="roundRect">
            <a:avLst>
              <a:gd name="adj" fmla="val 5495"/>
            </a:avLst>
          </a:prstGeom>
          <a:solidFill>
            <a:srgbClr val="FDEBDF"/>
          </a:solidFill>
          <a:ln w="15875">
            <a:solidFill>
              <a:srgbClr val="F2A679"/>
            </a:solidFill>
            <a:prstDash val="dash"/>
          </a:ln>
        </p:spPr>
      </p:sp>
      <p:sp>
        <p:nvSpPr>
          <p:cNvPr id="39" name="Text 31"/>
          <p:cNvSpPr/>
          <p:nvPr/>
        </p:nvSpPr>
        <p:spPr>
          <a:xfrm>
            <a:off x="950976" y="4645152"/>
            <a:ext cx="310896" cy="310896"/>
          </a:xfrm>
          <a:prstGeom prst="ellipse">
            <a:avLst/>
          </a:prstGeom>
          <a:solidFill>
            <a:srgbClr val="E9712F"/>
          </a:solidFill>
          <a:ln/>
        </p:spPr>
        <p:txBody>
          <a:bodyPr wrap="square" lIns="0" tIns="0" rIns="0" bIns="0" rtlCol="0" anchor="ctr"/>
          <a:lstStyle/>
          <a:p>
            <a:pPr marL="0" indent="0" algn="ctr">
              <a:buNone/>
            </a:pPr>
            <a:r>
              <a:rPr lang="en-US" sz="1200" b="1" dirty="0">
                <a:solidFill>
                  <a:srgbClr val="FFFFFF"/>
                </a:solidFill>
              </a:rPr>
              <a:t>7</a:t>
            </a:r>
            <a:endParaRPr lang="en-US" sz="1200" dirty="0"/>
          </a:p>
        </p:txBody>
      </p:sp>
      <p:sp>
        <p:nvSpPr>
          <p:cNvPr id="40" name="Text 32"/>
          <p:cNvSpPr txBox="1"/>
          <p:nvPr/>
        </p:nvSpPr>
        <p:spPr>
          <a:xfrm>
            <a:off x="1335024" y="4617720"/>
            <a:ext cx="2468880" cy="365760"/>
          </a:xfrm>
          <a:prstGeom prst="rect">
            <a:avLst/>
          </a:prstGeom>
          <a:noFill/>
          <a:ln/>
        </p:spPr>
        <p:txBody>
          <a:bodyPr wrap="square" lIns="0" tIns="0" rIns="0" bIns="0" rtlCol="0" anchor="ctr"/>
          <a:lstStyle/>
          <a:p>
            <a:pPr marL="0" indent="0">
              <a:buNone/>
            </a:pPr>
            <a:r>
              <a:rPr lang="en-US" sz="1350" b="1" dirty="0">
                <a:solidFill>
                  <a:srgbClr val="1B3A5C"/>
                </a:solidFill>
                <a:latin typeface="Calibri" pitchFamily="34" charset="0"/>
                <a:ea typeface="Calibri" pitchFamily="34" charset="-122"/>
                <a:cs typeface="Calibri" pitchFamily="34" charset="-120"/>
              </a:rPr>
              <a:t>Alerts &amp; reminders</a:t>
            </a:r>
            <a:endParaRPr lang="en-US" sz="1350" dirty="0"/>
          </a:p>
        </p:txBody>
      </p:sp>
      <p:pic>
        <p:nvPicPr>
          <p:cNvPr id="41" name="Image 6" descr="preencoded.png"/>
          <p:cNvPicPr>
            <a:picLocks noChangeAspect="1"/>
          </p:cNvPicPr>
          <p:nvPr/>
        </p:nvPicPr>
        <p:blipFill>
          <a:blip r:embed="rId9"/>
          <a:stretch>
            <a:fillRect/>
          </a:stretch>
        </p:blipFill>
        <p:spPr>
          <a:xfrm>
            <a:off x="3840480" y="4636008"/>
            <a:ext cx="329184" cy="329184"/>
          </a:xfrm>
          <a:prstGeom prst="rect">
            <a:avLst/>
          </a:prstGeom>
        </p:spPr>
      </p:pic>
      <p:sp>
        <p:nvSpPr>
          <p:cNvPr id="42" name="Text 33"/>
          <p:cNvSpPr txBox="1"/>
          <p:nvPr/>
        </p:nvSpPr>
        <p:spPr>
          <a:xfrm>
            <a:off x="960120" y="5029200"/>
            <a:ext cx="3246120" cy="1097280"/>
          </a:xfrm>
          <a:prstGeom prst="rect">
            <a:avLst/>
          </a:prstGeom>
          <a:noFill/>
          <a:ln/>
        </p:spPr>
        <p:txBody>
          <a:bodyPr wrap="square" lIns="0" tIns="0" rIns="0" bIns="0" rtlCol="0" anchor="t"/>
          <a:lstStyle/>
          <a:p>
            <a:pPr marL="152400" indent="-152400">
              <a:spcAft>
                <a:spcPts val="300"/>
              </a:spcAft>
              <a:buSzPct val="100000"/>
              <a:buChar char="•"/>
            </a:pPr>
            <a:r>
              <a:rPr lang="en-US" sz="1150" dirty="0">
                <a:solidFill>
                  <a:srgbClr val="1F2A37"/>
                </a:solidFill>
                <a:latin typeface="Calibri" pitchFamily="34" charset="0"/>
                <a:ea typeface="Calibri" pitchFamily="34" charset="-122"/>
                <a:cs typeface="Calibri" pitchFamily="34" charset="-120"/>
              </a:rPr>
              <a:t>Low/high glucose, predicted hypo</a:t>
            </a:r>
            <a:endParaRPr lang="en-US" sz="1150" dirty="0"/>
          </a:p>
          <a:p>
            <a:pPr marL="152400" indent="-152400">
              <a:spcAft>
                <a:spcPts val="300"/>
              </a:spcAft>
              <a:buSzPct val="100000"/>
              <a:buChar char="•"/>
            </a:pPr>
            <a:r>
              <a:rPr lang="en-US" sz="1150" dirty="0">
                <a:solidFill>
                  <a:srgbClr val="1F2A37"/>
                </a:solidFill>
                <a:latin typeface="Calibri" pitchFamily="34" charset="0"/>
                <a:ea typeface="Calibri" pitchFamily="34" charset="-122"/>
                <a:cs typeface="Calibri" pitchFamily="34" charset="-120"/>
              </a:rPr>
              <a:t>UACR rise, eGFR fall, K⁺, BP, adherence</a:t>
            </a:r>
            <a:endParaRPr lang="en-US" sz="1150" dirty="0"/>
          </a:p>
          <a:p>
            <a:pPr marL="152400" indent="-152400">
              <a:spcAft>
                <a:spcPts val="300"/>
              </a:spcAft>
              <a:buSzPct val="100000"/>
              <a:buChar char="•"/>
            </a:pPr>
            <a:r>
              <a:rPr lang="en-US" sz="1150" dirty="0">
                <a:solidFill>
                  <a:srgbClr val="1F2A37"/>
                </a:solidFill>
                <a:latin typeface="Calibri" pitchFamily="34" charset="0"/>
                <a:ea typeface="Calibri" pitchFamily="34" charset="-122"/>
                <a:cs typeface="Calibri" pitchFamily="34" charset="-120"/>
              </a:rPr>
              <a:t>Sensor off; no repeats within 60 min</a:t>
            </a:r>
            <a:endParaRPr lang="en-US" sz="1150" dirty="0"/>
          </a:p>
          <a:p>
            <a:pPr marL="152400" indent="-152400">
              <a:spcAft>
                <a:spcPts val="300"/>
              </a:spcAft>
              <a:buSzPct val="100000"/>
              <a:buChar char="•"/>
            </a:pPr>
            <a:r>
              <a:rPr lang="en-US" sz="1150" dirty="0">
                <a:solidFill>
                  <a:srgbClr val="1F2A37"/>
                </a:solidFill>
                <a:latin typeface="Calibri" pitchFamily="34" charset="0"/>
                <a:ea typeface="Calibri" pitchFamily="34" charset="-122"/>
                <a:cs typeface="Calibri" pitchFamily="34" charset="-120"/>
              </a:rPr>
              <a:t>Doses: Taken / Skip, missed after 2 h</a:t>
            </a:r>
            <a:endParaRPr lang="en-US" sz="1150" dirty="0"/>
          </a:p>
        </p:txBody>
      </p:sp>
      <p:sp>
        <p:nvSpPr>
          <p:cNvPr id="43" name="Shape 34"/>
          <p:cNvSpPr/>
          <p:nvPr/>
        </p:nvSpPr>
        <p:spPr>
          <a:xfrm>
            <a:off x="4334256" y="5257800"/>
            <a:ext cx="201168" cy="201168"/>
          </a:xfrm>
          <a:prstGeom prst="rightArrow">
            <a:avLst/>
          </a:prstGeom>
          <a:solidFill>
            <a:srgbClr val="2F6DB5"/>
          </a:solidFill>
          <a:ln w="12700">
            <a:solidFill>
              <a:srgbClr val="2F6DB5"/>
            </a:solidFill>
            <a:prstDash val="solid"/>
          </a:ln>
        </p:spPr>
      </p:sp>
      <p:sp>
        <p:nvSpPr>
          <p:cNvPr id="44" name="Step 8"/>
          <p:cNvSpPr/>
          <p:nvPr/>
        </p:nvSpPr>
        <p:spPr>
          <a:xfrm>
            <a:off x="4572000" y="4526280"/>
            <a:ext cx="3474720" cy="1664208"/>
          </a:xfrm>
          <a:prstGeom prst="roundRect">
            <a:avLst>
              <a:gd name="adj" fmla="val 5495"/>
            </a:avLst>
          </a:prstGeom>
          <a:solidFill>
            <a:srgbClr val="FDEBDF"/>
          </a:solidFill>
          <a:ln w="15875">
            <a:solidFill>
              <a:srgbClr val="F2A679"/>
            </a:solidFill>
            <a:prstDash val="dash"/>
          </a:ln>
        </p:spPr>
      </p:sp>
      <p:sp>
        <p:nvSpPr>
          <p:cNvPr id="45" name="Text 36"/>
          <p:cNvSpPr/>
          <p:nvPr/>
        </p:nvSpPr>
        <p:spPr>
          <a:xfrm>
            <a:off x="4700016" y="4645152"/>
            <a:ext cx="310896" cy="310896"/>
          </a:xfrm>
          <a:prstGeom prst="ellipse">
            <a:avLst/>
          </a:prstGeom>
          <a:solidFill>
            <a:srgbClr val="E9712F"/>
          </a:solidFill>
          <a:ln/>
        </p:spPr>
        <p:txBody>
          <a:bodyPr wrap="square" lIns="0" tIns="0" rIns="0" bIns="0" rtlCol="0" anchor="ctr"/>
          <a:lstStyle/>
          <a:p>
            <a:pPr marL="0" indent="0" algn="ctr">
              <a:buNone/>
            </a:pPr>
            <a:r>
              <a:rPr lang="en-US" sz="1200" b="1" dirty="0">
                <a:solidFill>
                  <a:srgbClr val="FFFFFF"/>
                </a:solidFill>
              </a:rPr>
              <a:t>8</a:t>
            </a:r>
            <a:endParaRPr lang="en-US" sz="1200" dirty="0"/>
          </a:p>
        </p:txBody>
      </p:sp>
      <p:sp>
        <p:nvSpPr>
          <p:cNvPr id="46" name="Text 37"/>
          <p:cNvSpPr txBox="1"/>
          <p:nvPr/>
        </p:nvSpPr>
        <p:spPr>
          <a:xfrm>
            <a:off x="5084064" y="4617720"/>
            <a:ext cx="2468880" cy="365760"/>
          </a:xfrm>
          <a:prstGeom prst="rect">
            <a:avLst/>
          </a:prstGeom>
          <a:noFill/>
          <a:ln/>
        </p:spPr>
        <p:txBody>
          <a:bodyPr wrap="square" lIns="0" tIns="0" rIns="0" bIns="0" rtlCol="0" anchor="ctr"/>
          <a:lstStyle/>
          <a:p>
            <a:pPr marL="0" indent="0">
              <a:buNone/>
            </a:pPr>
            <a:r>
              <a:rPr lang="en-US" sz="1350" b="1" dirty="0">
                <a:solidFill>
                  <a:srgbClr val="1B3A5C"/>
                </a:solidFill>
                <a:latin typeface="Calibri" pitchFamily="34" charset="0"/>
                <a:ea typeface="Calibri" pitchFamily="34" charset="-122"/>
                <a:cs typeface="Calibri" pitchFamily="34" charset="-120"/>
              </a:rPr>
              <a:t>AI assistant</a:t>
            </a:r>
            <a:endParaRPr lang="en-US" sz="1350" dirty="0"/>
          </a:p>
        </p:txBody>
      </p:sp>
      <p:pic>
        <p:nvPicPr>
          <p:cNvPr id="47" name="Image 7" descr="preencoded.png"/>
          <p:cNvPicPr>
            <a:picLocks noChangeAspect="1"/>
          </p:cNvPicPr>
          <p:nvPr/>
        </p:nvPicPr>
        <p:blipFill>
          <a:blip r:embed="rId10"/>
          <a:stretch>
            <a:fillRect/>
          </a:stretch>
        </p:blipFill>
        <p:spPr>
          <a:xfrm>
            <a:off x="7589520" y="4636008"/>
            <a:ext cx="329184" cy="329184"/>
          </a:xfrm>
          <a:prstGeom prst="rect">
            <a:avLst/>
          </a:prstGeom>
        </p:spPr>
      </p:pic>
      <p:sp>
        <p:nvSpPr>
          <p:cNvPr id="48" name="Text 38"/>
          <p:cNvSpPr txBox="1"/>
          <p:nvPr/>
        </p:nvSpPr>
        <p:spPr>
          <a:xfrm>
            <a:off x="4709160" y="5029200"/>
            <a:ext cx="3246120" cy="1097280"/>
          </a:xfrm>
          <a:prstGeom prst="rect">
            <a:avLst/>
          </a:prstGeom>
          <a:noFill/>
          <a:ln/>
        </p:spPr>
        <p:txBody>
          <a:bodyPr wrap="square" lIns="0" tIns="0" rIns="0" bIns="0" rtlCol="0" anchor="t"/>
          <a:lstStyle/>
          <a:p>
            <a:pPr marL="152400" indent="-152400">
              <a:spcAft>
                <a:spcPts val="300"/>
              </a:spcAft>
              <a:buSzPct val="100000"/>
              <a:buChar char="•"/>
            </a:pPr>
            <a:r>
              <a:rPr lang="en-US" sz="1150" dirty="0">
                <a:solidFill>
                  <a:srgbClr val="1F2A37"/>
                </a:solidFill>
                <a:latin typeface="Calibri" pitchFamily="34" charset="0"/>
                <a:ea typeface="Calibri" pitchFamily="34" charset="-122"/>
                <a:cs typeface="Calibri" pitchFamily="34" charset="-120"/>
              </a:rPr>
              <a:t>Kimi, then Gemini, then templates</a:t>
            </a:r>
            <a:endParaRPr lang="en-US" sz="1150" dirty="0"/>
          </a:p>
          <a:p>
            <a:pPr marL="152400" indent="-152400">
              <a:spcAft>
                <a:spcPts val="300"/>
              </a:spcAft>
              <a:buSzPct val="100000"/>
              <a:buChar char="•"/>
            </a:pPr>
            <a:r>
              <a:rPr lang="en-US" sz="1150" dirty="0">
                <a:solidFill>
                  <a:srgbClr val="1F2A37"/>
                </a:solidFill>
                <a:latin typeface="Calibri" pitchFamily="34" charset="0"/>
                <a:ea typeface="Calibri" pitchFamily="34" charset="-122"/>
                <a:cs typeface="Calibri" pitchFamily="34" charset="-120"/>
              </a:rPr>
              <a:t>Explains results, makes no predictions</a:t>
            </a:r>
            <a:endParaRPr lang="en-US" sz="1150" dirty="0"/>
          </a:p>
          <a:p>
            <a:pPr marL="152400" indent="-152400">
              <a:spcAft>
                <a:spcPts val="300"/>
              </a:spcAft>
              <a:buSzPct val="100000"/>
              <a:buChar char="•"/>
            </a:pPr>
            <a:r>
              <a:rPr lang="en-US" sz="1150" dirty="0">
                <a:solidFill>
                  <a:srgbClr val="1F2A37"/>
                </a:solidFill>
                <a:latin typeface="Calibri" pitchFamily="34" charset="0"/>
                <a:ea typeface="Calibri" pitchFamily="34" charset="-122"/>
                <a:cs typeface="Calibri" pitchFamily="34" charset="-120"/>
              </a:rPr>
              <a:t>Cites 8 guideline notes</a:t>
            </a:r>
            <a:endParaRPr lang="en-US" sz="1150" dirty="0"/>
          </a:p>
          <a:p>
            <a:pPr marL="152400" indent="-152400">
              <a:spcAft>
                <a:spcPts val="300"/>
              </a:spcAft>
              <a:buSzPct val="100000"/>
              <a:buChar char="•"/>
            </a:pPr>
            <a:r>
              <a:rPr lang="en-US" sz="1150" dirty="0">
                <a:solidFill>
                  <a:srgbClr val="1F2A37"/>
                </a:solidFill>
                <a:latin typeface="Calibri" pitchFamily="34" charset="0"/>
                <a:ea typeface="Calibri" pitchFamily="34" charset="-122"/>
                <a:cs typeface="Calibri" pitchFamily="34" charset="-120"/>
              </a:rPr>
              <a:t>English + Hindi patient guardrails</a:t>
            </a:r>
            <a:endParaRPr lang="en-US" sz="1150" dirty="0"/>
          </a:p>
        </p:txBody>
      </p:sp>
      <p:sp>
        <p:nvSpPr>
          <p:cNvPr id="49" name="Shape 39"/>
          <p:cNvSpPr/>
          <p:nvPr/>
        </p:nvSpPr>
        <p:spPr>
          <a:xfrm>
            <a:off x="8083296" y="5257800"/>
            <a:ext cx="201168" cy="201168"/>
          </a:xfrm>
          <a:prstGeom prst="rightArrow">
            <a:avLst/>
          </a:prstGeom>
          <a:solidFill>
            <a:srgbClr val="2F6DB5"/>
          </a:solidFill>
          <a:ln w="12700">
            <a:solidFill>
              <a:srgbClr val="2F6DB5"/>
            </a:solidFill>
            <a:prstDash val="solid"/>
          </a:ln>
        </p:spPr>
      </p:sp>
      <p:sp>
        <p:nvSpPr>
          <p:cNvPr id="50" name="Step 9"/>
          <p:cNvSpPr/>
          <p:nvPr/>
        </p:nvSpPr>
        <p:spPr>
          <a:xfrm>
            <a:off x="8321040" y="4526280"/>
            <a:ext cx="3474720" cy="1664208"/>
          </a:xfrm>
          <a:prstGeom prst="roundRect">
            <a:avLst>
              <a:gd name="adj" fmla="val 5495"/>
            </a:avLst>
          </a:prstGeom>
          <a:solidFill>
            <a:srgbClr val="FDEBDF"/>
          </a:solidFill>
          <a:ln w="15875">
            <a:solidFill>
              <a:srgbClr val="F2A679"/>
            </a:solidFill>
            <a:prstDash val="dash"/>
          </a:ln>
        </p:spPr>
      </p:sp>
      <p:sp>
        <p:nvSpPr>
          <p:cNvPr id="51" name="Text 41"/>
          <p:cNvSpPr/>
          <p:nvPr/>
        </p:nvSpPr>
        <p:spPr>
          <a:xfrm>
            <a:off x="8449056" y="4645152"/>
            <a:ext cx="310896" cy="310896"/>
          </a:xfrm>
          <a:prstGeom prst="ellipse">
            <a:avLst/>
          </a:prstGeom>
          <a:solidFill>
            <a:srgbClr val="E9712F"/>
          </a:solidFill>
          <a:ln/>
        </p:spPr>
        <p:txBody>
          <a:bodyPr wrap="square" lIns="0" tIns="0" rIns="0" bIns="0" rtlCol="0" anchor="ctr"/>
          <a:lstStyle/>
          <a:p>
            <a:pPr marL="0" indent="0" algn="ctr">
              <a:buNone/>
            </a:pPr>
            <a:r>
              <a:rPr lang="en-US" sz="1200" b="1" dirty="0">
                <a:solidFill>
                  <a:srgbClr val="FFFFFF"/>
                </a:solidFill>
              </a:rPr>
              <a:t>9</a:t>
            </a:r>
            <a:endParaRPr lang="en-US" sz="1200" dirty="0"/>
          </a:p>
        </p:txBody>
      </p:sp>
      <p:sp>
        <p:nvSpPr>
          <p:cNvPr id="52" name="Text 42"/>
          <p:cNvSpPr txBox="1"/>
          <p:nvPr/>
        </p:nvSpPr>
        <p:spPr>
          <a:xfrm>
            <a:off x="8833104" y="4617720"/>
            <a:ext cx="2468880" cy="365760"/>
          </a:xfrm>
          <a:prstGeom prst="rect">
            <a:avLst/>
          </a:prstGeom>
          <a:noFill/>
          <a:ln/>
        </p:spPr>
        <p:txBody>
          <a:bodyPr wrap="square" lIns="0" tIns="0" rIns="0" bIns="0" rtlCol="0" anchor="ctr"/>
          <a:lstStyle/>
          <a:p>
            <a:pPr marL="0" indent="0">
              <a:buNone/>
            </a:pPr>
            <a:r>
              <a:rPr lang="en-US" sz="1350" b="1" dirty="0">
                <a:solidFill>
                  <a:srgbClr val="1B3A5C"/>
                </a:solidFill>
                <a:latin typeface="Calibri" pitchFamily="34" charset="0"/>
                <a:ea typeface="Calibri" pitchFamily="34" charset="-122"/>
                <a:cs typeface="Calibri" pitchFamily="34" charset="-120"/>
              </a:rPr>
              <a:t>Screens &amp; reports</a:t>
            </a:r>
            <a:endParaRPr lang="en-US" sz="1350" dirty="0"/>
          </a:p>
        </p:txBody>
      </p:sp>
      <p:pic>
        <p:nvPicPr>
          <p:cNvPr id="53" name="Image 8" descr="preencoded.png"/>
          <p:cNvPicPr>
            <a:picLocks noChangeAspect="1"/>
          </p:cNvPicPr>
          <p:nvPr/>
        </p:nvPicPr>
        <p:blipFill>
          <a:blip r:embed="rId11"/>
          <a:stretch>
            <a:fillRect/>
          </a:stretch>
        </p:blipFill>
        <p:spPr>
          <a:xfrm>
            <a:off x="11338560" y="4636008"/>
            <a:ext cx="329184" cy="329184"/>
          </a:xfrm>
          <a:prstGeom prst="rect">
            <a:avLst/>
          </a:prstGeom>
        </p:spPr>
      </p:pic>
      <p:sp>
        <p:nvSpPr>
          <p:cNvPr id="54" name="Text 43"/>
          <p:cNvSpPr txBox="1"/>
          <p:nvPr/>
        </p:nvSpPr>
        <p:spPr>
          <a:xfrm>
            <a:off x="8458200" y="5029200"/>
            <a:ext cx="3246120" cy="1097280"/>
          </a:xfrm>
          <a:prstGeom prst="rect">
            <a:avLst/>
          </a:prstGeom>
          <a:noFill/>
          <a:ln/>
        </p:spPr>
        <p:txBody>
          <a:bodyPr wrap="square" lIns="0" tIns="0" rIns="0" bIns="0" rtlCol="0" anchor="t"/>
          <a:lstStyle/>
          <a:p>
            <a:pPr marL="152400" indent="-152400">
              <a:spcAft>
                <a:spcPts val="300"/>
              </a:spcAft>
              <a:buSzPct val="100000"/>
              <a:buChar char="•"/>
            </a:pPr>
            <a:r>
              <a:rPr lang="en-US" sz="1150" dirty="0">
                <a:solidFill>
                  <a:srgbClr val="1F2A37"/>
                </a:solidFill>
                <a:latin typeface="Calibri" pitchFamily="34" charset="0"/>
                <a:ea typeface="Calibri" pitchFamily="34" charset="-122"/>
                <a:cs typeface="Calibri" pitchFamily="34" charset="-120"/>
              </a:rPr>
              <a:t>Doctor portal</a:t>
            </a:r>
            <a:endParaRPr lang="en-US" sz="1150" dirty="0"/>
          </a:p>
          <a:p>
            <a:pPr marL="152400" indent="-152400">
              <a:spcAft>
                <a:spcPts val="300"/>
              </a:spcAft>
              <a:buSzPct val="100000"/>
              <a:buChar char="•"/>
            </a:pPr>
            <a:r>
              <a:rPr lang="en-US" sz="1150" dirty="0">
                <a:solidFill>
                  <a:srgbClr val="1F2A37"/>
                </a:solidFill>
                <a:latin typeface="Calibri" pitchFamily="34" charset="0"/>
                <a:ea typeface="Calibri" pitchFamily="34" charset="-122"/>
                <a:cs typeface="Calibri" pitchFamily="34" charset="-120"/>
              </a:rPr>
              <a:t>Patient app (English / हिंदी)</a:t>
            </a:r>
            <a:endParaRPr lang="en-US" sz="1150" dirty="0"/>
          </a:p>
          <a:p>
            <a:pPr marL="152400" indent="-152400">
              <a:spcAft>
                <a:spcPts val="300"/>
              </a:spcAft>
              <a:buSzPct val="100000"/>
              <a:buChar char="•"/>
            </a:pPr>
            <a:r>
              <a:rPr lang="en-US" sz="1150" dirty="0">
                <a:solidFill>
                  <a:srgbClr val="1F2A37"/>
                </a:solidFill>
                <a:latin typeface="Calibri" pitchFamily="34" charset="0"/>
                <a:ea typeface="Calibri" pitchFamily="34" charset="-122"/>
                <a:cs typeface="Calibri" pitchFamily="34" charset="-120"/>
              </a:rPr>
              <a:t>Admin panel</a:t>
            </a:r>
            <a:endParaRPr lang="en-US" sz="1150" dirty="0"/>
          </a:p>
          <a:p>
            <a:pPr marL="152400" indent="-152400">
              <a:spcAft>
                <a:spcPts val="300"/>
              </a:spcAft>
              <a:buSzPct val="100000"/>
              <a:buChar char="•"/>
            </a:pPr>
            <a:r>
              <a:rPr lang="en-US" sz="1150" dirty="0">
                <a:solidFill>
                  <a:srgbClr val="1F2A37"/>
                </a:solidFill>
                <a:latin typeface="Calibri" pitchFamily="34" charset="0"/>
                <a:ea typeface="Calibri" pitchFamily="34" charset="-122"/>
                <a:cs typeface="Calibri" pitchFamily="34" charset="-120"/>
              </a:rPr>
              <a:t>Doctor PDF + bilingual patient PDF</a:t>
            </a:r>
            <a:endParaRPr lang="en-US" sz="1150" dirty="0"/>
          </a:p>
        </p:txBody>
      </p:sp>
      <p:sp>
        <p:nvSpPr>
          <p:cNvPr id="55" name="Text 44"/>
          <p:cNvSpPr txBox="1"/>
          <p:nvPr/>
        </p:nvSpPr>
        <p:spPr>
          <a:xfrm>
            <a:off x="274320" y="868680"/>
            <a:ext cx="411480" cy="1664208"/>
          </a:xfrm>
          <a:prstGeom prst="rect">
            <a:avLst/>
          </a:prstGeom>
          <a:solidFill>
            <a:srgbClr val="E9712F"/>
          </a:solidFill>
          <a:ln/>
        </p:spPr>
        <p:txBody>
          <a:bodyPr vert="vert270" wrap="square" lIns="0" tIns="0" rIns="0" bIns="0" rtlCol="0" anchor="ctr"/>
          <a:lstStyle/>
          <a:p>
            <a:pPr marL="0" indent="0" algn="ctr">
              <a:buNone/>
            </a:pPr>
            <a:r>
              <a:rPr lang="en-US" sz="1000" b="1" dirty="0">
                <a:solidFill>
                  <a:srgbClr val="FFFFFF"/>
                </a:solidFill>
              </a:rPr>
              <a:t>INGEST</a:t>
            </a:r>
            <a:endParaRPr lang="en-US" sz="1000" dirty="0"/>
          </a:p>
        </p:txBody>
      </p:sp>
      <p:sp>
        <p:nvSpPr>
          <p:cNvPr id="56" name="Text 45"/>
          <p:cNvSpPr txBox="1"/>
          <p:nvPr/>
        </p:nvSpPr>
        <p:spPr>
          <a:xfrm>
            <a:off x="274320" y="2697480"/>
            <a:ext cx="411480" cy="1664208"/>
          </a:xfrm>
          <a:prstGeom prst="rect">
            <a:avLst/>
          </a:prstGeom>
          <a:solidFill>
            <a:srgbClr val="2F6DB5"/>
          </a:solidFill>
          <a:ln/>
        </p:spPr>
        <p:txBody>
          <a:bodyPr vert="vert270" wrap="square" lIns="0" tIns="0" rIns="0" bIns="0" rtlCol="0" anchor="ctr"/>
          <a:lstStyle/>
          <a:p>
            <a:pPr marL="0" indent="0" algn="ctr">
              <a:buNone/>
            </a:pPr>
            <a:r>
              <a:rPr lang="en-US" sz="1000" b="1" dirty="0">
                <a:solidFill>
                  <a:srgbClr val="FFFFFF"/>
                </a:solidFill>
              </a:rPr>
              <a:t>PREDICT &amp; SIMULATE</a:t>
            </a:r>
            <a:endParaRPr lang="en-US" sz="1000" dirty="0"/>
          </a:p>
        </p:txBody>
      </p:sp>
      <p:sp>
        <p:nvSpPr>
          <p:cNvPr id="57" name="Text 46"/>
          <p:cNvSpPr txBox="1"/>
          <p:nvPr/>
        </p:nvSpPr>
        <p:spPr>
          <a:xfrm>
            <a:off x="274320" y="4526280"/>
            <a:ext cx="411480" cy="1664208"/>
          </a:xfrm>
          <a:prstGeom prst="rect">
            <a:avLst/>
          </a:prstGeom>
          <a:solidFill>
            <a:srgbClr val="E9712F"/>
          </a:solidFill>
          <a:ln/>
        </p:spPr>
        <p:txBody>
          <a:bodyPr vert="vert270" wrap="square" lIns="0" tIns="0" rIns="0" bIns="0" rtlCol="0" anchor="ctr"/>
          <a:lstStyle/>
          <a:p>
            <a:pPr marL="0" indent="0" algn="ctr">
              <a:buNone/>
            </a:pPr>
            <a:r>
              <a:rPr lang="en-US" sz="1000" b="1" dirty="0">
                <a:solidFill>
                  <a:srgbClr val="FFFFFF"/>
                </a:solidFill>
              </a:rPr>
              <a:t>ACT &amp; EXPLAIN</a:t>
            </a:r>
            <a:endParaRPr lang="en-US" sz="10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itle tag"/>
          <p:cNvSpPr/>
          <p:nvPr/>
        </p:nvSpPr>
        <p:spPr>
          <a:xfrm>
            <a:off x="274320" y="109728"/>
            <a:ext cx="4436669" cy="603504"/>
          </a:xfrm>
          <a:prstGeom prst="rect">
            <a:avLst/>
          </a:prstGeom>
          <a:solidFill>
            <a:srgbClr val="FFFFFF"/>
          </a:solidFill>
          <a:ln w="22225">
            <a:solidFill>
              <a:srgbClr val="2F6DB5"/>
            </a:solidFill>
            <a:prstDash val="solid"/>
          </a:ln>
        </p:spPr>
      </p:sp>
      <p:sp>
        <p:nvSpPr>
          <p:cNvPr id="3" name="Text 10"/>
          <p:cNvSpPr>
            <a:spLocks noGrp="1"/>
          </p:cNvSpPr>
          <p:nvPr>
            <p:ph type="title" idx="111" hasCustomPrompt="1"/>
          </p:nvPr>
        </p:nvSpPr>
        <p:spPr>
          <a:xfrm>
            <a:off x="384048" y="128016"/>
            <a:ext cx="8686800" cy="566928"/>
          </a:xfrm>
          <a:prstGeom prst="rect">
            <a:avLst/>
          </a:prstGeom>
          <a:noFill/>
          <a:ln/>
        </p:spPr>
        <p:txBody>
          <a:bodyPr wrap="square" lIns="0" tIns="0" rIns="0" bIns="0" rtlCol="0" anchor="ctr"/>
          <a:lstStyle/>
          <a:p>
            <a:pPr marL="0" indent="0" algn="l">
              <a:buNone/>
            </a:pPr>
            <a:r>
              <a:rPr lang="en-US" sz="2600" b="1" dirty="0">
                <a:solidFill>
                  <a:srgbClr val="E9712F"/>
                </a:solidFill>
              </a:rPr>
              <a:t>Personal, Progressive Twin</a:t>
            </a:r>
            <a:endParaRPr lang="en-US" sz="2600" dirty="0"/>
          </a:p>
        </p:txBody>
      </p:sp>
      <p:sp>
        <p:nvSpPr>
          <p:cNvPr id="4" name="Glucose twin"/>
          <p:cNvSpPr/>
          <p:nvPr/>
        </p:nvSpPr>
        <p:spPr>
          <a:xfrm>
            <a:off x="320040" y="868680"/>
            <a:ext cx="3703320" cy="4160520"/>
          </a:xfrm>
          <a:prstGeom prst="roundRect">
            <a:avLst>
              <a:gd name="adj" fmla="val 2469"/>
            </a:avLst>
          </a:prstGeom>
          <a:solidFill>
            <a:srgbClr val="FDEBDF"/>
          </a:solidFill>
          <a:ln w="15875">
            <a:solidFill>
              <a:srgbClr val="F2A679"/>
            </a:solidFill>
            <a:prstDash val="dash"/>
          </a:ln>
        </p:spPr>
      </p:sp>
      <p:sp>
        <p:nvSpPr>
          <p:cNvPr id="5" name="Shape 3"/>
          <p:cNvSpPr/>
          <p:nvPr/>
        </p:nvSpPr>
        <p:spPr>
          <a:xfrm>
            <a:off x="457200" y="978408"/>
            <a:ext cx="420624" cy="420624"/>
          </a:xfrm>
          <a:prstGeom prst="ellipse">
            <a:avLst/>
          </a:prstGeom>
          <a:solidFill>
            <a:srgbClr val="E9712F"/>
          </a:solidFill>
          <a:ln w="12700">
            <a:solidFill>
              <a:srgbClr val="E9712F"/>
            </a:solidFill>
            <a:prstDash val="solid"/>
          </a:ln>
        </p:spPr>
      </p:sp>
      <p:pic>
        <p:nvPicPr>
          <p:cNvPr id="6" name="Image 0" descr="preencoded.png"/>
          <p:cNvPicPr>
            <a:picLocks noChangeAspect="1"/>
          </p:cNvPicPr>
          <p:nvPr/>
        </p:nvPicPr>
        <p:blipFill>
          <a:blip r:embed="rId3"/>
          <a:stretch>
            <a:fillRect/>
          </a:stretch>
        </p:blipFill>
        <p:spPr>
          <a:xfrm>
            <a:off x="549737" y="1070945"/>
            <a:ext cx="235549" cy="235549"/>
          </a:xfrm>
          <a:prstGeom prst="rect">
            <a:avLst/>
          </a:prstGeom>
        </p:spPr>
      </p:pic>
      <p:sp>
        <p:nvSpPr>
          <p:cNvPr id="7" name="Text 4"/>
          <p:cNvSpPr txBox="1"/>
          <p:nvPr/>
        </p:nvSpPr>
        <p:spPr>
          <a:xfrm>
            <a:off x="969264" y="950976"/>
            <a:ext cx="2971800" cy="512064"/>
          </a:xfrm>
          <a:prstGeom prst="rect">
            <a:avLst/>
          </a:prstGeom>
          <a:noFill/>
          <a:ln/>
        </p:spPr>
        <p:txBody>
          <a:bodyPr wrap="square" lIns="0" tIns="0" rIns="0" bIns="0" rtlCol="0" anchor="t"/>
          <a:lstStyle/>
          <a:p>
            <a:pPr marL="0" indent="0">
              <a:buNone/>
            </a:pPr>
            <a:r>
              <a:rPr lang="en-US" sz="1500" b="1" dirty="0">
                <a:solidFill>
                  <a:srgbClr val="1B3A5C"/>
                </a:solidFill>
                <a:latin typeface="Calibri" pitchFamily="34" charset="0"/>
                <a:ea typeface="Calibri" pitchFamily="34" charset="-122"/>
                <a:cs typeface="Calibri" pitchFamily="34" charset="-120"/>
              </a:rPr>
              <a:t>Glucose twin</a:t>
            </a:r>
            <a:endParaRPr lang="en-US" sz="1500" dirty="0"/>
          </a:p>
          <a:p>
            <a:pPr marL="0" indent="0">
              <a:buNone/>
            </a:pPr>
            <a:r>
              <a:rPr lang="en-US" sz="900" dirty="0">
                <a:solidFill>
                  <a:srgbClr val="52606D"/>
                </a:solidFill>
                <a:latin typeface="Courier New" pitchFamily="34" charset="0"/>
                <a:ea typeface="Courier New" pitchFamily="34" charset="-122"/>
                <a:cs typeface="Courier New" pitchFamily="34" charset="-120"/>
              </a:rPr>
              <a:t>src/twin/personal_glucose.py</a:t>
            </a:r>
            <a:endParaRPr lang="en-US" sz="1500" dirty="0"/>
          </a:p>
        </p:txBody>
      </p:sp>
      <p:sp>
        <p:nvSpPr>
          <p:cNvPr id="8" name="Text 5"/>
          <p:cNvSpPr txBox="1"/>
          <p:nvPr/>
        </p:nvSpPr>
        <p:spPr>
          <a:xfrm>
            <a:off x="475488" y="1554480"/>
            <a:ext cx="3429000" cy="822960"/>
          </a:xfrm>
          <a:prstGeom prst="rect">
            <a:avLst/>
          </a:prstGeom>
          <a:noFill/>
          <a:ln/>
        </p:spPr>
        <p:txBody>
          <a:bodyPr wrap="square" lIns="0" tIns="0" rIns="0" bIns="0" rtlCol="0" anchor="t"/>
          <a:lstStyle/>
          <a:p>
            <a:pPr marL="0" indent="0">
              <a:buNone/>
            </a:pPr>
            <a:r>
              <a:rPr lang="en-US" sz="1100" dirty="0">
                <a:solidFill>
                  <a:srgbClr val="1F2A37"/>
                </a:solidFill>
                <a:latin typeface="Calibri" pitchFamily="34" charset="0"/>
                <a:ea typeface="Calibri" pitchFamily="34" charset="-122"/>
                <a:cs typeface="Calibri" pitchFamily="34" charset="-120"/>
              </a:rPr>
              <a:t>A small physiological model (baseline + morning rise + gamma shaped meal responses + walking effect) tuned to the patient's own CGM, meals and heart rate.</a:t>
            </a:r>
            <a:endParaRPr lang="en-US" sz="1100" dirty="0"/>
          </a:p>
        </p:txBody>
      </p:sp>
      <p:sp>
        <p:nvSpPr>
          <p:cNvPr id="9" name="Shape 6"/>
          <p:cNvSpPr/>
          <p:nvPr/>
        </p:nvSpPr>
        <p:spPr>
          <a:xfrm>
            <a:off x="475488" y="2450592"/>
            <a:ext cx="1627632" cy="868680"/>
          </a:xfrm>
          <a:prstGeom prst="roundRect">
            <a:avLst>
              <a:gd name="adj" fmla="val 8421"/>
            </a:avLst>
          </a:prstGeom>
          <a:solidFill>
            <a:srgbClr val="FFFFFF"/>
          </a:solidFill>
          <a:ln w="9525">
            <a:solidFill>
              <a:srgbClr val="F2A679"/>
            </a:solidFill>
            <a:prstDash val="solid"/>
          </a:ln>
        </p:spPr>
      </p:sp>
      <p:sp>
        <p:nvSpPr>
          <p:cNvPr id="10" name="Text 7"/>
          <p:cNvSpPr txBox="1"/>
          <p:nvPr/>
        </p:nvSpPr>
        <p:spPr>
          <a:xfrm>
            <a:off x="566928" y="2505456"/>
            <a:ext cx="1463040" cy="411480"/>
          </a:xfrm>
          <a:prstGeom prst="rect">
            <a:avLst/>
          </a:prstGeom>
          <a:noFill/>
          <a:ln/>
        </p:spPr>
        <p:txBody>
          <a:bodyPr wrap="square" lIns="0" tIns="0" rIns="0" bIns="0" rtlCol="0" anchor="ctr"/>
          <a:lstStyle/>
          <a:p>
            <a:pPr marL="0" indent="0">
              <a:buNone/>
            </a:pPr>
            <a:r>
              <a:rPr lang="en-US" sz="2100" b="1" dirty="0">
                <a:solidFill>
                  <a:srgbClr val="E9712F"/>
                </a:solidFill>
                <a:latin typeface="Calibri" pitchFamily="34" charset="0"/>
                <a:ea typeface="Calibri" pitchFamily="34" charset="-122"/>
                <a:cs typeface="Calibri" pitchFamily="34" charset="-120"/>
              </a:rPr>
              <a:t>+12.9</a:t>
            </a:r>
            <a:endParaRPr lang="en-US" sz="2100" dirty="0"/>
          </a:p>
        </p:txBody>
      </p:sp>
      <p:sp>
        <p:nvSpPr>
          <p:cNvPr id="11" name="Text 8"/>
          <p:cNvSpPr txBox="1"/>
          <p:nvPr/>
        </p:nvSpPr>
        <p:spPr>
          <a:xfrm>
            <a:off x="566928" y="2907792"/>
            <a:ext cx="1481328" cy="384048"/>
          </a:xfrm>
          <a:prstGeom prst="rect">
            <a:avLst/>
          </a:prstGeom>
          <a:noFill/>
          <a:ln/>
        </p:spPr>
        <p:txBody>
          <a:bodyPr wrap="square" lIns="0" tIns="0" rIns="0" bIns="0" rtlCol="0" anchor="t"/>
          <a:lstStyle/>
          <a:p>
            <a:pPr marL="0" indent="0">
              <a:buNone/>
            </a:pPr>
            <a:r>
              <a:rPr lang="en-US" sz="950" dirty="0">
                <a:solidFill>
                  <a:srgbClr val="1F2A37"/>
                </a:solidFill>
                <a:latin typeface="Calibri" pitchFamily="34" charset="0"/>
                <a:ea typeface="Calibri" pitchFamily="34" charset="-122"/>
                <a:cs typeface="Calibri" pitchFamily="34" charset="-120"/>
              </a:rPr>
              <a:t>mg/dL per 10 g carbs</a:t>
            </a:r>
            <a:endParaRPr lang="en-US" sz="950" dirty="0"/>
          </a:p>
        </p:txBody>
      </p:sp>
      <p:sp>
        <p:nvSpPr>
          <p:cNvPr id="12" name="Shape 9"/>
          <p:cNvSpPr/>
          <p:nvPr/>
        </p:nvSpPr>
        <p:spPr>
          <a:xfrm>
            <a:off x="2212848" y="2450592"/>
            <a:ext cx="1627632" cy="868680"/>
          </a:xfrm>
          <a:prstGeom prst="roundRect">
            <a:avLst>
              <a:gd name="adj" fmla="val 8421"/>
            </a:avLst>
          </a:prstGeom>
          <a:solidFill>
            <a:srgbClr val="FFFFFF"/>
          </a:solidFill>
          <a:ln w="9525">
            <a:solidFill>
              <a:srgbClr val="F2A679"/>
            </a:solidFill>
            <a:prstDash val="solid"/>
          </a:ln>
        </p:spPr>
      </p:sp>
      <p:sp>
        <p:nvSpPr>
          <p:cNvPr id="13" name="Text 10"/>
          <p:cNvSpPr txBox="1"/>
          <p:nvPr/>
        </p:nvSpPr>
        <p:spPr>
          <a:xfrm>
            <a:off x="2304288" y="2505456"/>
            <a:ext cx="1463040" cy="411480"/>
          </a:xfrm>
          <a:prstGeom prst="rect">
            <a:avLst/>
          </a:prstGeom>
          <a:noFill/>
          <a:ln/>
        </p:spPr>
        <p:txBody>
          <a:bodyPr wrap="square" lIns="0" tIns="0" rIns="0" bIns="0" rtlCol="0" anchor="ctr"/>
          <a:lstStyle/>
          <a:p>
            <a:pPr marL="0" indent="0">
              <a:buNone/>
            </a:pPr>
            <a:r>
              <a:rPr lang="en-US" sz="2100" b="1" dirty="0">
                <a:solidFill>
                  <a:srgbClr val="E9712F"/>
                </a:solidFill>
                <a:latin typeface="Calibri" pitchFamily="34" charset="0"/>
                <a:ea typeface="Calibri" pitchFamily="34" charset="-122"/>
                <a:cs typeface="Calibri" pitchFamily="34" charset="-120"/>
              </a:rPr>
              <a:t>50 min</a:t>
            </a:r>
            <a:endParaRPr lang="en-US" sz="2100" dirty="0"/>
          </a:p>
        </p:txBody>
      </p:sp>
      <p:sp>
        <p:nvSpPr>
          <p:cNvPr id="14" name="Text 11"/>
          <p:cNvSpPr txBox="1"/>
          <p:nvPr/>
        </p:nvSpPr>
        <p:spPr>
          <a:xfrm>
            <a:off x="2304288" y="2907792"/>
            <a:ext cx="1481328" cy="384048"/>
          </a:xfrm>
          <a:prstGeom prst="rect">
            <a:avLst/>
          </a:prstGeom>
          <a:noFill/>
          <a:ln/>
        </p:spPr>
        <p:txBody>
          <a:bodyPr wrap="square" lIns="0" tIns="0" rIns="0" bIns="0" rtlCol="0" anchor="t"/>
          <a:lstStyle/>
          <a:p>
            <a:pPr marL="0" indent="0">
              <a:buNone/>
            </a:pPr>
            <a:r>
              <a:rPr lang="en-US" sz="950" dirty="0">
                <a:solidFill>
                  <a:srgbClr val="1F2A37"/>
                </a:solidFill>
                <a:latin typeface="Calibri" pitchFamily="34" charset="0"/>
                <a:ea typeface="Calibri" pitchFamily="34" charset="-122"/>
                <a:cs typeface="Calibri" pitchFamily="34" charset="-120"/>
              </a:rPr>
              <a:t>to peak after eating</a:t>
            </a:r>
            <a:endParaRPr lang="en-US" sz="950" dirty="0"/>
          </a:p>
        </p:txBody>
      </p:sp>
      <p:sp>
        <p:nvSpPr>
          <p:cNvPr id="15" name="Shape 12"/>
          <p:cNvSpPr/>
          <p:nvPr/>
        </p:nvSpPr>
        <p:spPr>
          <a:xfrm>
            <a:off x="475488" y="3410712"/>
            <a:ext cx="1627632" cy="868680"/>
          </a:xfrm>
          <a:prstGeom prst="roundRect">
            <a:avLst>
              <a:gd name="adj" fmla="val 8421"/>
            </a:avLst>
          </a:prstGeom>
          <a:solidFill>
            <a:srgbClr val="FFFFFF"/>
          </a:solidFill>
          <a:ln w="9525">
            <a:solidFill>
              <a:srgbClr val="F2A679"/>
            </a:solidFill>
            <a:prstDash val="solid"/>
          </a:ln>
        </p:spPr>
      </p:sp>
      <p:sp>
        <p:nvSpPr>
          <p:cNvPr id="16" name="Text 13"/>
          <p:cNvSpPr txBox="1"/>
          <p:nvPr/>
        </p:nvSpPr>
        <p:spPr>
          <a:xfrm>
            <a:off x="566928" y="3465576"/>
            <a:ext cx="1463040" cy="411480"/>
          </a:xfrm>
          <a:prstGeom prst="rect">
            <a:avLst/>
          </a:prstGeom>
          <a:noFill/>
          <a:ln/>
        </p:spPr>
        <p:txBody>
          <a:bodyPr wrap="square" lIns="0" tIns="0" rIns="0" bIns="0" rtlCol="0" anchor="ctr"/>
          <a:lstStyle/>
          <a:p>
            <a:pPr marL="0" indent="0">
              <a:buNone/>
            </a:pPr>
            <a:r>
              <a:rPr lang="en-US" sz="2100" b="1" dirty="0">
                <a:solidFill>
                  <a:srgbClr val="E9712F"/>
                </a:solidFill>
                <a:latin typeface="Calibri" pitchFamily="34" charset="0"/>
                <a:ea typeface="Calibri" pitchFamily="34" charset="-122"/>
                <a:cs typeface="Calibri" pitchFamily="34" charset="-120"/>
              </a:rPr>
              <a:t>−14</a:t>
            </a:r>
            <a:endParaRPr lang="en-US" sz="2100" dirty="0"/>
          </a:p>
        </p:txBody>
      </p:sp>
      <p:sp>
        <p:nvSpPr>
          <p:cNvPr id="17" name="Text 14"/>
          <p:cNvSpPr txBox="1"/>
          <p:nvPr/>
        </p:nvSpPr>
        <p:spPr>
          <a:xfrm>
            <a:off x="566928" y="3867912"/>
            <a:ext cx="1481328" cy="384048"/>
          </a:xfrm>
          <a:prstGeom prst="rect">
            <a:avLst/>
          </a:prstGeom>
          <a:noFill/>
          <a:ln/>
        </p:spPr>
        <p:txBody>
          <a:bodyPr wrap="square" lIns="0" tIns="0" rIns="0" bIns="0" rtlCol="0" anchor="t"/>
          <a:lstStyle/>
          <a:p>
            <a:pPr marL="0" indent="0">
              <a:buNone/>
            </a:pPr>
            <a:r>
              <a:rPr lang="en-US" sz="950" dirty="0">
                <a:solidFill>
                  <a:srgbClr val="1F2A37"/>
                </a:solidFill>
                <a:latin typeface="Calibri" pitchFamily="34" charset="0"/>
                <a:ea typeface="Calibri" pitchFamily="34" charset="-122"/>
                <a:cs typeface="Calibri" pitchFamily="34" charset="-120"/>
              </a:rPr>
              <a:t>mg/dL after a 15-min walk</a:t>
            </a:r>
            <a:endParaRPr lang="en-US" sz="950" dirty="0"/>
          </a:p>
        </p:txBody>
      </p:sp>
      <p:sp>
        <p:nvSpPr>
          <p:cNvPr id="18" name="Shape 15"/>
          <p:cNvSpPr/>
          <p:nvPr/>
        </p:nvSpPr>
        <p:spPr>
          <a:xfrm>
            <a:off x="2212848" y="3410712"/>
            <a:ext cx="1627632" cy="868680"/>
          </a:xfrm>
          <a:prstGeom prst="roundRect">
            <a:avLst>
              <a:gd name="adj" fmla="val 8421"/>
            </a:avLst>
          </a:prstGeom>
          <a:solidFill>
            <a:srgbClr val="FFFFFF"/>
          </a:solidFill>
          <a:ln w="9525">
            <a:solidFill>
              <a:srgbClr val="F2A679"/>
            </a:solidFill>
            <a:prstDash val="solid"/>
          </a:ln>
        </p:spPr>
      </p:sp>
      <p:sp>
        <p:nvSpPr>
          <p:cNvPr id="19" name="Text 16"/>
          <p:cNvSpPr txBox="1"/>
          <p:nvPr/>
        </p:nvSpPr>
        <p:spPr>
          <a:xfrm>
            <a:off x="2304288" y="3465576"/>
            <a:ext cx="1463040" cy="411480"/>
          </a:xfrm>
          <a:prstGeom prst="rect">
            <a:avLst/>
          </a:prstGeom>
          <a:noFill/>
          <a:ln/>
        </p:spPr>
        <p:txBody>
          <a:bodyPr wrap="square" lIns="0" tIns="0" rIns="0" bIns="0" rtlCol="0" anchor="ctr"/>
          <a:lstStyle/>
          <a:p>
            <a:pPr marL="0" indent="0">
              <a:buNone/>
            </a:pPr>
            <a:r>
              <a:rPr lang="en-US" sz="2100" b="1" dirty="0">
                <a:solidFill>
                  <a:srgbClr val="E9712F"/>
                </a:solidFill>
                <a:latin typeface="Calibri" pitchFamily="34" charset="0"/>
                <a:ea typeface="Calibri" pitchFamily="34" charset="-122"/>
                <a:cs typeface="Calibri" pitchFamily="34" charset="-120"/>
              </a:rPr>
              <a:t>≈ 8</a:t>
            </a:r>
            <a:endParaRPr lang="en-US" sz="2100" dirty="0"/>
          </a:p>
        </p:txBody>
      </p:sp>
      <p:sp>
        <p:nvSpPr>
          <p:cNvPr id="20" name="Text 17"/>
          <p:cNvSpPr txBox="1"/>
          <p:nvPr/>
        </p:nvSpPr>
        <p:spPr>
          <a:xfrm>
            <a:off x="2304288" y="3867912"/>
            <a:ext cx="1481328" cy="384048"/>
          </a:xfrm>
          <a:prstGeom prst="rect">
            <a:avLst/>
          </a:prstGeom>
          <a:noFill/>
          <a:ln/>
        </p:spPr>
        <p:txBody>
          <a:bodyPr wrap="square" lIns="0" tIns="0" rIns="0" bIns="0" rtlCol="0" anchor="t"/>
          <a:lstStyle/>
          <a:p>
            <a:pPr marL="0" indent="0">
              <a:buNone/>
            </a:pPr>
            <a:r>
              <a:rPr lang="en-US" sz="950" dirty="0">
                <a:solidFill>
                  <a:srgbClr val="1F2A37"/>
                </a:solidFill>
                <a:latin typeface="Calibri" pitchFamily="34" charset="0"/>
                <a:ea typeface="Calibri" pitchFamily="34" charset="-122"/>
                <a:cs typeface="Calibri" pitchFamily="34" charset="-120"/>
              </a:rPr>
              <a:t>mg/dL twin-vs-real error</a:t>
            </a:r>
            <a:endParaRPr lang="en-US" sz="950" dirty="0"/>
          </a:p>
        </p:txBody>
      </p:sp>
      <p:sp>
        <p:nvSpPr>
          <p:cNvPr id="21" name="Text 18"/>
          <p:cNvSpPr txBox="1"/>
          <p:nvPr/>
        </p:nvSpPr>
        <p:spPr>
          <a:xfrm>
            <a:off x="475488" y="4389120"/>
            <a:ext cx="3429000" cy="594360"/>
          </a:xfrm>
          <a:prstGeom prst="rect">
            <a:avLst/>
          </a:prstGeom>
          <a:noFill/>
          <a:ln/>
        </p:spPr>
        <p:txBody>
          <a:bodyPr wrap="square" lIns="0" tIns="0" rIns="0" bIns="0" rtlCol="0" anchor="t"/>
          <a:lstStyle/>
          <a:p>
            <a:pPr marL="0" indent="0">
              <a:buNone/>
            </a:pPr>
            <a:r>
              <a:rPr lang="en-US" sz="950" i="1" dirty="0">
                <a:solidFill>
                  <a:srgbClr val="52606D"/>
                </a:solidFill>
                <a:latin typeface="Calibri" pitchFamily="34" charset="0"/>
                <a:ea typeface="Calibri" pitchFamily="34" charset="-122"/>
                <a:cs typeface="Calibri" pitchFamily="34" charset="-120"/>
              </a:rPr>
              <a:t>Learned on a demo patient. "Twin vs real" replays the last 3 days, which are not used for tuning. What-if: "if I eat this now / walk after".</a:t>
            </a:r>
            <a:endParaRPr lang="en-US" sz="950" dirty="0"/>
          </a:p>
        </p:txBody>
      </p:sp>
      <p:sp>
        <p:nvSpPr>
          <p:cNvPr id="22" name="Kidney twin"/>
          <p:cNvSpPr/>
          <p:nvPr/>
        </p:nvSpPr>
        <p:spPr>
          <a:xfrm>
            <a:off x="4242816" y="868680"/>
            <a:ext cx="3703320" cy="4160520"/>
          </a:xfrm>
          <a:prstGeom prst="roundRect">
            <a:avLst>
              <a:gd name="adj" fmla="val 2469"/>
            </a:avLst>
          </a:prstGeom>
          <a:solidFill>
            <a:srgbClr val="EEF5FC"/>
          </a:solidFill>
          <a:ln w="15875">
            <a:solidFill>
              <a:srgbClr val="8DBBE6"/>
            </a:solidFill>
            <a:prstDash val="dash"/>
          </a:ln>
        </p:spPr>
      </p:sp>
      <p:sp>
        <p:nvSpPr>
          <p:cNvPr id="23" name="Shape 20"/>
          <p:cNvSpPr/>
          <p:nvPr/>
        </p:nvSpPr>
        <p:spPr>
          <a:xfrm>
            <a:off x="4379976" y="978408"/>
            <a:ext cx="420624" cy="420624"/>
          </a:xfrm>
          <a:prstGeom prst="ellipse">
            <a:avLst/>
          </a:prstGeom>
          <a:solidFill>
            <a:srgbClr val="2F6DB5"/>
          </a:solidFill>
          <a:ln w="12700">
            <a:solidFill>
              <a:srgbClr val="2F6DB5"/>
            </a:solidFill>
            <a:prstDash val="solid"/>
          </a:ln>
        </p:spPr>
      </p:sp>
      <p:pic>
        <p:nvPicPr>
          <p:cNvPr id="24" name="Image 1" descr="preencoded.png"/>
          <p:cNvPicPr>
            <a:picLocks noChangeAspect="1"/>
          </p:cNvPicPr>
          <p:nvPr/>
        </p:nvPicPr>
        <p:blipFill>
          <a:blip r:embed="rId4"/>
          <a:stretch>
            <a:fillRect/>
          </a:stretch>
        </p:blipFill>
        <p:spPr>
          <a:xfrm>
            <a:off x="4472513" y="1070945"/>
            <a:ext cx="235549" cy="235549"/>
          </a:xfrm>
          <a:prstGeom prst="rect">
            <a:avLst/>
          </a:prstGeom>
        </p:spPr>
      </p:pic>
      <p:sp>
        <p:nvSpPr>
          <p:cNvPr id="25" name="Text 21"/>
          <p:cNvSpPr txBox="1"/>
          <p:nvPr/>
        </p:nvSpPr>
        <p:spPr>
          <a:xfrm>
            <a:off x="4892040" y="950976"/>
            <a:ext cx="2971800" cy="512064"/>
          </a:xfrm>
          <a:prstGeom prst="rect">
            <a:avLst/>
          </a:prstGeom>
          <a:noFill/>
          <a:ln/>
        </p:spPr>
        <p:txBody>
          <a:bodyPr wrap="square" lIns="0" tIns="0" rIns="0" bIns="0" rtlCol="0" anchor="t"/>
          <a:lstStyle/>
          <a:p>
            <a:pPr marL="0" indent="0">
              <a:buNone/>
            </a:pPr>
            <a:r>
              <a:rPr lang="en-US" sz="1500" b="1" dirty="0">
                <a:solidFill>
                  <a:srgbClr val="1B3A5C"/>
                </a:solidFill>
                <a:latin typeface="Calibri" pitchFamily="34" charset="0"/>
                <a:ea typeface="Calibri" pitchFamily="34" charset="-122"/>
                <a:cs typeface="Calibri" pitchFamily="34" charset="-120"/>
              </a:rPr>
              <a:t>Kidney twin</a:t>
            </a:r>
            <a:endParaRPr lang="en-US" sz="1500" dirty="0"/>
          </a:p>
          <a:p>
            <a:pPr marL="0" indent="0">
              <a:buNone/>
            </a:pPr>
            <a:r>
              <a:rPr lang="en-US" sz="900" dirty="0">
                <a:solidFill>
                  <a:srgbClr val="52606D"/>
                </a:solidFill>
                <a:latin typeface="Courier New" pitchFamily="34" charset="0"/>
                <a:ea typeface="Courier New" pitchFamily="34" charset="-122"/>
                <a:cs typeface="Courier New" pitchFamily="34" charset="-120"/>
              </a:rPr>
              <a:t>src/twin/personal_kidney.py</a:t>
            </a:r>
            <a:endParaRPr lang="en-US" sz="1500" dirty="0"/>
          </a:p>
        </p:txBody>
      </p:sp>
      <p:sp>
        <p:nvSpPr>
          <p:cNvPr id="26" name="Text 22"/>
          <p:cNvSpPr txBox="1"/>
          <p:nvPr/>
        </p:nvSpPr>
        <p:spPr>
          <a:xfrm>
            <a:off x="4398264" y="1554480"/>
            <a:ext cx="3429000" cy="822960"/>
          </a:xfrm>
          <a:prstGeom prst="rect">
            <a:avLst/>
          </a:prstGeom>
          <a:noFill/>
          <a:ln/>
        </p:spPr>
        <p:txBody>
          <a:bodyPr wrap="square" lIns="0" tIns="0" rIns="0" bIns="0" rtlCol="0" anchor="t"/>
          <a:lstStyle/>
          <a:p>
            <a:pPr marL="0" indent="0">
              <a:buNone/>
            </a:pPr>
            <a:r>
              <a:rPr lang="en-US" sz="1100" dirty="0">
                <a:solidFill>
                  <a:srgbClr val="1F2A37"/>
                </a:solidFill>
                <a:latin typeface="Calibri" pitchFamily="34" charset="0"/>
                <a:ea typeface="Calibri" pitchFamily="34" charset="-122"/>
                <a:cs typeface="Calibri" pitchFamily="34" charset="-120"/>
              </a:rPr>
              <a:t>The patient's own eGFR and UACR path. It starts from the population slope and is updated by Bayes' rule with every new lab result.</a:t>
            </a:r>
            <a:endParaRPr lang="en-US" sz="1100" dirty="0"/>
          </a:p>
        </p:txBody>
      </p:sp>
      <p:sp>
        <p:nvSpPr>
          <p:cNvPr id="27" name="Text 23"/>
          <p:cNvSpPr txBox="1"/>
          <p:nvPr/>
        </p:nvSpPr>
        <p:spPr>
          <a:xfrm>
            <a:off x="4398264" y="2450592"/>
            <a:ext cx="3429000" cy="1600200"/>
          </a:xfrm>
          <a:prstGeom prst="rect">
            <a:avLst/>
          </a:prstGeom>
          <a:noFill/>
          <a:ln/>
        </p:spPr>
        <p:txBody>
          <a:bodyPr wrap="square" lIns="0" tIns="0" rIns="0" bIns="0" rtlCol="0" anchor="t"/>
          <a:lstStyle/>
          <a:p>
            <a:pPr marL="152400" indent="-152400">
              <a:spcAft>
                <a:spcPts val="800"/>
              </a:spcAft>
              <a:buSzPct val="100000"/>
              <a:buChar char="•"/>
            </a:pPr>
            <a:r>
              <a:rPr lang="en-US" sz="1200" b="1" dirty="0">
                <a:solidFill>
                  <a:srgbClr val="1B3A5C"/>
                </a:solidFill>
                <a:latin typeface="Calibri" pitchFamily="34" charset="0"/>
                <a:ea typeface="Calibri" pitchFamily="34" charset="-122"/>
                <a:cs typeface="Calibri" pitchFamily="34" charset="-120"/>
              </a:rPr>
              <a:t>Projection </a:t>
            </a:r>
            <a:r>
              <a:rPr lang="en-US" sz="1200" dirty="0">
                <a:solidFill>
                  <a:srgbClr val="1F2A37"/>
                </a:solidFill>
                <a:latin typeface="Calibri" pitchFamily="34" charset="0"/>
                <a:ea typeface="Calibri" pitchFamily="34" charset="-122"/>
                <a:cs typeface="Calibri" pitchFamily="34" charset="-120"/>
              </a:rPr>
              <a:t>with an 80% band</a:t>
            </a:r>
            <a:endParaRPr lang="en-US" sz="1200" dirty="0"/>
          </a:p>
          <a:p>
            <a:pPr marL="152400" indent="-152400">
              <a:spcAft>
                <a:spcPts val="800"/>
              </a:spcAft>
              <a:buSzPct val="100000"/>
              <a:buChar char="•"/>
            </a:pPr>
            <a:r>
              <a:rPr lang="en-US" sz="1200" b="1" dirty="0">
                <a:solidFill>
                  <a:srgbClr val="1B3A5C"/>
                </a:solidFill>
                <a:latin typeface="Calibri" pitchFamily="34" charset="0"/>
                <a:ea typeface="Calibri" pitchFamily="34" charset="-122"/>
                <a:cs typeface="Calibri" pitchFamily="34" charset="-120"/>
              </a:rPr>
              <a:t>Years to eGFR 60 / 45 / 30 </a:t>
            </a:r>
            <a:r>
              <a:rPr lang="en-US" sz="1200" dirty="0">
                <a:solidFill>
                  <a:srgbClr val="1F2A37"/>
                </a:solidFill>
                <a:latin typeface="Calibri" pitchFamily="34" charset="0"/>
                <a:ea typeface="Calibri" pitchFamily="34" charset="-122"/>
                <a:cs typeface="Calibri" pitchFamily="34" charset="-120"/>
              </a:rPr>
              <a:t>for this patient</a:t>
            </a:r>
            <a:endParaRPr lang="en-US" sz="1200" dirty="0"/>
          </a:p>
          <a:p>
            <a:pPr marL="152400" indent="-152400">
              <a:spcAft>
                <a:spcPts val="800"/>
              </a:spcAft>
              <a:buSzPct val="100000"/>
              <a:buChar char="•"/>
            </a:pPr>
            <a:r>
              <a:rPr lang="en-US" sz="1200" b="1" dirty="0">
                <a:solidFill>
                  <a:srgbClr val="1B3A5C"/>
                </a:solidFill>
                <a:latin typeface="Calibri" pitchFamily="34" charset="0"/>
                <a:ea typeface="Calibri" pitchFamily="34" charset="-122"/>
                <a:cs typeface="Calibri" pitchFamily="34" charset="-120"/>
              </a:rPr>
              <a:t>Same path with treatments </a:t>
            </a:r>
            <a:r>
              <a:rPr lang="en-US" sz="1200" dirty="0">
                <a:solidFill>
                  <a:srgbClr val="1F2A37"/>
                </a:solidFill>
                <a:latin typeface="Calibri" pitchFamily="34" charset="0"/>
                <a:ea typeface="Calibri" pitchFamily="34" charset="-122"/>
                <a:cs typeface="Calibri" pitchFamily="34" charset="-120"/>
              </a:rPr>
              <a:t>applied, side by side</a:t>
            </a:r>
            <a:endParaRPr lang="en-US" sz="1200" dirty="0"/>
          </a:p>
          <a:p>
            <a:pPr marL="152400" indent="-152400">
              <a:spcAft>
                <a:spcPts val="800"/>
              </a:spcAft>
              <a:buSzPct val="100000"/>
              <a:buChar char="•"/>
            </a:pPr>
            <a:r>
              <a:rPr lang="en-US" sz="1200" b="1" dirty="0">
                <a:solidFill>
                  <a:srgbClr val="1B3A5C"/>
                </a:solidFill>
                <a:latin typeface="Calibri" pitchFamily="34" charset="0"/>
                <a:ea typeface="Calibri" pitchFamily="34" charset="-122"/>
                <a:cs typeface="Calibri" pitchFamily="34" charset="-120"/>
              </a:rPr>
              <a:t>Re-runs </a:t>
            </a:r>
            <a:r>
              <a:rPr lang="en-US" sz="1200" dirty="0">
                <a:solidFill>
                  <a:srgbClr val="1F2A37"/>
                </a:solidFill>
                <a:latin typeface="Calibri" pitchFamily="34" charset="0"/>
                <a:ea typeface="Calibri" pitchFamily="34" charset="-122"/>
                <a:cs typeface="Calibri" pitchFamily="34" charset="-120"/>
              </a:rPr>
              <a:t>on every new eGFR or UACR</a:t>
            </a:r>
            <a:endParaRPr lang="en-US" sz="1200" dirty="0"/>
          </a:p>
        </p:txBody>
      </p:sp>
      <p:sp>
        <p:nvSpPr>
          <p:cNvPr id="28" name="Shape 24"/>
          <p:cNvSpPr/>
          <p:nvPr/>
        </p:nvSpPr>
        <p:spPr>
          <a:xfrm>
            <a:off x="4398264" y="4114800"/>
            <a:ext cx="3392424" cy="777240"/>
          </a:xfrm>
          <a:prstGeom prst="roundRect">
            <a:avLst>
              <a:gd name="adj" fmla="val 9412"/>
            </a:avLst>
          </a:prstGeom>
          <a:solidFill>
            <a:srgbClr val="FFFFFF"/>
          </a:solidFill>
          <a:ln w="9525">
            <a:solidFill>
              <a:srgbClr val="8DBBE6"/>
            </a:solidFill>
            <a:prstDash val="solid"/>
          </a:ln>
        </p:spPr>
      </p:sp>
      <p:sp>
        <p:nvSpPr>
          <p:cNvPr id="29" name="Text 25"/>
          <p:cNvSpPr txBox="1"/>
          <p:nvPr/>
        </p:nvSpPr>
        <p:spPr>
          <a:xfrm>
            <a:off x="4507992" y="4142232"/>
            <a:ext cx="3200400" cy="722376"/>
          </a:xfrm>
          <a:prstGeom prst="rect">
            <a:avLst/>
          </a:prstGeom>
          <a:noFill/>
          <a:ln/>
        </p:spPr>
        <p:txBody>
          <a:bodyPr wrap="square" lIns="0" tIns="0" rIns="0" bIns="0" rtlCol="0" anchor="ctr"/>
          <a:lstStyle/>
          <a:p>
            <a:pPr marL="0" indent="0">
              <a:buNone/>
            </a:pPr>
            <a:r>
              <a:rPr lang="en-US" sz="1050" i="1" dirty="0">
                <a:solidFill>
                  <a:srgbClr val="1B3A5C"/>
                </a:solidFill>
                <a:latin typeface="Calibri" pitchFamily="34" charset="0"/>
                <a:ea typeface="Calibri" pitchFamily="34" charset="-122"/>
                <a:cs typeface="Calibri" pitchFamily="34" charset="-120"/>
              </a:rPr>
              <a:t>Prior: the population eGFR slope. Each new eGFR or UACR moves the projection toward this patient's own trend.</a:t>
            </a:r>
            <a:endParaRPr lang="en-US" sz="1050" dirty="0"/>
          </a:p>
        </p:txBody>
      </p:sp>
      <p:sp>
        <p:nvSpPr>
          <p:cNvPr id="30" name="Progressive"/>
          <p:cNvSpPr/>
          <p:nvPr/>
        </p:nvSpPr>
        <p:spPr>
          <a:xfrm>
            <a:off x="8165592" y="868680"/>
            <a:ext cx="3721608" cy="4160520"/>
          </a:xfrm>
          <a:prstGeom prst="roundRect">
            <a:avLst>
              <a:gd name="adj" fmla="val 2457"/>
            </a:avLst>
          </a:prstGeom>
          <a:solidFill>
            <a:srgbClr val="FDEBDF"/>
          </a:solidFill>
          <a:ln w="15875">
            <a:solidFill>
              <a:srgbClr val="F2A679"/>
            </a:solidFill>
            <a:prstDash val="dash"/>
          </a:ln>
        </p:spPr>
      </p:sp>
      <p:sp>
        <p:nvSpPr>
          <p:cNvPr id="31" name="Shape 27"/>
          <p:cNvSpPr/>
          <p:nvPr/>
        </p:nvSpPr>
        <p:spPr>
          <a:xfrm>
            <a:off x="8302752" y="978408"/>
            <a:ext cx="420624" cy="420624"/>
          </a:xfrm>
          <a:prstGeom prst="ellipse">
            <a:avLst/>
          </a:prstGeom>
          <a:solidFill>
            <a:srgbClr val="E9712F"/>
          </a:solidFill>
          <a:ln w="12700">
            <a:solidFill>
              <a:srgbClr val="E9712F"/>
            </a:solidFill>
            <a:prstDash val="solid"/>
          </a:ln>
        </p:spPr>
      </p:sp>
      <p:pic>
        <p:nvPicPr>
          <p:cNvPr id="32" name="Image 2" descr="preencoded.png"/>
          <p:cNvPicPr>
            <a:picLocks noChangeAspect="1"/>
          </p:cNvPicPr>
          <p:nvPr/>
        </p:nvPicPr>
        <p:blipFill>
          <a:blip r:embed="rId5"/>
          <a:stretch>
            <a:fillRect/>
          </a:stretch>
        </p:blipFill>
        <p:spPr>
          <a:xfrm>
            <a:off x="8395289" y="1070945"/>
            <a:ext cx="235549" cy="235549"/>
          </a:xfrm>
          <a:prstGeom prst="rect">
            <a:avLst/>
          </a:prstGeom>
        </p:spPr>
      </p:pic>
      <p:sp>
        <p:nvSpPr>
          <p:cNvPr id="33" name="Text 28"/>
          <p:cNvSpPr txBox="1"/>
          <p:nvPr/>
        </p:nvSpPr>
        <p:spPr>
          <a:xfrm>
            <a:off x="8814816" y="950976"/>
            <a:ext cx="3017520" cy="512064"/>
          </a:xfrm>
          <a:prstGeom prst="rect">
            <a:avLst/>
          </a:prstGeom>
          <a:noFill/>
          <a:ln/>
        </p:spPr>
        <p:txBody>
          <a:bodyPr wrap="square" lIns="0" tIns="0" rIns="0" bIns="0" rtlCol="0" anchor="t"/>
          <a:lstStyle/>
          <a:p>
            <a:pPr marL="0" indent="0">
              <a:buNone/>
            </a:pPr>
            <a:r>
              <a:rPr lang="en-US" sz="1500" b="1" dirty="0">
                <a:solidFill>
                  <a:srgbClr val="1B3A5C"/>
                </a:solidFill>
                <a:latin typeface="Calibri" pitchFamily="34" charset="0"/>
                <a:ea typeface="Calibri" pitchFamily="34" charset="-122"/>
                <a:cs typeface="Calibri" pitchFamily="34" charset="-120"/>
              </a:rPr>
              <a:t>Progressive learning</a:t>
            </a:r>
            <a:endParaRPr lang="en-US" sz="1500" dirty="0"/>
          </a:p>
          <a:p>
            <a:pPr marL="0" indent="0">
              <a:buNone/>
            </a:pPr>
            <a:r>
              <a:rPr lang="en-US" sz="900" dirty="0">
                <a:solidFill>
                  <a:srgbClr val="52606D"/>
                </a:solidFill>
                <a:latin typeface="Courier New" pitchFamily="34" charset="0"/>
                <a:ea typeface="Courier New" pitchFamily="34" charset="-122"/>
                <a:cs typeface="Courier New" pitchFamily="34" charset="-120"/>
              </a:rPr>
              <a:t>config/clinical_rules.yaml: personal_twin</a:t>
            </a:r>
            <a:endParaRPr lang="en-US" sz="1500" dirty="0"/>
          </a:p>
        </p:txBody>
      </p:sp>
      <p:sp>
        <p:nvSpPr>
          <p:cNvPr id="34" name="Text 29"/>
          <p:cNvSpPr txBox="1"/>
          <p:nvPr/>
        </p:nvSpPr>
        <p:spPr>
          <a:xfrm>
            <a:off x="8321040" y="1554480"/>
            <a:ext cx="3429000" cy="822960"/>
          </a:xfrm>
          <a:prstGeom prst="rect">
            <a:avLst/>
          </a:prstGeom>
          <a:noFill/>
          <a:ln/>
        </p:spPr>
        <p:txBody>
          <a:bodyPr wrap="square" lIns="0" tIns="0" rIns="0" bIns="0" rtlCol="0" anchor="t"/>
          <a:lstStyle/>
          <a:p>
            <a:pPr marL="0" indent="0">
              <a:buNone/>
            </a:pPr>
            <a:r>
              <a:rPr lang="en-US" sz="1100" dirty="0">
                <a:solidFill>
                  <a:srgbClr val="1F2A37"/>
                </a:solidFill>
                <a:latin typeface="Calibri" pitchFamily="34" charset="0"/>
                <a:ea typeface="Calibri" pitchFamily="34" charset="-122"/>
                <a:cs typeface="Calibri" pitchFamily="34" charset="-120"/>
              </a:rPr>
              <a:t>Ridge / Bayesian shrinkage: a new patient starts at population values, and the twin becomes personal as data accumulates.</a:t>
            </a:r>
            <a:endParaRPr lang="en-US" sz="1100" dirty="0"/>
          </a:p>
        </p:txBody>
      </p:sp>
      <p:sp>
        <p:nvSpPr>
          <p:cNvPr id="35" name="Text 30"/>
          <p:cNvSpPr txBox="1"/>
          <p:nvPr/>
        </p:nvSpPr>
        <p:spPr>
          <a:xfrm>
            <a:off x="8321040" y="2450592"/>
            <a:ext cx="3429000" cy="1600200"/>
          </a:xfrm>
          <a:prstGeom prst="rect">
            <a:avLst/>
          </a:prstGeom>
          <a:noFill/>
          <a:ln/>
        </p:spPr>
        <p:txBody>
          <a:bodyPr wrap="square" lIns="0" tIns="0" rIns="0" bIns="0" rtlCol="0" anchor="t"/>
          <a:lstStyle/>
          <a:p>
            <a:pPr marL="152400" indent="-152400">
              <a:spcAft>
                <a:spcPts val="800"/>
              </a:spcAft>
              <a:buSzPct val="100000"/>
              <a:buChar char="•"/>
            </a:pPr>
            <a:r>
              <a:rPr lang="en-US" sz="1200" b="1" dirty="0">
                <a:solidFill>
                  <a:srgbClr val="1B3A5C"/>
                </a:solidFill>
                <a:latin typeface="Calibri" pitchFamily="34" charset="0"/>
                <a:ea typeface="Calibri" pitchFamily="34" charset="-122"/>
                <a:cs typeface="Calibri" pitchFamily="34" charset="-120"/>
              </a:rPr>
              <a:t>Maturity score </a:t>
            </a:r>
            <a:r>
              <a:rPr lang="en-US" sz="1200" dirty="0">
                <a:solidFill>
                  <a:srgbClr val="1F2A37"/>
                </a:solidFill>
                <a:latin typeface="Calibri" pitchFamily="34" charset="0"/>
                <a:ea typeface="Calibri" pitchFamily="34" charset="-122"/>
                <a:cs typeface="Calibri" pitchFamily="34" charset="-120"/>
              </a:rPr>
              <a:t>0-100%</a:t>
            </a:r>
            <a:endParaRPr lang="en-US" sz="1200" dirty="0"/>
          </a:p>
          <a:p>
            <a:pPr marL="152400" indent="-152400">
              <a:spcAft>
                <a:spcPts val="800"/>
              </a:spcAft>
              <a:buSzPct val="100000"/>
              <a:buChar char="•"/>
            </a:pPr>
            <a:r>
              <a:rPr lang="en-US" sz="1200" b="1" dirty="0">
                <a:solidFill>
                  <a:srgbClr val="1B3A5C"/>
                </a:solidFill>
                <a:latin typeface="Calibri" pitchFamily="34" charset="0"/>
                <a:ea typeface="Calibri" pitchFamily="34" charset="-122"/>
                <a:cs typeface="Calibri" pitchFamily="34" charset="-120"/>
              </a:rPr>
              <a:t>Learning curve: </a:t>
            </a:r>
            <a:r>
              <a:rPr lang="en-US" sz="1200" dirty="0">
                <a:solidFill>
                  <a:srgbClr val="1F2A37"/>
                </a:solidFill>
                <a:latin typeface="Calibri" pitchFamily="34" charset="0"/>
                <a:ea typeface="Calibri" pitchFamily="34" charset="-122"/>
                <a:cs typeface="Calibri" pitchFamily="34" charset="-120"/>
              </a:rPr>
              <a:t>error vs days of data</a:t>
            </a:r>
            <a:endParaRPr lang="en-US" sz="1200" dirty="0"/>
          </a:p>
          <a:p>
            <a:pPr marL="152400" indent="-152400">
              <a:spcAft>
                <a:spcPts val="800"/>
              </a:spcAft>
              <a:buSzPct val="100000"/>
              <a:buChar char="•"/>
            </a:pPr>
            <a:r>
              <a:rPr lang="en-US" sz="1200" b="1" dirty="0">
                <a:solidFill>
                  <a:srgbClr val="1B3A5C"/>
                </a:solidFill>
                <a:latin typeface="Calibri" pitchFamily="34" charset="0"/>
                <a:ea typeface="Calibri" pitchFamily="34" charset="-122"/>
                <a:cs typeface="Calibri" pitchFamily="34" charset="-120"/>
              </a:rPr>
              <a:t>History </a:t>
            </a:r>
            <a:r>
              <a:rPr lang="en-US" sz="1200" dirty="0">
                <a:solidFill>
                  <a:srgbClr val="1F2A37"/>
                </a:solidFill>
                <a:latin typeface="Calibri" pitchFamily="34" charset="0"/>
                <a:ea typeface="Calibri" pitchFamily="34" charset="-122"/>
                <a:cs typeface="Calibri" pitchFamily="34" charset="-120"/>
              </a:rPr>
              <a:t>of every re-tune</a:t>
            </a:r>
            <a:endParaRPr lang="en-US" sz="1200" dirty="0"/>
          </a:p>
          <a:p>
            <a:pPr marL="152400" indent="-152400">
              <a:spcAft>
                <a:spcPts val="800"/>
              </a:spcAft>
              <a:buSzPct val="100000"/>
              <a:buChar char="•"/>
            </a:pPr>
            <a:r>
              <a:rPr lang="en-US" sz="1200" b="1" dirty="0">
                <a:solidFill>
                  <a:srgbClr val="1B3A5C"/>
                </a:solidFill>
                <a:latin typeface="Calibri" pitchFamily="34" charset="0"/>
                <a:ea typeface="Calibri" pitchFamily="34" charset="-122"/>
                <a:cs typeface="Calibri" pitchFamily="34" charset="-120"/>
              </a:rPr>
              <a:t>Re-tuned </a:t>
            </a:r>
            <a:r>
              <a:rPr lang="en-US" sz="1200" dirty="0">
                <a:solidFill>
                  <a:srgbClr val="1F2A37"/>
                </a:solidFill>
                <a:latin typeface="Calibri" pitchFamily="34" charset="0"/>
                <a:ea typeface="Calibri" pitchFamily="34" charset="-122"/>
                <a:cs typeface="Calibri" pitchFamily="34" charset="-120"/>
              </a:rPr>
              <a:t>nightly and on demand</a:t>
            </a:r>
            <a:endParaRPr lang="en-US" sz="1200" dirty="0"/>
          </a:p>
        </p:txBody>
      </p:sp>
      <p:sp>
        <p:nvSpPr>
          <p:cNvPr id="36" name="Shape 31"/>
          <p:cNvSpPr/>
          <p:nvPr/>
        </p:nvSpPr>
        <p:spPr>
          <a:xfrm>
            <a:off x="8321040" y="4114800"/>
            <a:ext cx="3392424" cy="777240"/>
          </a:xfrm>
          <a:prstGeom prst="roundRect">
            <a:avLst>
              <a:gd name="adj" fmla="val 9412"/>
            </a:avLst>
          </a:prstGeom>
          <a:solidFill>
            <a:srgbClr val="FFFFFF"/>
          </a:solidFill>
          <a:ln w="9525">
            <a:solidFill>
              <a:srgbClr val="F2A679"/>
            </a:solidFill>
            <a:prstDash val="solid"/>
          </a:ln>
        </p:spPr>
      </p:sp>
      <p:sp>
        <p:nvSpPr>
          <p:cNvPr id="37" name="Text 32"/>
          <p:cNvSpPr txBox="1"/>
          <p:nvPr/>
        </p:nvSpPr>
        <p:spPr>
          <a:xfrm>
            <a:off x="8430768" y="4142232"/>
            <a:ext cx="3200400" cy="722376"/>
          </a:xfrm>
          <a:prstGeom prst="rect">
            <a:avLst/>
          </a:prstGeom>
          <a:noFill/>
          <a:ln/>
        </p:spPr>
        <p:txBody>
          <a:bodyPr wrap="square" lIns="0" tIns="0" rIns="0" bIns="0" rtlCol="0" anchor="ctr"/>
          <a:lstStyle/>
          <a:p>
            <a:pPr marL="0" indent="0">
              <a:buNone/>
            </a:pPr>
            <a:r>
              <a:rPr lang="en-US" sz="1050" i="1" dirty="0">
                <a:solidFill>
                  <a:srgbClr val="1B3A5C"/>
                </a:solidFill>
                <a:latin typeface="Calibri" pitchFamily="34" charset="0"/>
                <a:ea typeface="Calibri" pitchFamily="34" charset="-122"/>
                <a:cs typeface="Calibri" pitchFamily="34" charset="-120"/>
              </a:rPr>
              <a:t>A new patient starts with population predictions. The twin shifts to personal values as CGM and lab data build up.</a:t>
            </a:r>
            <a:endParaRPr lang="en-US" sz="1050" dirty="0"/>
          </a:p>
        </p:txBody>
      </p:sp>
      <p:sp>
        <p:nvSpPr>
          <p:cNvPr id="38" name="Shape 33"/>
          <p:cNvSpPr/>
          <p:nvPr/>
        </p:nvSpPr>
        <p:spPr>
          <a:xfrm>
            <a:off x="1920240" y="5321808"/>
            <a:ext cx="1783080" cy="310896"/>
          </a:xfrm>
          <a:prstGeom prst="rect">
            <a:avLst/>
          </a:prstGeom>
          <a:solidFill>
            <a:srgbClr val="F9D9C5"/>
          </a:solidFill>
          <a:ln w="12700">
            <a:solidFill>
              <a:srgbClr val="FFFFFF"/>
            </a:solidFill>
            <a:prstDash val="solid"/>
          </a:ln>
        </p:spPr>
      </p:sp>
      <p:sp>
        <p:nvSpPr>
          <p:cNvPr id="39" name="Shape 34"/>
          <p:cNvSpPr/>
          <p:nvPr/>
        </p:nvSpPr>
        <p:spPr>
          <a:xfrm>
            <a:off x="3703320" y="5321808"/>
            <a:ext cx="1783080" cy="310896"/>
          </a:xfrm>
          <a:prstGeom prst="rect">
            <a:avLst/>
          </a:prstGeom>
          <a:solidFill>
            <a:srgbClr val="F6BE9C"/>
          </a:solidFill>
          <a:ln w="12700">
            <a:solidFill>
              <a:srgbClr val="FFFFFF"/>
            </a:solidFill>
            <a:prstDash val="solid"/>
          </a:ln>
        </p:spPr>
      </p:sp>
      <p:sp>
        <p:nvSpPr>
          <p:cNvPr id="40" name="Shape 35"/>
          <p:cNvSpPr/>
          <p:nvPr/>
        </p:nvSpPr>
        <p:spPr>
          <a:xfrm>
            <a:off x="5486400" y="5321808"/>
            <a:ext cx="1783080" cy="310896"/>
          </a:xfrm>
          <a:prstGeom prst="rect">
            <a:avLst/>
          </a:prstGeom>
          <a:solidFill>
            <a:srgbClr val="F2A273"/>
          </a:solidFill>
          <a:ln w="12700">
            <a:solidFill>
              <a:srgbClr val="FFFFFF"/>
            </a:solidFill>
            <a:prstDash val="solid"/>
          </a:ln>
        </p:spPr>
      </p:sp>
      <p:sp>
        <p:nvSpPr>
          <p:cNvPr id="41" name="Shape 36"/>
          <p:cNvSpPr/>
          <p:nvPr/>
        </p:nvSpPr>
        <p:spPr>
          <a:xfrm>
            <a:off x="7269480" y="5321808"/>
            <a:ext cx="1783080" cy="310896"/>
          </a:xfrm>
          <a:prstGeom prst="rect">
            <a:avLst/>
          </a:prstGeom>
          <a:solidFill>
            <a:srgbClr val="EE8A4E"/>
          </a:solidFill>
          <a:ln w="12700">
            <a:solidFill>
              <a:srgbClr val="FFFFFF"/>
            </a:solidFill>
            <a:prstDash val="solid"/>
          </a:ln>
        </p:spPr>
      </p:sp>
      <p:sp>
        <p:nvSpPr>
          <p:cNvPr id="42" name="Shape 37"/>
          <p:cNvSpPr/>
          <p:nvPr/>
        </p:nvSpPr>
        <p:spPr>
          <a:xfrm>
            <a:off x="9052560" y="5321808"/>
            <a:ext cx="1783080" cy="310896"/>
          </a:xfrm>
          <a:prstGeom prst="rect">
            <a:avLst/>
          </a:prstGeom>
          <a:solidFill>
            <a:srgbClr val="E9712F"/>
          </a:solidFill>
          <a:ln w="12700">
            <a:solidFill>
              <a:srgbClr val="FFFFFF"/>
            </a:solidFill>
            <a:prstDash val="solid"/>
          </a:ln>
        </p:spPr>
      </p:sp>
      <p:sp>
        <p:nvSpPr>
          <p:cNvPr id="43" name="Text 38"/>
          <p:cNvSpPr txBox="1"/>
          <p:nvPr/>
        </p:nvSpPr>
        <p:spPr>
          <a:xfrm>
            <a:off x="320040" y="5303520"/>
            <a:ext cx="1554480" cy="347472"/>
          </a:xfrm>
          <a:prstGeom prst="rect">
            <a:avLst/>
          </a:prstGeom>
          <a:noFill/>
          <a:ln/>
        </p:spPr>
        <p:txBody>
          <a:bodyPr wrap="square" lIns="0" tIns="0" rIns="0" bIns="0" rtlCol="0" anchor="ctr"/>
          <a:lstStyle/>
          <a:p>
            <a:pPr marL="0" indent="0" algn="r">
              <a:buNone/>
            </a:pPr>
            <a:r>
              <a:rPr lang="en-US" sz="1150" b="1" dirty="0">
                <a:solidFill>
                  <a:srgbClr val="1B3A5C"/>
                </a:solidFill>
                <a:latin typeface="Calibri" pitchFamily="34" charset="0"/>
                <a:ea typeface="Calibri" pitchFamily="34" charset="-122"/>
                <a:cs typeface="Calibri" pitchFamily="34" charset="-120"/>
              </a:rPr>
              <a:t>Population values</a:t>
            </a:r>
            <a:endParaRPr lang="en-US" sz="1150" dirty="0"/>
          </a:p>
        </p:txBody>
      </p:sp>
      <p:sp>
        <p:nvSpPr>
          <p:cNvPr id="44" name="Text 39"/>
          <p:cNvSpPr txBox="1"/>
          <p:nvPr/>
        </p:nvSpPr>
        <p:spPr>
          <a:xfrm>
            <a:off x="10927080" y="5303520"/>
            <a:ext cx="1005840" cy="347472"/>
          </a:xfrm>
          <a:prstGeom prst="rect">
            <a:avLst/>
          </a:prstGeom>
          <a:noFill/>
          <a:ln/>
        </p:spPr>
        <p:txBody>
          <a:bodyPr wrap="square" lIns="0" tIns="0" rIns="0" bIns="0" rtlCol="0" anchor="ctr"/>
          <a:lstStyle/>
          <a:p>
            <a:pPr marL="0" indent="0">
              <a:buNone/>
            </a:pPr>
            <a:r>
              <a:rPr lang="en-US" sz="1150" b="1" dirty="0">
                <a:solidFill>
                  <a:srgbClr val="E9712F"/>
                </a:solidFill>
                <a:latin typeface="Calibri" pitchFamily="34" charset="0"/>
                <a:ea typeface="Calibri" pitchFamily="34" charset="-122"/>
                <a:cs typeface="Calibri" pitchFamily="34" charset="-120"/>
              </a:rPr>
              <a:t>Personal twin</a:t>
            </a:r>
            <a:endParaRPr lang="en-US" sz="1150" dirty="0"/>
          </a:p>
        </p:txBody>
      </p:sp>
      <p:sp>
        <p:nvSpPr>
          <p:cNvPr id="45" name="Text 40"/>
          <p:cNvSpPr txBox="1"/>
          <p:nvPr/>
        </p:nvSpPr>
        <p:spPr>
          <a:xfrm>
            <a:off x="1920240" y="5650992"/>
            <a:ext cx="1737360" cy="228600"/>
          </a:xfrm>
          <a:prstGeom prst="rect">
            <a:avLst/>
          </a:prstGeom>
          <a:noFill/>
          <a:ln/>
        </p:spPr>
        <p:txBody>
          <a:bodyPr wrap="square" lIns="0" tIns="0" rIns="0" bIns="0" rtlCol="0" anchor="t"/>
          <a:lstStyle/>
          <a:p>
            <a:pPr marL="0" indent="0">
              <a:buNone/>
            </a:pPr>
            <a:r>
              <a:rPr lang="en-US" sz="950" dirty="0">
                <a:solidFill>
                  <a:srgbClr val="52606D"/>
                </a:solidFill>
                <a:latin typeface="Calibri" pitchFamily="34" charset="0"/>
                <a:ea typeface="Calibri" pitchFamily="34" charset="-122"/>
                <a:cs typeface="Calibri" pitchFamily="34" charset="-120"/>
              </a:rPr>
              <a:t>Day 0</a:t>
            </a:r>
            <a:endParaRPr lang="en-US" sz="950" dirty="0"/>
          </a:p>
        </p:txBody>
      </p:sp>
      <p:sp>
        <p:nvSpPr>
          <p:cNvPr id="46" name="Text 41"/>
          <p:cNvSpPr txBox="1"/>
          <p:nvPr/>
        </p:nvSpPr>
        <p:spPr>
          <a:xfrm>
            <a:off x="3703320" y="5650992"/>
            <a:ext cx="3566160" cy="228600"/>
          </a:xfrm>
          <a:prstGeom prst="rect">
            <a:avLst/>
          </a:prstGeom>
          <a:noFill/>
          <a:ln/>
        </p:spPr>
        <p:txBody>
          <a:bodyPr wrap="square" lIns="0" tIns="0" rIns="0" bIns="0" rtlCol="0" anchor="t"/>
          <a:lstStyle/>
          <a:p>
            <a:pPr marL="0" indent="0" algn="ctr">
              <a:buNone/>
            </a:pPr>
            <a:r>
              <a:rPr lang="en-US" sz="950" dirty="0">
                <a:solidFill>
                  <a:srgbClr val="52606D"/>
                </a:solidFill>
                <a:latin typeface="Calibri" pitchFamily="34" charset="0"/>
                <a:ea typeface="Calibri" pitchFamily="34" charset="-122"/>
                <a:cs typeface="Calibri" pitchFamily="34" charset="-120"/>
              </a:rPr>
              <a:t>more CGM, meals and labs over time</a:t>
            </a:r>
            <a:endParaRPr lang="en-US" sz="950" dirty="0"/>
          </a:p>
        </p:txBody>
      </p:sp>
      <p:sp>
        <p:nvSpPr>
          <p:cNvPr id="47" name="Text 42"/>
          <p:cNvSpPr txBox="1"/>
          <p:nvPr/>
        </p:nvSpPr>
        <p:spPr>
          <a:xfrm>
            <a:off x="9052560" y="5650992"/>
            <a:ext cx="1737360" cy="228600"/>
          </a:xfrm>
          <a:prstGeom prst="rect">
            <a:avLst/>
          </a:prstGeom>
          <a:noFill/>
          <a:ln/>
        </p:spPr>
        <p:txBody>
          <a:bodyPr wrap="square" lIns="0" tIns="0" rIns="0" bIns="0" rtlCol="0" anchor="t"/>
          <a:lstStyle/>
          <a:p>
            <a:pPr marL="0" indent="0" algn="r">
              <a:buNone/>
            </a:pPr>
            <a:r>
              <a:rPr lang="en-US" sz="950" dirty="0">
                <a:solidFill>
                  <a:srgbClr val="52606D"/>
                </a:solidFill>
                <a:latin typeface="Calibri" pitchFamily="34" charset="0"/>
                <a:ea typeface="Calibri" pitchFamily="34" charset="-122"/>
                <a:cs typeface="Calibri" pitchFamily="34" charset="-120"/>
              </a:rPr>
              <a:t>maturity 100%</a:t>
            </a:r>
            <a:endParaRPr lang="en-US" sz="950" dirty="0"/>
          </a:p>
        </p:txBody>
      </p:sp>
      <p:sp>
        <p:nvSpPr>
          <p:cNvPr id="48" name="Text 43"/>
          <p:cNvSpPr txBox="1"/>
          <p:nvPr/>
        </p:nvSpPr>
        <p:spPr>
          <a:xfrm>
            <a:off x="320040" y="5897880"/>
            <a:ext cx="11567160" cy="292608"/>
          </a:xfrm>
          <a:prstGeom prst="rect">
            <a:avLst/>
          </a:prstGeom>
          <a:noFill/>
          <a:ln/>
        </p:spPr>
        <p:txBody>
          <a:bodyPr wrap="square" lIns="0" tIns="0" rIns="0" bIns="0" rtlCol="0" anchor="t"/>
          <a:lstStyle/>
          <a:p>
            <a:pPr marL="0" indent="0" algn="ctr">
              <a:buNone/>
            </a:pPr>
            <a:r>
              <a:rPr lang="en-US" sz="1100" i="1" dirty="0">
                <a:solidFill>
                  <a:srgbClr val="1B3A5C"/>
                </a:solidFill>
                <a:latin typeface="Calibri" pitchFamily="34" charset="0"/>
                <a:ea typeface="Calibri" pitchFamily="34" charset="-122"/>
                <a:cs typeface="Calibri" pitchFamily="34" charset="-120"/>
              </a:rPr>
              <a:t>The same code runs on synthetic, demo and real data (CGMacros, Libre, live sensors, hospital FHIR). Real data improves accuracy.</a:t>
            </a:r>
            <a:endParaRPr lang="en-US" sz="11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itle tag"/>
          <p:cNvSpPr/>
          <p:nvPr/>
        </p:nvSpPr>
        <p:spPr>
          <a:xfrm>
            <a:off x="274320" y="109728"/>
            <a:ext cx="3021178" cy="603504"/>
          </a:xfrm>
          <a:prstGeom prst="rect">
            <a:avLst/>
          </a:prstGeom>
          <a:solidFill>
            <a:srgbClr val="FFFFFF"/>
          </a:solidFill>
          <a:ln w="22225">
            <a:solidFill>
              <a:srgbClr val="2F6DB5"/>
            </a:solidFill>
            <a:prstDash val="solid"/>
          </a:ln>
        </p:spPr>
      </p:sp>
      <p:sp>
        <p:nvSpPr>
          <p:cNvPr id="3" name="Text 10"/>
          <p:cNvSpPr>
            <a:spLocks noGrp="1"/>
          </p:cNvSpPr>
          <p:nvPr>
            <p:ph type="title" idx="111" hasCustomPrompt="1"/>
          </p:nvPr>
        </p:nvSpPr>
        <p:spPr>
          <a:xfrm>
            <a:off x="384048" y="128016"/>
            <a:ext cx="8686800" cy="566928"/>
          </a:xfrm>
          <a:prstGeom prst="rect">
            <a:avLst/>
          </a:prstGeom>
          <a:noFill/>
          <a:ln/>
        </p:spPr>
        <p:txBody>
          <a:bodyPr wrap="square" lIns="0" tIns="0" rIns="0" bIns="0" rtlCol="0" anchor="ctr"/>
          <a:lstStyle/>
          <a:p>
            <a:pPr marL="0" indent="0" algn="l">
              <a:buNone/>
            </a:pPr>
            <a:r>
              <a:rPr lang="en-US" sz="2600" b="1" dirty="0">
                <a:solidFill>
                  <a:srgbClr val="E9712F"/>
                </a:solidFill>
              </a:rPr>
              <a:t>Treatment Advisor</a:t>
            </a:r>
            <a:endParaRPr lang="en-US" sz="2600" dirty="0"/>
          </a:p>
        </p:txBody>
      </p:sp>
      <p:sp>
        <p:nvSpPr>
          <p:cNvPr id="4" name="Text 2"/>
          <p:cNvSpPr txBox="1"/>
          <p:nvPr/>
        </p:nvSpPr>
        <p:spPr>
          <a:xfrm>
            <a:off x="365760" y="841248"/>
            <a:ext cx="5852160" cy="256032"/>
          </a:xfrm>
          <a:prstGeom prst="rect">
            <a:avLst/>
          </a:prstGeom>
          <a:noFill/>
          <a:ln/>
        </p:spPr>
        <p:txBody>
          <a:bodyPr wrap="square" lIns="0" tIns="0" rIns="0" bIns="0" rtlCol="0" anchor="t"/>
          <a:lstStyle/>
          <a:p>
            <a:pPr marL="0" indent="0">
              <a:buNone/>
            </a:pPr>
            <a:r>
              <a:rPr lang="en-US" sz="1200" b="1" kern="0" spc="100" dirty="0">
                <a:solidFill>
                  <a:srgbClr val="1B3A5C"/>
                </a:solidFill>
                <a:latin typeface="Calibri" pitchFamily="34" charset="0"/>
                <a:ea typeface="Calibri" pitchFamily="34" charset="-122"/>
                <a:cs typeface="Calibri" pitchFamily="34" charset="-120"/>
              </a:rPr>
              <a:t>DECISION FUNNEL: FROM ALL OPTIONS TO A PRESCRIPTION</a:t>
            </a:r>
            <a:endParaRPr lang="en-US" sz="1200" dirty="0"/>
          </a:p>
        </p:txBody>
      </p:sp>
      <p:sp>
        <p:nvSpPr>
          <p:cNvPr id="5" name="Funnel tier 1"/>
          <p:cNvSpPr/>
          <p:nvPr/>
        </p:nvSpPr>
        <p:spPr>
          <a:xfrm flipV="1">
            <a:off x="320040" y="1188720"/>
            <a:ext cx="5760720" cy="841248"/>
          </a:xfrm>
          <a:prstGeom prst="trapezoid">
            <a:avLst/>
          </a:prstGeom>
          <a:solidFill>
            <a:srgbClr val="F9D9C5"/>
          </a:solidFill>
          <a:ln w="12700">
            <a:solidFill>
              <a:srgbClr val="FFFFFF"/>
            </a:solidFill>
            <a:prstDash val="solid"/>
          </a:ln>
        </p:spPr>
      </p:sp>
      <p:sp>
        <p:nvSpPr>
          <p:cNvPr id="6" name="Text 4"/>
          <p:cNvSpPr txBox="1"/>
          <p:nvPr/>
        </p:nvSpPr>
        <p:spPr>
          <a:xfrm>
            <a:off x="777240" y="1225296"/>
            <a:ext cx="4846320" cy="768096"/>
          </a:xfrm>
          <a:prstGeom prst="rect">
            <a:avLst/>
          </a:prstGeom>
          <a:noFill/>
          <a:ln/>
        </p:spPr>
        <p:txBody>
          <a:bodyPr wrap="square" lIns="0" tIns="0" rIns="0" bIns="0" rtlCol="0" anchor="ctr"/>
          <a:lstStyle/>
          <a:p>
            <a:pPr marL="0" indent="0" algn="ctr">
              <a:buNone/>
            </a:pPr>
            <a:r>
              <a:rPr lang="en-US" sz="1350" b="1" dirty="0">
                <a:solidFill>
                  <a:srgbClr val="1B3A5C"/>
                </a:solidFill>
                <a:latin typeface="Calibri" pitchFamily="34" charset="0"/>
                <a:ea typeface="Calibri" pitchFamily="34" charset="-122"/>
                <a:cs typeface="Calibri" pitchFamily="34" charset="-120"/>
              </a:rPr>
              <a:t>1  All options</a:t>
            </a:r>
            <a:endParaRPr lang="en-US" sz="1350" dirty="0"/>
          </a:p>
          <a:p>
            <a:pPr marL="0" indent="0" algn="ctr">
              <a:buNone/>
            </a:pPr>
            <a:r>
              <a:rPr lang="en-US" sz="1050" dirty="0">
                <a:solidFill>
                  <a:srgbClr val="1B3A5C"/>
                </a:solidFill>
                <a:latin typeface="Calibri" pitchFamily="34" charset="0"/>
                <a:ea typeface="Calibri" pitchFamily="34" charset="-122"/>
                <a:cs typeface="Calibri" pitchFamily="34" charset="-120"/>
              </a:rPr>
              <a:t>SGLT2i, GLP-1 RA, finerenone, BP control, 5% weight loss, +2,000 steps a day</a:t>
            </a:r>
            <a:endParaRPr lang="en-US" sz="1350" dirty="0"/>
          </a:p>
        </p:txBody>
      </p:sp>
      <p:sp>
        <p:nvSpPr>
          <p:cNvPr id="7" name="Funnel tier 2"/>
          <p:cNvSpPr/>
          <p:nvPr/>
        </p:nvSpPr>
        <p:spPr>
          <a:xfrm flipV="1">
            <a:off x="548640" y="2103120"/>
            <a:ext cx="5303520" cy="841248"/>
          </a:xfrm>
          <a:prstGeom prst="trapezoid">
            <a:avLst/>
          </a:prstGeom>
          <a:solidFill>
            <a:srgbClr val="F6BE9C"/>
          </a:solidFill>
          <a:ln w="12700">
            <a:solidFill>
              <a:srgbClr val="FFFFFF"/>
            </a:solidFill>
            <a:prstDash val="solid"/>
          </a:ln>
        </p:spPr>
      </p:sp>
      <p:sp>
        <p:nvSpPr>
          <p:cNvPr id="8" name="Text 6"/>
          <p:cNvSpPr txBox="1"/>
          <p:nvPr/>
        </p:nvSpPr>
        <p:spPr>
          <a:xfrm>
            <a:off x="1005840" y="2139696"/>
            <a:ext cx="4389120" cy="768096"/>
          </a:xfrm>
          <a:prstGeom prst="rect">
            <a:avLst/>
          </a:prstGeom>
          <a:noFill/>
          <a:ln/>
        </p:spPr>
        <p:txBody>
          <a:bodyPr wrap="square" lIns="0" tIns="0" rIns="0" bIns="0" rtlCol="0" anchor="ctr"/>
          <a:lstStyle/>
          <a:p>
            <a:pPr marL="0" indent="0" algn="ctr">
              <a:buNone/>
            </a:pPr>
            <a:r>
              <a:rPr lang="en-US" sz="1350" b="1" dirty="0">
                <a:solidFill>
                  <a:srgbClr val="1B3A5C"/>
                </a:solidFill>
                <a:latin typeface="Calibri" pitchFamily="34" charset="0"/>
                <a:ea typeface="Calibri" pitchFamily="34" charset="-122"/>
                <a:cs typeface="Calibri" pitchFamily="34" charset="-120"/>
              </a:rPr>
              <a:t>2  Eligible</a:t>
            </a:r>
            <a:endParaRPr lang="en-US" sz="1350" dirty="0"/>
          </a:p>
          <a:p>
            <a:pPr marL="0" indent="0" algn="ctr">
              <a:buNone/>
            </a:pPr>
            <a:r>
              <a:rPr lang="en-US" sz="1050" dirty="0">
                <a:solidFill>
                  <a:srgbClr val="1B3A5C"/>
                </a:solidFill>
                <a:latin typeface="Calibri" pitchFamily="34" charset="0"/>
                <a:ea typeface="Calibri" pitchFamily="34" charset="-122"/>
                <a:cs typeface="Calibri" pitchFamily="34" charset="-120"/>
              </a:rPr>
              <a:t>KDIGO 2022 / ADA 2026 rules on eGFR, UACR, potassium and current drugs</a:t>
            </a:r>
            <a:endParaRPr lang="en-US" sz="1350" dirty="0"/>
          </a:p>
        </p:txBody>
      </p:sp>
      <p:sp>
        <p:nvSpPr>
          <p:cNvPr id="9" name="Funnel tier 3"/>
          <p:cNvSpPr/>
          <p:nvPr/>
        </p:nvSpPr>
        <p:spPr>
          <a:xfrm flipV="1">
            <a:off x="777240" y="3017520"/>
            <a:ext cx="4846320" cy="841248"/>
          </a:xfrm>
          <a:prstGeom prst="trapezoid">
            <a:avLst/>
          </a:prstGeom>
          <a:solidFill>
            <a:srgbClr val="F2A273"/>
          </a:solidFill>
          <a:ln w="12700">
            <a:solidFill>
              <a:srgbClr val="FFFFFF"/>
            </a:solidFill>
            <a:prstDash val="solid"/>
          </a:ln>
        </p:spPr>
      </p:sp>
      <p:sp>
        <p:nvSpPr>
          <p:cNvPr id="10" name="Text 8"/>
          <p:cNvSpPr txBox="1"/>
          <p:nvPr/>
        </p:nvSpPr>
        <p:spPr>
          <a:xfrm>
            <a:off x="1234440" y="3054096"/>
            <a:ext cx="3931920" cy="768096"/>
          </a:xfrm>
          <a:prstGeom prst="rect">
            <a:avLst/>
          </a:prstGeom>
          <a:noFill/>
          <a:ln/>
        </p:spPr>
        <p:txBody>
          <a:bodyPr wrap="square" lIns="0" tIns="0" rIns="0" bIns="0" rtlCol="0" anchor="ctr"/>
          <a:lstStyle/>
          <a:p>
            <a:pPr marL="0" indent="0" algn="ctr">
              <a:buNone/>
            </a:pPr>
            <a:r>
              <a:rPr lang="en-US" sz="1350" b="1" dirty="0">
                <a:solidFill>
                  <a:srgbClr val="1B3A5C"/>
                </a:solidFill>
                <a:latin typeface="Calibri" pitchFamily="34" charset="0"/>
                <a:ea typeface="Calibri" pitchFamily="34" charset="-122"/>
                <a:cs typeface="Calibri" pitchFamily="34" charset="-120"/>
              </a:rPr>
              <a:t>3  Simulated on the twin</a:t>
            </a:r>
            <a:endParaRPr lang="en-US" sz="1350" dirty="0"/>
          </a:p>
          <a:p>
            <a:pPr marL="0" indent="0" algn="ctr">
              <a:buNone/>
            </a:pPr>
            <a:r>
              <a:rPr lang="en-US" sz="1050" dirty="0">
                <a:solidFill>
                  <a:srgbClr val="1B3A5C"/>
                </a:solidFill>
                <a:latin typeface="Calibri" pitchFamily="34" charset="0"/>
                <a:ea typeface="Calibri" pitchFamily="34" charset="-122"/>
                <a:cs typeface="Calibri" pitchFamily="34" charset="-120"/>
              </a:rPr>
              <a:t>Apply HbA1c, BP and weight change, re-run the DKD model, apply the trial hazard ratio</a:t>
            </a:r>
            <a:endParaRPr lang="en-US" sz="1350" dirty="0"/>
          </a:p>
        </p:txBody>
      </p:sp>
      <p:sp>
        <p:nvSpPr>
          <p:cNvPr id="11" name="Funnel tier 4"/>
          <p:cNvSpPr/>
          <p:nvPr/>
        </p:nvSpPr>
        <p:spPr>
          <a:xfrm flipV="1">
            <a:off x="1005840" y="3931920"/>
            <a:ext cx="4389120" cy="841248"/>
          </a:xfrm>
          <a:prstGeom prst="trapezoid">
            <a:avLst/>
          </a:prstGeom>
          <a:solidFill>
            <a:srgbClr val="E9712F"/>
          </a:solidFill>
          <a:ln w="12700">
            <a:solidFill>
              <a:srgbClr val="FFFFFF"/>
            </a:solidFill>
            <a:prstDash val="solid"/>
          </a:ln>
        </p:spPr>
      </p:sp>
      <p:sp>
        <p:nvSpPr>
          <p:cNvPr id="12" name="Text 10"/>
          <p:cNvSpPr txBox="1"/>
          <p:nvPr/>
        </p:nvSpPr>
        <p:spPr>
          <a:xfrm>
            <a:off x="1463040" y="3968496"/>
            <a:ext cx="3474720" cy="768096"/>
          </a:xfrm>
          <a:prstGeom prst="rect">
            <a:avLst/>
          </a:prstGeom>
          <a:noFill/>
          <a:ln/>
        </p:spPr>
        <p:txBody>
          <a:bodyPr wrap="square" lIns="0" tIns="0" rIns="0" bIns="0" rtlCol="0" anchor="ctr"/>
          <a:lstStyle/>
          <a:p>
            <a:pPr marL="0" indent="0" algn="ctr">
              <a:buNone/>
            </a:pPr>
            <a:r>
              <a:rPr lang="en-US" sz="1350" b="1" dirty="0">
                <a:solidFill>
                  <a:srgbClr val="FFFFFF"/>
                </a:solidFill>
                <a:latin typeface="Calibri" pitchFamily="34" charset="0"/>
                <a:ea typeface="Calibri" pitchFamily="34" charset="-122"/>
                <a:cs typeface="Calibri" pitchFamily="34" charset="-120"/>
              </a:rPr>
              <a:t>4  Ranked</a:t>
            </a:r>
            <a:endParaRPr lang="en-US" sz="1350" dirty="0"/>
          </a:p>
          <a:p>
            <a:pPr marL="0" indent="0" algn="ctr">
              <a:buNone/>
            </a:pPr>
            <a:r>
              <a:rPr lang="en-US" sz="1050" dirty="0">
                <a:solidFill>
                  <a:srgbClr val="FFFFFF"/>
                </a:solidFill>
                <a:latin typeface="Calibri" pitchFamily="34" charset="0"/>
                <a:ea typeface="Calibri" pitchFamily="34" charset="-122"/>
                <a:cs typeface="Calibri" pitchFamily="34" charset="-120"/>
              </a:rPr>
              <a:t>by predicted 3-year kidney-risk reduction</a:t>
            </a:r>
            <a:endParaRPr lang="en-US" sz="1350" dirty="0"/>
          </a:p>
        </p:txBody>
      </p:sp>
      <p:sp>
        <p:nvSpPr>
          <p:cNvPr id="13" name="Funnel tier 5"/>
          <p:cNvSpPr/>
          <p:nvPr/>
        </p:nvSpPr>
        <p:spPr>
          <a:xfrm flipV="1">
            <a:off x="1234440" y="4846320"/>
            <a:ext cx="3931920" cy="841248"/>
          </a:xfrm>
          <a:prstGeom prst="trapezoid">
            <a:avLst/>
          </a:prstGeom>
          <a:solidFill>
            <a:srgbClr val="1B3A5C"/>
          </a:solidFill>
          <a:ln w="12700">
            <a:solidFill>
              <a:srgbClr val="FFFFFF"/>
            </a:solidFill>
            <a:prstDash val="solid"/>
          </a:ln>
        </p:spPr>
      </p:sp>
      <p:sp>
        <p:nvSpPr>
          <p:cNvPr id="14" name="Text 12"/>
          <p:cNvSpPr txBox="1"/>
          <p:nvPr/>
        </p:nvSpPr>
        <p:spPr>
          <a:xfrm>
            <a:off x="1691640" y="4882896"/>
            <a:ext cx="3017520" cy="768096"/>
          </a:xfrm>
          <a:prstGeom prst="rect">
            <a:avLst/>
          </a:prstGeom>
          <a:noFill/>
          <a:ln/>
        </p:spPr>
        <p:txBody>
          <a:bodyPr wrap="square" lIns="0" tIns="0" rIns="0" bIns="0" rtlCol="0" anchor="ctr"/>
          <a:lstStyle/>
          <a:p>
            <a:pPr marL="0" indent="0" algn="ctr">
              <a:buNone/>
            </a:pPr>
            <a:r>
              <a:rPr lang="en-US" sz="1350" b="1" dirty="0">
                <a:solidFill>
                  <a:srgbClr val="FFFFFF"/>
                </a:solidFill>
                <a:latin typeface="Calibri" pitchFamily="34" charset="0"/>
                <a:ea typeface="Calibri" pitchFamily="34" charset="-122"/>
                <a:cs typeface="Calibri" pitchFamily="34" charset="-120"/>
              </a:rPr>
              <a:t>5  Clinician prescribes</a:t>
            </a:r>
            <a:endParaRPr lang="en-US" sz="1350" dirty="0"/>
          </a:p>
          <a:p>
            <a:pPr marL="0" indent="0" algn="ctr">
              <a:buNone/>
            </a:pPr>
            <a:r>
              <a:rPr lang="en-US" sz="1050" dirty="0">
                <a:solidFill>
                  <a:srgbClr val="FFFFFF"/>
                </a:solidFill>
                <a:latin typeface="Calibri" pitchFamily="34" charset="0"/>
                <a:ea typeface="Calibri" pitchFamily="34" charset="-122"/>
                <a:cs typeface="Calibri" pitchFamily="34" charset="-120"/>
              </a:rPr>
              <a:t>The app creates medicine reminders</a:t>
            </a:r>
            <a:endParaRPr lang="en-US" sz="1350" dirty="0"/>
          </a:p>
        </p:txBody>
      </p:sp>
      <p:sp>
        <p:nvSpPr>
          <p:cNvPr id="15" name="Text 13"/>
          <p:cNvSpPr txBox="1"/>
          <p:nvPr/>
        </p:nvSpPr>
        <p:spPr>
          <a:xfrm>
            <a:off x="695598" y="5803501"/>
            <a:ext cx="4617720" cy="329184"/>
          </a:xfrm>
          <a:prstGeom prst="rect">
            <a:avLst/>
          </a:prstGeom>
          <a:noFill/>
          <a:ln/>
        </p:spPr>
        <p:txBody>
          <a:bodyPr wrap="square" lIns="0" tIns="0" rIns="0" bIns="0" rtlCol="0" anchor="ctr"/>
          <a:lstStyle/>
          <a:p>
            <a:pPr marL="0" indent="0" algn="ctr">
              <a:buNone/>
            </a:pPr>
            <a:r>
              <a:rPr lang="en-US" sz="1400" b="1" dirty="0">
                <a:solidFill>
                  <a:srgbClr val="0F5B66"/>
                </a:solidFill>
                <a:latin typeface="Calibri" pitchFamily="34" charset="0"/>
                <a:ea typeface="Calibri" pitchFamily="34" charset="-122"/>
                <a:cs typeface="Calibri" pitchFamily="34" charset="-120"/>
              </a:rPr>
              <a:t>The clinician decides. Patients see lifestyle suggestions only, not medicine changes.</a:t>
            </a:r>
            <a:endParaRPr lang="en-US" sz="1400" dirty="0"/>
          </a:p>
        </p:txBody>
      </p:sp>
      <p:sp>
        <p:nvSpPr>
          <p:cNvPr id="16" name="Shape 14"/>
          <p:cNvSpPr/>
          <p:nvPr/>
        </p:nvSpPr>
        <p:spPr>
          <a:xfrm>
            <a:off x="6300216" y="914400"/>
            <a:ext cx="5623560" cy="3072384"/>
          </a:xfrm>
          <a:prstGeom prst="rect">
            <a:avLst/>
          </a:prstGeom>
          <a:solidFill>
            <a:srgbClr val="D9DEE4"/>
          </a:solidFill>
          <a:ln w="12700">
            <a:solidFill>
              <a:srgbClr val="D9DEE4"/>
            </a:solidFill>
            <a:prstDash val="solid"/>
          </a:ln>
        </p:spPr>
      </p:sp>
      <p:pic>
        <p:nvPicPr>
          <p:cNvPr id="17" name="Treatment screenshot" descr="/home/claude/gr/assets/treat.jpg"/>
          <p:cNvPicPr>
            <a:picLocks noChangeAspect="1"/>
          </p:cNvPicPr>
          <p:nvPr/>
        </p:nvPicPr>
        <p:blipFill>
          <a:blip r:embed="rId3"/>
          <a:stretch>
            <a:fillRect/>
          </a:stretch>
        </p:blipFill>
        <p:spPr>
          <a:xfrm>
            <a:off x="6263640" y="868680"/>
            <a:ext cx="5623560" cy="3072384"/>
          </a:xfrm>
          <a:prstGeom prst="rect">
            <a:avLst/>
          </a:prstGeom>
        </p:spPr>
      </p:pic>
      <p:sp>
        <p:nvSpPr>
          <p:cNvPr id="18" name="Shape 15"/>
          <p:cNvSpPr/>
          <p:nvPr/>
        </p:nvSpPr>
        <p:spPr>
          <a:xfrm>
            <a:off x="6263640" y="868680"/>
            <a:ext cx="5623560" cy="3072384"/>
          </a:xfrm>
          <a:prstGeom prst="rect">
            <a:avLst/>
          </a:prstGeom>
          <a:ln w="9525">
            <a:solidFill>
              <a:srgbClr val="C9D1D9"/>
            </a:solidFill>
            <a:prstDash val="solid"/>
          </a:ln>
        </p:spPr>
      </p:sp>
      <p:sp>
        <p:nvSpPr>
          <p:cNvPr id="19" name="Text 16"/>
          <p:cNvSpPr txBox="1"/>
          <p:nvPr/>
        </p:nvSpPr>
        <p:spPr>
          <a:xfrm>
            <a:off x="6245352" y="640080"/>
            <a:ext cx="5623560" cy="228600"/>
          </a:xfrm>
          <a:prstGeom prst="rect">
            <a:avLst/>
          </a:prstGeom>
          <a:noFill/>
          <a:ln/>
        </p:spPr>
        <p:txBody>
          <a:bodyPr wrap="square" lIns="0" tIns="0" rIns="0" bIns="0" rtlCol="0" anchor="t"/>
          <a:lstStyle/>
          <a:p>
            <a:pPr marL="0" indent="0">
              <a:buNone/>
            </a:pPr>
            <a:r>
              <a:rPr lang="en-US" sz="1400" b="1" dirty="0">
                <a:solidFill>
                  <a:schemeClr val="tx2"/>
                </a:solidFill>
                <a:latin typeface="Calibri" pitchFamily="34" charset="0"/>
                <a:ea typeface="Calibri" pitchFamily="34" charset="-122"/>
                <a:cs typeface="Calibri" pitchFamily="34" charset="-120"/>
              </a:rPr>
              <a:t>Doctor portal, Treatments tab: options ranked by kidney risk reduction</a:t>
            </a:r>
            <a:endParaRPr lang="en-US" sz="1400" b="1" dirty="0">
              <a:solidFill>
                <a:schemeClr val="tx2"/>
              </a:solidFill>
            </a:endParaRPr>
          </a:p>
        </p:txBody>
      </p:sp>
      <p:sp>
        <p:nvSpPr>
          <p:cNvPr id="20" name="Example"/>
          <p:cNvSpPr/>
          <p:nvPr/>
        </p:nvSpPr>
        <p:spPr>
          <a:xfrm>
            <a:off x="6263640" y="4315968"/>
            <a:ext cx="5623560" cy="1005840"/>
          </a:xfrm>
          <a:prstGeom prst="roundRect">
            <a:avLst>
              <a:gd name="adj" fmla="val 9091"/>
            </a:avLst>
          </a:prstGeom>
          <a:solidFill>
            <a:srgbClr val="FDEBDF"/>
          </a:solidFill>
          <a:ln w="15875">
            <a:solidFill>
              <a:srgbClr val="F2A679"/>
            </a:solidFill>
            <a:prstDash val="dash"/>
          </a:ln>
        </p:spPr>
      </p:sp>
      <p:sp>
        <p:nvSpPr>
          <p:cNvPr id="21" name="Text 18"/>
          <p:cNvSpPr txBox="1"/>
          <p:nvPr/>
        </p:nvSpPr>
        <p:spPr>
          <a:xfrm>
            <a:off x="6400800" y="4352544"/>
            <a:ext cx="2240280" cy="932688"/>
          </a:xfrm>
          <a:prstGeom prst="rect">
            <a:avLst/>
          </a:prstGeom>
          <a:noFill/>
          <a:ln/>
        </p:spPr>
        <p:txBody>
          <a:bodyPr wrap="square" lIns="0" tIns="0" rIns="0" bIns="0" rtlCol="0" anchor="ctr"/>
          <a:lstStyle/>
          <a:p>
            <a:pPr marL="0" indent="0">
              <a:buNone/>
            </a:pPr>
            <a:r>
              <a:rPr lang="en-US" sz="3200" b="1" dirty="0">
                <a:solidFill>
                  <a:srgbClr val="E9712F"/>
                </a:solidFill>
                <a:latin typeface="Calibri" pitchFamily="34" charset="0"/>
                <a:ea typeface="Calibri" pitchFamily="34" charset="-122"/>
                <a:cs typeface="Calibri" pitchFamily="34" charset="-120"/>
              </a:rPr>
              <a:t>34%</a:t>
            </a:r>
            <a:r>
              <a:rPr lang="en-US" sz="2200" b="1" dirty="0">
                <a:solidFill>
                  <a:srgbClr val="1B3A5C"/>
                </a:solidFill>
                <a:latin typeface="Calibri" pitchFamily="34" charset="0"/>
                <a:ea typeface="Calibri" pitchFamily="34" charset="-122"/>
                <a:cs typeface="Calibri" pitchFamily="34" charset="-120"/>
              </a:rPr>
              <a:t> to </a:t>
            </a:r>
            <a:r>
              <a:rPr lang="en-US" sz="3200" b="1" dirty="0">
                <a:solidFill>
                  <a:srgbClr val="2F9A5A"/>
                </a:solidFill>
                <a:latin typeface="Calibri" pitchFamily="34" charset="0"/>
                <a:ea typeface="Calibri" pitchFamily="34" charset="-122"/>
                <a:cs typeface="Calibri" pitchFamily="34" charset="-120"/>
              </a:rPr>
              <a:t>20%</a:t>
            </a:r>
            <a:endParaRPr lang="en-US" sz="3200" dirty="0"/>
          </a:p>
        </p:txBody>
      </p:sp>
      <p:sp>
        <p:nvSpPr>
          <p:cNvPr id="22" name="Text 19"/>
          <p:cNvSpPr txBox="1"/>
          <p:nvPr/>
        </p:nvSpPr>
        <p:spPr>
          <a:xfrm>
            <a:off x="8686800" y="4370832"/>
            <a:ext cx="3108960" cy="896112"/>
          </a:xfrm>
          <a:prstGeom prst="rect">
            <a:avLst/>
          </a:prstGeom>
          <a:noFill/>
          <a:ln/>
        </p:spPr>
        <p:txBody>
          <a:bodyPr wrap="square" lIns="0" tIns="0" rIns="0" bIns="0" rtlCol="0" anchor="ctr"/>
          <a:lstStyle/>
          <a:p>
            <a:pPr marL="0" indent="0">
              <a:buNone/>
            </a:pPr>
            <a:r>
              <a:rPr lang="en-US" sz="1050" b="1" dirty="0">
                <a:solidFill>
                  <a:srgbClr val="1B3A5C"/>
                </a:solidFill>
                <a:latin typeface="Calibri" pitchFamily="34" charset="0"/>
                <a:ea typeface="Calibri" pitchFamily="34" charset="-122"/>
                <a:cs typeface="Calibri" pitchFamily="34" charset="-120"/>
              </a:rPr>
              <a:t>Ramesh Kumar (demo patient)</a:t>
            </a:r>
            <a:endParaRPr lang="en-US" sz="1050" dirty="0"/>
          </a:p>
          <a:p>
            <a:pPr marL="0" indent="0">
              <a:buNone/>
            </a:pPr>
            <a:r>
              <a:rPr lang="en-US" sz="1050" dirty="0">
                <a:solidFill>
                  <a:srgbClr val="1F2A37"/>
                </a:solidFill>
                <a:latin typeface="Calibri" pitchFamily="34" charset="0"/>
                <a:ea typeface="Calibri" pitchFamily="34" charset="-122"/>
                <a:cs typeface="Calibri" pitchFamily="34" charset="-120"/>
              </a:rPr>
              <a:t>DKD 3-year risk after adding dapagliflozin 10 mg (DAPA-CKD, HR 0.61); HbA1c 8.4% to 7.9% in 3 months</a:t>
            </a:r>
            <a:endParaRPr lang="en-US" sz="1050" dirty="0"/>
          </a:p>
        </p:txBody>
      </p:sp>
      <p:sp>
        <p:nvSpPr>
          <p:cNvPr id="23" name="Text 20"/>
          <p:cNvSpPr txBox="1"/>
          <p:nvPr/>
        </p:nvSpPr>
        <p:spPr>
          <a:xfrm>
            <a:off x="6291072" y="5458968"/>
            <a:ext cx="1828800" cy="329184"/>
          </a:xfrm>
          <a:prstGeom prst="rect">
            <a:avLst/>
          </a:prstGeom>
          <a:noFill/>
          <a:ln/>
        </p:spPr>
        <p:txBody>
          <a:bodyPr wrap="square" lIns="0" tIns="0" rIns="0" bIns="0" rtlCol="0" anchor="ctr"/>
          <a:lstStyle/>
          <a:p>
            <a:pPr marL="0" indent="0">
              <a:buNone/>
            </a:pPr>
            <a:r>
              <a:rPr lang="en-US" sz="950" b="1" kern="0" spc="100" dirty="0">
                <a:solidFill>
                  <a:srgbClr val="52606D"/>
                </a:solidFill>
                <a:latin typeface="Calibri" pitchFamily="34" charset="0"/>
                <a:ea typeface="Calibri" pitchFamily="34" charset="-122"/>
                <a:cs typeface="Calibri" pitchFamily="34" charset="-120"/>
              </a:rPr>
              <a:t>TRIAL EFFECT SIZES</a:t>
            </a:r>
            <a:endParaRPr lang="en-US" sz="950" dirty="0"/>
          </a:p>
        </p:txBody>
      </p:sp>
      <p:sp>
        <p:nvSpPr>
          <p:cNvPr id="24" name="Text 21"/>
          <p:cNvSpPr/>
          <p:nvPr/>
        </p:nvSpPr>
        <p:spPr>
          <a:xfrm>
            <a:off x="7863840" y="5440680"/>
            <a:ext cx="758952" cy="347472"/>
          </a:xfrm>
          <a:prstGeom prst="roundRect">
            <a:avLst>
              <a:gd name="adj" fmla="val 15789"/>
            </a:avLst>
          </a:prstGeom>
          <a:solidFill>
            <a:srgbClr val="EEF5FC"/>
          </a:solidFill>
          <a:ln w="9525">
            <a:solidFill>
              <a:srgbClr val="8DBBE6"/>
            </a:solidFill>
          </a:ln>
        </p:spPr>
        <p:txBody>
          <a:bodyPr wrap="square" lIns="0" tIns="0" rIns="0" bIns="0" rtlCol="0" anchor="ctr"/>
          <a:lstStyle/>
          <a:p>
            <a:pPr marL="0" indent="0" algn="ctr">
              <a:buNone/>
            </a:pPr>
            <a:r>
              <a:rPr lang="en-US" sz="850" b="1" dirty="0">
                <a:solidFill>
                  <a:srgbClr val="2F6DB5"/>
                </a:solidFill>
              </a:rPr>
              <a:t>DAPA-CKD</a:t>
            </a:r>
            <a:endParaRPr lang="en-US" sz="850" dirty="0"/>
          </a:p>
        </p:txBody>
      </p:sp>
      <p:sp>
        <p:nvSpPr>
          <p:cNvPr id="25" name="Text 22"/>
          <p:cNvSpPr/>
          <p:nvPr/>
        </p:nvSpPr>
        <p:spPr>
          <a:xfrm>
            <a:off x="8677656" y="5440680"/>
            <a:ext cx="758952" cy="347472"/>
          </a:xfrm>
          <a:prstGeom prst="roundRect">
            <a:avLst>
              <a:gd name="adj" fmla="val 15789"/>
            </a:avLst>
          </a:prstGeom>
          <a:solidFill>
            <a:srgbClr val="EEF5FC"/>
          </a:solidFill>
          <a:ln w="9525">
            <a:solidFill>
              <a:srgbClr val="8DBBE6"/>
            </a:solidFill>
          </a:ln>
        </p:spPr>
        <p:txBody>
          <a:bodyPr wrap="square" lIns="0" tIns="0" rIns="0" bIns="0" rtlCol="0" anchor="ctr"/>
          <a:lstStyle/>
          <a:p>
            <a:pPr marL="0" indent="0" algn="ctr">
              <a:buNone/>
            </a:pPr>
            <a:r>
              <a:rPr lang="en-US" sz="850" b="1" dirty="0">
                <a:solidFill>
                  <a:srgbClr val="2F6DB5"/>
                </a:solidFill>
              </a:rPr>
              <a:t>CREDENCE</a:t>
            </a:r>
            <a:endParaRPr lang="en-US" sz="850" dirty="0"/>
          </a:p>
        </p:txBody>
      </p:sp>
      <p:sp>
        <p:nvSpPr>
          <p:cNvPr id="26" name="Text 23"/>
          <p:cNvSpPr/>
          <p:nvPr/>
        </p:nvSpPr>
        <p:spPr>
          <a:xfrm>
            <a:off x="9491472" y="5440680"/>
            <a:ext cx="758952" cy="347472"/>
          </a:xfrm>
          <a:prstGeom prst="roundRect">
            <a:avLst>
              <a:gd name="adj" fmla="val 15789"/>
            </a:avLst>
          </a:prstGeom>
          <a:solidFill>
            <a:srgbClr val="EEF5FC"/>
          </a:solidFill>
          <a:ln w="9525">
            <a:solidFill>
              <a:srgbClr val="8DBBE6"/>
            </a:solidFill>
          </a:ln>
        </p:spPr>
        <p:txBody>
          <a:bodyPr wrap="square" lIns="0" tIns="0" rIns="0" bIns="0" rtlCol="0" anchor="ctr"/>
          <a:lstStyle/>
          <a:p>
            <a:pPr marL="0" indent="0" algn="ctr">
              <a:buNone/>
            </a:pPr>
            <a:r>
              <a:rPr lang="en-US" sz="850" b="1" dirty="0">
                <a:solidFill>
                  <a:srgbClr val="2F6DB5"/>
                </a:solidFill>
              </a:rPr>
              <a:t>FLOW</a:t>
            </a:r>
            <a:endParaRPr lang="en-US" sz="850" dirty="0"/>
          </a:p>
        </p:txBody>
      </p:sp>
      <p:sp>
        <p:nvSpPr>
          <p:cNvPr id="27" name="Text 24"/>
          <p:cNvSpPr/>
          <p:nvPr/>
        </p:nvSpPr>
        <p:spPr>
          <a:xfrm>
            <a:off x="10305288" y="5440680"/>
            <a:ext cx="758952" cy="347472"/>
          </a:xfrm>
          <a:prstGeom prst="roundRect">
            <a:avLst>
              <a:gd name="adj" fmla="val 15789"/>
            </a:avLst>
          </a:prstGeom>
          <a:solidFill>
            <a:srgbClr val="EEF5FC"/>
          </a:solidFill>
          <a:ln w="9525">
            <a:solidFill>
              <a:srgbClr val="8DBBE6"/>
            </a:solidFill>
          </a:ln>
        </p:spPr>
        <p:txBody>
          <a:bodyPr wrap="square" lIns="0" tIns="0" rIns="0" bIns="0" rtlCol="0" anchor="ctr"/>
          <a:lstStyle/>
          <a:p>
            <a:pPr marL="0" indent="0" algn="ctr">
              <a:buNone/>
            </a:pPr>
            <a:r>
              <a:rPr lang="en-US" sz="850" b="1" dirty="0">
                <a:solidFill>
                  <a:srgbClr val="2F6DB5"/>
                </a:solidFill>
              </a:rPr>
              <a:t>FIDELIO-DKD</a:t>
            </a:r>
            <a:endParaRPr lang="en-US" sz="850" dirty="0"/>
          </a:p>
        </p:txBody>
      </p:sp>
      <p:sp>
        <p:nvSpPr>
          <p:cNvPr id="28" name="Text 25"/>
          <p:cNvSpPr/>
          <p:nvPr/>
        </p:nvSpPr>
        <p:spPr>
          <a:xfrm>
            <a:off x="11119104" y="5440680"/>
            <a:ext cx="758952" cy="347472"/>
          </a:xfrm>
          <a:prstGeom prst="roundRect">
            <a:avLst>
              <a:gd name="adj" fmla="val 15789"/>
            </a:avLst>
          </a:prstGeom>
          <a:solidFill>
            <a:srgbClr val="EEF5FC"/>
          </a:solidFill>
          <a:ln w="9525">
            <a:solidFill>
              <a:srgbClr val="8DBBE6"/>
            </a:solidFill>
          </a:ln>
        </p:spPr>
        <p:txBody>
          <a:bodyPr wrap="square" lIns="0" tIns="0" rIns="0" bIns="0" rtlCol="0" anchor="ctr"/>
          <a:lstStyle/>
          <a:p>
            <a:pPr marL="0" indent="0" algn="ctr">
              <a:buNone/>
            </a:pPr>
            <a:r>
              <a:rPr lang="en-US" sz="850" b="1" dirty="0">
                <a:solidFill>
                  <a:srgbClr val="2F6DB5"/>
                </a:solidFill>
              </a:rPr>
              <a:t>RENAAL</a:t>
            </a:r>
            <a:endParaRPr lang="en-US" sz="850" dirty="0"/>
          </a:p>
        </p:txBody>
      </p:sp>
      <p:sp>
        <p:nvSpPr>
          <p:cNvPr id="29" name="Text 26"/>
          <p:cNvSpPr txBox="1"/>
          <p:nvPr/>
        </p:nvSpPr>
        <p:spPr>
          <a:xfrm>
            <a:off x="6263640" y="5897880"/>
            <a:ext cx="5623560" cy="274320"/>
          </a:xfrm>
          <a:prstGeom prst="rect">
            <a:avLst/>
          </a:prstGeom>
          <a:noFill/>
          <a:ln/>
        </p:spPr>
        <p:txBody>
          <a:bodyPr wrap="square" lIns="0" tIns="0" rIns="0" bIns="0" rtlCol="0" anchor="t"/>
          <a:lstStyle/>
          <a:p>
            <a:pPr marL="0" indent="0">
              <a:buNone/>
            </a:pPr>
            <a:r>
              <a:rPr lang="en-US" sz="1000" i="1" dirty="0">
                <a:solidFill>
                  <a:srgbClr val="52606D"/>
                </a:solidFill>
                <a:latin typeface="Calibri" pitchFamily="34" charset="0"/>
                <a:ea typeface="Calibri" pitchFamily="34" charset="-122"/>
                <a:cs typeface="Calibri" pitchFamily="34" charset="-120"/>
              </a:rPr>
              <a:t>Effect sizes live in clinical_rules.yaml, each flagged verified: false until checked.</a:t>
            </a:r>
            <a:endParaRPr lang="en-US" sz="10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itle tag"/>
          <p:cNvSpPr/>
          <p:nvPr/>
        </p:nvSpPr>
        <p:spPr>
          <a:xfrm>
            <a:off x="274320" y="109728"/>
            <a:ext cx="4908499" cy="603504"/>
          </a:xfrm>
          <a:prstGeom prst="rect">
            <a:avLst/>
          </a:prstGeom>
          <a:solidFill>
            <a:srgbClr val="FFFFFF"/>
          </a:solidFill>
          <a:ln w="22225">
            <a:solidFill>
              <a:srgbClr val="2F6DB5"/>
            </a:solidFill>
            <a:prstDash val="solid"/>
          </a:ln>
        </p:spPr>
      </p:sp>
      <p:sp>
        <p:nvSpPr>
          <p:cNvPr id="3" name="Text 10"/>
          <p:cNvSpPr>
            <a:spLocks noGrp="1"/>
          </p:cNvSpPr>
          <p:nvPr>
            <p:ph type="title" idx="111" hasCustomPrompt="1"/>
          </p:nvPr>
        </p:nvSpPr>
        <p:spPr>
          <a:xfrm>
            <a:off x="384048" y="128016"/>
            <a:ext cx="8686800" cy="566928"/>
          </a:xfrm>
          <a:prstGeom prst="rect">
            <a:avLst/>
          </a:prstGeom>
          <a:noFill/>
          <a:ln/>
        </p:spPr>
        <p:txBody>
          <a:bodyPr wrap="square" lIns="0" tIns="0" rIns="0" bIns="0" rtlCol="0" anchor="ctr"/>
          <a:lstStyle/>
          <a:p>
            <a:pPr marL="0" indent="0" algn="l">
              <a:buNone/>
            </a:pPr>
            <a:r>
              <a:rPr lang="en-US" sz="2600" b="1" dirty="0">
                <a:solidFill>
                  <a:srgbClr val="E9712F"/>
                </a:solidFill>
              </a:rPr>
              <a:t>Models, Training &amp; Evaluation</a:t>
            </a:r>
            <a:endParaRPr lang="en-US" sz="2600" dirty="0"/>
          </a:p>
        </p:txBody>
      </p:sp>
      <p:sp>
        <p:nvSpPr>
          <p:cNvPr id="4" name="Text 2"/>
          <p:cNvSpPr txBox="1"/>
          <p:nvPr/>
        </p:nvSpPr>
        <p:spPr>
          <a:xfrm>
            <a:off x="365760" y="841248"/>
            <a:ext cx="3657600" cy="256032"/>
          </a:xfrm>
          <a:prstGeom prst="rect">
            <a:avLst/>
          </a:prstGeom>
          <a:noFill/>
          <a:ln/>
        </p:spPr>
        <p:txBody>
          <a:bodyPr wrap="square" lIns="0" tIns="0" rIns="0" bIns="0" rtlCol="0" anchor="t"/>
          <a:lstStyle/>
          <a:p>
            <a:pPr marL="0" indent="0">
              <a:buNone/>
            </a:pPr>
            <a:r>
              <a:rPr lang="en-US" sz="1200" b="1" kern="0" spc="100" dirty="0">
                <a:solidFill>
                  <a:srgbClr val="1B3A5C"/>
                </a:solidFill>
                <a:latin typeface="Calibri" pitchFamily="34" charset="0"/>
                <a:ea typeface="Calibri" pitchFamily="34" charset="-122"/>
                <a:cs typeface="Calibri" pitchFamily="34" charset="-120"/>
              </a:rPr>
              <a:t>MODELS</a:t>
            </a:r>
            <a:endParaRPr lang="en-US" sz="1200" dirty="0"/>
          </a:p>
        </p:txBody>
      </p:sp>
      <p:graphicFrame>
        <p:nvGraphicFramePr>
          <p:cNvPr id="9" name="Table 0"/>
          <p:cNvGraphicFramePr>
            <a:graphicFrameLocks noGrp="1"/>
          </p:cNvGraphicFramePr>
          <p:nvPr>
            <p:extLst>
              <p:ext uri="{D42A27DB-BD31-4B8C-83A1-F6EECF244321}">
                <p14:modId xmlns:p14="http://schemas.microsoft.com/office/powerpoint/2010/main" val="1579011935"/>
              </p:ext>
            </p:extLst>
          </p:nvPr>
        </p:nvGraphicFramePr>
        <p:xfrm>
          <a:off x="320040" y="1143000"/>
          <a:ext cx="6675120" cy="2889504"/>
        </p:xfrm>
        <a:graphic>
          <a:graphicData uri="http://schemas.openxmlformats.org/drawingml/2006/table">
            <a:tbl>
              <a:tblPr/>
              <a:tblGrid>
                <a:gridCol w="1417320">
                  <a:extLst>
                    <a:ext uri="{9D8B030D-6E8A-4147-A177-3AD203B41FA5}">
                      <a16:colId xmlns:a16="http://schemas.microsoft.com/office/drawing/2014/main" val="20000"/>
                    </a:ext>
                  </a:extLst>
                </a:gridCol>
                <a:gridCol w="1874520">
                  <a:extLst>
                    <a:ext uri="{9D8B030D-6E8A-4147-A177-3AD203B41FA5}">
                      <a16:colId xmlns:a16="http://schemas.microsoft.com/office/drawing/2014/main" val="20001"/>
                    </a:ext>
                  </a:extLst>
                </a:gridCol>
                <a:gridCol w="1280160">
                  <a:extLst>
                    <a:ext uri="{9D8B030D-6E8A-4147-A177-3AD203B41FA5}">
                      <a16:colId xmlns:a16="http://schemas.microsoft.com/office/drawing/2014/main" val="20002"/>
                    </a:ext>
                  </a:extLst>
                </a:gridCol>
                <a:gridCol w="2103120">
                  <a:extLst>
                    <a:ext uri="{9D8B030D-6E8A-4147-A177-3AD203B41FA5}">
                      <a16:colId xmlns:a16="http://schemas.microsoft.com/office/drawing/2014/main" val="20003"/>
                    </a:ext>
                  </a:extLst>
                </a:gridCol>
              </a:tblGrid>
              <a:tr h="292608">
                <a:tc>
                  <a:txBody>
                    <a:bodyPr/>
                    <a:lstStyle/>
                    <a:p>
                      <a:pPr marL="0" indent="0">
                        <a:buNone/>
                      </a:pPr>
                      <a:r>
                        <a:rPr lang="en-US" sz="1000" b="1" dirty="0">
                          <a:solidFill>
                            <a:srgbClr val="FFFFFF"/>
                          </a:solidFill>
                          <a:latin typeface="Calibri" pitchFamily="34" charset="0"/>
                          <a:ea typeface="Calibri" pitchFamily="34" charset="-122"/>
                          <a:cs typeface="Calibri" pitchFamily="34" charset="-120"/>
                        </a:rPr>
                        <a:t>Model</a:t>
                      </a:r>
                      <a:endParaRPr lang="en-US" sz="1000" dirty="0">
                        <a:latin typeface="Calibri" charset="0"/>
                        <a:ea typeface="Calibri" charset="0"/>
                        <a:cs typeface="Calibri" charset="0"/>
                      </a:endParaRPr>
                    </a:p>
                  </a:txBody>
                  <a:tcPr marL="63500" marR="63500" marT="38100" marB="38100" anchor="ctr">
                    <a:lnL w="9525" cap="flat" cmpd="sng" algn="ctr">
                      <a:solidFill>
                        <a:srgbClr val="D5DCE3"/>
                      </a:solidFill>
                      <a:prstDash val="solid"/>
                      <a:round/>
                      <a:headEnd type="none" w="med" len="med"/>
                      <a:tailEnd type="none" w="med" len="med"/>
                    </a:lnL>
                    <a:lnR w="9525" cap="flat" cmpd="sng" algn="ctr">
                      <a:solidFill>
                        <a:srgbClr val="D5DCE3"/>
                      </a:solidFill>
                      <a:prstDash val="solid"/>
                      <a:round/>
                      <a:headEnd type="none" w="med" len="med"/>
                      <a:tailEnd type="none" w="med" len="med"/>
                    </a:lnR>
                    <a:lnT w="9525" cap="flat" cmpd="sng" algn="ctr">
                      <a:solidFill>
                        <a:srgbClr val="D5DCE3"/>
                      </a:solidFill>
                      <a:prstDash val="solid"/>
                      <a:round/>
                      <a:headEnd type="none" w="med" len="med"/>
                      <a:tailEnd type="none" w="med" len="med"/>
                    </a:lnT>
                    <a:lnB w="9525" cap="flat" cmpd="sng" algn="ctr">
                      <a:solidFill>
                        <a:srgbClr val="D5DCE3"/>
                      </a:solidFill>
                      <a:prstDash val="solid"/>
                      <a:round/>
                      <a:headEnd type="none" w="med" len="med"/>
                      <a:tailEnd type="none" w="med" len="med"/>
                    </a:lnB>
                    <a:solidFill>
                      <a:srgbClr val="1B3A5C"/>
                    </a:solidFill>
                  </a:tcPr>
                </a:tc>
                <a:tc>
                  <a:txBody>
                    <a:bodyPr/>
                    <a:lstStyle/>
                    <a:p>
                      <a:pPr marL="0" indent="0">
                        <a:buNone/>
                      </a:pPr>
                      <a:r>
                        <a:rPr lang="en-US" sz="1000" b="1" dirty="0">
                          <a:solidFill>
                            <a:srgbClr val="FFFFFF"/>
                          </a:solidFill>
                          <a:latin typeface="Calibri" pitchFamily="34" charset="0"/>
                          <a:ea typeface="Calibri" pitchFamily="34" charset="-122"/>
                          <a:cs typeface="Calibri" pitchFamily="34" charset="-120"/>
                        </a:rPr>
                        <a:t>Predicts</a:t>
                      </a:r>
                      <a:endParaRPr lang="en-US" sz="1000" dirty="0">
                        <a:latin typeface="Calibri" charset="0"/>
                        <a:ea typeface="Calibri" charset="0"/>
                        <a:cs typeface="Calibri" charset="0"/>
                      </a:endParaRPr>
                    </a:p>
                  </a:txBody>
                  <a:tcPr marL="63500" marR="63500" marT="38100" marB="38100" anchor="ctr">
                    <a:lnL w="9525" cap="flat" cmpd="sng" algn="ctr">
                      <a:solidFill>
                        <a:srgbClr val="D5DCE3"/>
                      </a:solidFill>
                      <a:prstDash val="solid"/>
                      <a:round/>
                      <a:headEnd type="none" w="med" len="med"/>
                      <a:tailEnd type="none" w="med" len="med"/>
                    </a:lnL>
                    <a:lnR w="9525" cap="flat" cmpd="sng" algn="ctr">
                      <a:solidFill>
                        <a:srgbClr val="D5DCE3"/>
                      </a:solidFill>
                      <a:prstDash val="solid"/>
                      <a:round/>
                      <a:headEnd type="none" w="med" len="med"/>
                      <a:tailEnd type="none" w="med" len="med"/>
                    </a:lnR>
                    <a:lnT w="9525" cap="flat" cmpd="sng" algn="ctr">
                      <a:solidFill>
                        <a:srgbClr val="D5DCE3"/>
                      </a:solidFill>
                      <a:prstDash val="solid"/>
                      <a:round/>
                      <a:headEnd type="none" w="med" len="med"/>
                      <a:tailEnd type="none" w="med" len="med"/>
                    </a:lnT>
                    <a:lnB w="9525" cap="flat" cmpd="sng" algn="ctr">
                      <a:solidFill>
                        <a:srgbClr val="D5DCE3"/>
                      </a:solidFill>
                      <a:prstDash val="solid"/>
                      <a:round/>
                      <a:headEnd type="none" w="med" len="med"/>
                      <a:tailEnd type="none" w="med" len="med"/>
                    </a:lnB>
                    <a:solidFill>
                      <a:srgbClr val="1B3A5C"/>
                    </a:solidFill>
                  </a:tcPr>
                </a:tc>
                <a:tc>
                  <a:txBody>
                    <a:bodyPr/>
                    <a:lstStyle/>
                    <a:p>
                      <a:pPr marL="0" indent="0">
                        <a:buNone/>
                      </a:pPr>
                      <a:r>
                        <a:rPr lang="en-US" sz="1000" b="1" dirty="0">
                          <a:solidFill>
                            <a:srgbClr val="FFFFFF"/>
                          </a:solidFill>
                          <a:latin typeface="Calibri" pitchFamily="34" charset="0"/>
                          <a:ea typeface="Calibri" pitchFamily="34" charset="-122"/>
                          <a:cs typeface="Calibri" pitchFamily="34" charset="-120"/>
                        </a:rPr>
                        <a:t>Trained on</a:t>
                      </a:r>
                      <a:endParaRPr lang="en-US" sz="1000" dirty="0">
                        <a:latin typeface="Calibri" charset="0"/>
                        <a:ea typeface="Calibri" charset="0"/>
                        <a:cs typeface="Calibri" charset="0"/>
                      </a:endParaRPr>
                    </a:p>
                  </a:txBody>
                  <a:tcPr marL="63500" marR="63500" marT="38100" marB="38100" anchor="ctr">
                    <a:lnL w="9525" cap="flat" cmpd="sng" algn="ctr">
                      <a:solidFill>
                        <a:srgbClr val="D5DCE3"/>
                      </a:solidFill>
                      <a:prstDash val="solid"/>
                      <a:round/>
                      <a:headEnd type="none" w="med" len="med"/>
                      <a:tailEnd type="none" w="med" len="med"/>
                    </a:lnL>
                    <a:lnR w="9525" cap="flat" cmpd="sng" algn="ctr">
                      <a:solidFill>
                        <a:srgbClr val="D5DCE3"/>
                      </a:solidFill>
                      <a:prstDash val="solid"/>
                      <a:round/>
                      <a:headEnd type="none" w="med" len="med"/>
                      <a:tailEnd type="none" w="med" len="med"/>
                    </a:lnR>
                    <a:lnT w="9525" cap="flat" cmpd="sng" algn="ctr">
                      <a:solidFill>
                        <a:srgbClr val="D5DCE3"/>
                      </a:solidFill>
                      <a:prstDash val="solid"/>
                      <a:round/>
                      <a:headEnd type="none" w="med" len="med"/>
                      <a:tailEnd type="none" w="med" len="med"/>
                    </a:lnT>
                    <a:lnB w="9525" cap="flat" cmpd="sng" algn="ctr">
                      <a:solidFill>
                        <a:srgbClr val="D5DCE3"/>
                      </a:solidFill>
                      <a:prstDash val="solid"/>
                      <a:round/>
                      <a:headEnd type="none" w="med" len="med"/>
                      <a:tailEnd type="none" w="med" len="med"/>
                    </a:lnB>
                    <a:solidFill>
                      <a:srgbClr val="1B3A5C"/>
                    </a:solidFill>
                  </a:tcPr>
                </a:tc>
                <a:tc>
                  <a:txBody>
                    <a:bodyPr/>
                    <a:lstStyle/>
                    <a:p>
                      <a:pPr marL="0" indent="0">
                        <a:buNone/>
                      </a:pPr>
                      <a:r>
                        <a:rPr lang="en-US" sz="1000" b="1" dirty="0">
                          <a:solidFill>
                            <a:srgbClr val="FFFFFF"/>
                          </a:solidFill>
                          <a:latin typeface="Calibri" pitchFamily="34" charset="0"/>
                          <a:ea typeface="Calibri" pitchFamily="34" charset="-122"/>
                          <a:cs typeface="Calibri" pitchFamily="34" charset="-120"/>
                        </a:rPr>
                        <a:t>Result</a:t>
                      </a:r>
                      <a:endParaRPr lang="en-US" sz="1000" dirty="0">
                        <a:latin typeface="Calibri" charset="0"/>
                        <a:ea typeface="Calibri" charset="0"/>
                        <a:cs typeface="Calibri" charset="0"/>
                      </a:endParaRPr>
                    </a:p>
                  </a:txBody>
                  <a:tcPr marL="63500" marR="63500" marT="38100" marB="38100" anchor="ctr">
                    <a:lnL w="9525" cap="flat" cmpd="sng" algn="ctr">
                      <a:solidFill>
                        <a:srgbClr val="D5DCE3"/>
                      </a:solidFill>
                      <a:prstDash val="solid"/>
                      <a:round/>
                      <a:headEnd type="none" w="med" len="med"/>
                      <a:tailEnd type="none" w="med" len="med"/>
                    </a:lnL>
                    <a:lnR w="9525" cap="flat" cmpd="sng" algn="ctr">
                      <a:solidFill>
                        <a:srgbClr val="D5DCE3"/>
                      </a:solidFill>
                      <a:prstDash val="solid"/>
                      <a:round/>
                      <a:headEnd type="none" w="med" len="med"/>
                      <a:tailEnd type="none" w="med" len="med"/>
                    </a:lnR>
                    <a:lnT w="9525" cap="flat" cmpd="sng" algn="ctr">
                      <a:solidFill>
                        <a:srgbClr val="D5DCE3"/>
                      </a:solidFill>
                      <a:prstDash val="solid"/>
                      <a:round/>
                      <a:headEnd type="none" w="med" len="med"/>
                      <a:tailEnd type="none" w="med" len="med"/>
                    </a:lnT>
                    <a:lnB w="9525" cap="flat" cmpd="sng" algn="ctr">
                      <a:solidFill>
                        <a:srgbClr val="D5DCE3"/>
                      </a:solidFill>
                      <a:prstDash val="solid"/>
                      <a:round/>
                      <a:headEnd type="none" w="med" len="med"/>
                      <a:tailEnd type="none" w="med" len="med"/>
                    </a:lnB>
                    <a:solidFill>
                      <a:srgbClr val="1B3A5C"/>
                    </a:solidFill>
                  </a:tcPr>
                </a:tc>
                <a:extLst>
                  <a:ext uri="{0D108BD9-81ED-4DB2-BD59-A6C34878D82A}">
                    <a16:rowId xmlns:a16="http://schemas.microsoft.com/office/drawing/2014/main" val="10000"/>
                  </a:ext>
                </a:extLst>
              </a:tr>
              <a:tr h="457200">
                <a:tc>
                  <a:txBody>
                    <a:bodyPr/>
                    <a:lstStyle/>
                    <a:p>
                      <a:pPr marL="0" indent="0">
                        <a:buNone/>
                      </a:pPr>
                      <a:r>
                        <a:rPr lang="en-US" sz="950" b="1" dirty="0">
                          <a:solidFill>
                            <a:srgbClr val="0F5B66"/>
                          </a:solidFill>
                          <a:latin typeface="Courier New" pitchFamily="34" charset="0"/>
                          <a:ea typeface="Courier New" pitchFamily="34" charset="-122"/>
                          <a:cs typeface="Courier New" pitchFamily="34" charset="-120"/>
                        </a:rPr>
                        <a:t>dkd_current</a:t>
                      </a:r>
                      <a:endParaRPr lang="en-US" sz="950" dirty="0">
                        <a:latin typeface="Courier New" charset="0"/>
                        <a:ea typeface="Courier New" charset="0"/>
                        <a:cs typeface="Courier New" charset="0"/>
                      </a:endParaRPr>
                    </a:p>
                  </a:txBody>
                  <a:tcPr marL="63500" marR="63500" marT="38100" marB="38100" anchor="ctr">
                    <a:lnL w="9525" cap="flat" cmpd="sng" algn="ctr">
                      <a:solidFill>
                        <a:srgbClr val="D5DCE3"/>
                      </a:solidFill>
                      <a:prstDash val="solid"/>
                      <a:round/>
                      <a:headEnd type="none" w="med" len="med"/>
                      <a:tailEnd type="none" w="med" len="med"/>
                    </a:lnL>
                    <a:lnR w="9525" cap="flat" cmpd="sng" algn="ctr">
                      <a:solidFill>
                        <a:srgbClr val="D5DCE3"/>
                      </a:solidFill>
                      <a:prstDash val="solid"/>
                      <a:round/>
                      <a:headEnd type="none" w="med" len="med"/>
                      <a:tailEnd type="none" w="med" len="med"/>
                    </a:lnR>
                    <a:lnT w="9525" cap="flat" cmpd="sng" algn="ctr">
                      <a:solidFill>
                        <a:srgbClr val="D5DCE3"/>
                      </a:solidFill>
                      <a:prstDash val="solid"/>
                      <a:round/>
                      <a:headEnd type="none" w="med" len="med"/>
                      <a:tailEnd type="none" w="med" len="med"/>
                    </a:lnT>
                    <a:lnB w="9525" cap="flat" cmpd="sng" algn="ctr">
                      <a:solidFill>
                        <a:srgbClr val="D5DCE3"/>
                      </a:solidFill>
                      <a:prstDash val="solid"/>
                      <a:round/>
                      <a:headEnd type="none" w="med" len="med"/>
                      <a:tailEnd type="none" w="med" len="med"/>
                    </a:lnB>
                    <a:solidFill>
                      <a:srgbClr val="FFFFFF"/>
                    </a:solidFill>
                  </a:tcPr>
                </a:tc>
                <a:tc>
                  <a:txBody>
                    <a:bodyPr/>
                    <a:lstStyle/>
                    <a:p>
                      <a:pPr marL="0" indent="0">
                        <a:buNone/>
                      </a:pPr>
                      <a:r>
                        <a:rPr lang="en-US" sz="1000" dirty="0">
                          <a:solidFill>
                            <a:srgbClr val="1F2A37"/>
                          </a:solidFill>
                          <a:latin typeface="Calibri" pitchFamily="34" charset="0"/>
                          <a:ea typeface="Calibri" pitchFamily="34" charset="-122"/>
                          <a:cs typeface="Calibri" pitchFamily="34" charset="-120"/>
                        </a:rPr>
                        <a:t>Has DKD now, from non-kidney data</a:t>
                      </a:r>
                      <a:endParaRPr lang="en-US" sz="1000" dirty="0">
                        <a:latin typeface="Calibri" charset="0"/>
                        <a:ea typeface="Calibri" charset="0"/>
                        <a:cs typeface="Calibri" charset="0"/>
                      </a:endParaRPr>
                    </a:p>
                  </a:txBody>
                  <a:tcPr marL="63500" marR="63500" marT="38100" marB="38100" anchor="ctr">
                    <a:lnL w="9525" cap="flat" cmpd="sng" algn="ctr">
                      <a:solidFill>
                        <a:srgbClr val="D5DCE3"/>
                      </a:solidFill>
                      <a:prstDash val="solid"/>
                      <a:round/>
                      <a:headEnd type="none" w="med" len="med"/>
                      <a:tailEnd type="none" w="med" len="med"/>
                    </a:lnL>
                    <a:lnR w="9525" cap="flat" cmpd="sng" algn="ctr">
                      <a:solidFill>
                        <a:srgbClr val="D5DCE3"/>
                      </a:solidFill>
                      <a:prstDash val="solid"/>
                      <a:round/>
                      <a:headEnd type="none" w="med" len="med"/>
                      <a:tailEnd type="none" w="med" len="med"/>
                    </a:lnR>
                    <a:lnT w="9525" cap="flat" cmpd="sng" algn="ctr">
                      <a:solidFill>
                        <a:srgbClr val="D5DCE3"/>
                      </a:solidFill>
                      <a:prstDash val="solid"/>
                      <a:round/>
                      <a:headEnd type="none" w="med" len="med"/>
                      <a:tailEnd type="none" w="med" len="med"/>
                    </a:lnT>
                    <a:lnB w="9525" cap="flat" cmpd="sng" algn="ctr">
                      <a:solidFill>
                        <a:srgbClr val="D5DCE3"/>
                      </a:solidFill>
                      <a:prstDash val="solid"/>
                      <a:round/>
                      <a:headEnd type="none" w="med" len="med"/>
                      <a:tailEnd type="none" w="med" len="med"/>
                    </a:lnB>
                    <a:solidFill>
                      <a:srgbClr val="FFFFFF"/>
                    </a:solidFill>
                  </a:tcPr>
                </a:tc>
                <a:tc>
                  <a:txBody>
                    <a:bodyPr/>
                    <a:lstStyle/>
                    <a:p>
                      <a:pPr marL="0" indent="0">
                        <a:buNone/>
                      </a:pPr>
                      <a:r>
                        <a:rPr lang="en-US" sz="1000" b="1" dirty="0">
                          <a:solidFill>
                            <a:srgbClr val="2F9A5A"/>
                          </a:solidFill>
                          <a:latin typeface="Calibri" pitchFamily="34" charset="0"/>
                          <a:ea typeface="Calibri" pitchFamily="34" charset="-122"/>
                          <a:cs typeface="Calibri" pitchFamily="34" charset="-120"/>
                        </a:rPr>
                        <a:t>NHANES (real)</a:t>
                      </a:r>
                      <a:endParaRPr lang="en-US" sz="1000" dirty="0">
                        <a:latin typeface="Calibri" charset="0"/>
                        <a:ea typeface="Calibri" charset="0"/>
                        <a:cs typeface="Calibri" charset="0"/>
                      </a:endParaRPr>
                    </a:p>
                  </a:txBody>
                  <a:tcPr marL="63500" marR="63500" marT="38100" marB="38100" anchor="ctr">
                    <a:lnL w="9525" cap="flat" cmpd="sng" algn="ctr">
                      <a:solidFill>
                        <a:srgbClr val="D5DCE3"/>
                      </a:solidFill>
                      <a:prstDash val="solid"/>
                      <a:round/>
                      <a:headEnd type="none" w="med" len="med"/>
                      <a:tailEnd type="none" w="med" len="med"/>
                    </a:lnL>
                    <a:lnR w="9525" cap="flat" cmpd="sng" algn="ctr">
                      <a:solidFill>
                        <a:srgbClr val="D5DCE3"/>
                      </a:solidFill>
                      <a:prstDash val="solid"/>
                      <a:round/>
                      <a:headEnd type="none" w="med" len="med"/>
                      <a:tailEnd type="none" w="med" len="med"/>
                    </a:lnR>
                    <a:lnT w="9525" cap="flat" cmpd="sng" algn="ctr">
                      <a:solidFill>
                        <a:srgbClr val="D5DCE3"/>
                      </a:solidFill>
                      <a:prstDash val="solid"/>
                      <a:round/>
                      <a:headEnd type="none" w="med" len="med"/>
                      <a:tailEnd type="none" w="med" len="med"/>
                    </a:lnT>
                    <a:lnB w="9525" cap="flat" cmpd="sng" algn="ctr">
                      <a:solidFill>
                        <a:srgbClr val="D5DCE3"/>
                      </a:solidFill>
                      <a:prstDash val="solid"/>
                      <a:round/>
                      <a:headEnd type="none" w="med" len="med"/>
                      <a:tailEnd type="none" w="med" len="med"/>
                    </a:lnB>
                    <a:solidFill>
                      <a:srgbClr val="FFFFFF"/>
                    </a:solidFill>
                  </a:tcPr>
                </a:tc>
                <a:tc>
                  <a:txBody>
                    <a:bodyPr/>
                    <a:lstStyle/>
                    <a:p>
                      <a:pPr marL="0" indent="0">
                        <a:buNone/>
                      </a:pPr>
                      <a:r>
                        <a:rPr lang="en-US" sz="1000" b="1" dirty="0">
                          <a:solidFill>
                            <a:srgbClr val="1B3A5C"/>
                          </a:solidFill>
                          <a:latin typeface="Calibri" pitchFamily="34" charset="0"/>
                          <a:ea typeface="Calibri" pitchFamily="34" charset="-122"/>
                          <a:cs typeface="Calibri" pitchFamily="34" charset="-120"/>
                        </a:rPr>
                        <a:t>AUROC 0.72 (5-fold CV); Asian 0.68</a:t>
                      </a:r>
                      <a:endParaRPr lang="en-US" sz="1000" dirty="0">
                        <a:latin typeface="Calibri" charset="0"/>
                        <a:ea typeface="Calibri" charset="0"/>
                        <a:cs typeface="Calibri" charset="0"/>
                      </a:endParaRPr>
                    </a:p>
                  </a:txBody>
                  <a:tcPr marL="63500" marR="63500" marT="38100" marB="38100" anchor="ctr">
                    <a:lnL w="9525" cap="flat" cmpd="sng" algn="ctr">
                      <a:solidFill>
                        <a:srgbClr val="D5DCE3"/>
                      </a:solidFill>
                      <a:prstDash val="solid"/>
                      <a:round/>
                      <a:headEnd type="none" w="med" len="med"/>
                      <a:tailEnd type="none" w="med" len="med"/>
                    </a:lnL>
                    <a:lnR w="9525" cap="flat" cmpd="sng" algn="ctr">
                      <a:solidFill>
                        <a:srgbClr val="D5DCE3"/>
                      </a:solidFill>
                      <a:prstDash val="solid"/>
                      <a:round/>
                      <a:headEnd type="none" w="med" len="med"/>
                      <a:tailEnd type="none" w="med" len="med"/>
                    </a:lnR>
                    <a:lnT w="9525" cap="flat" cmpd="sng" algn="ctr">
                      <a:solidFill>
                        <a:srgbClr val="D5DCE3"/>
                      </a:solidFill>
                      <a:prstDash val="solid"/>
                      <a:round/>
                      <a:headEnd type="none" w="med" len="med"/>
                      <a:tailEnd type="none" w="med" len="med"/>
                    </a:lnT>
                    <a:lnB w="9525" cap="flat" cmpd="sng" algn="ctr">
                      <a:solidFill>
                        <a:srgbClr val="D5DCE3"/>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384048">
                <a:tc>
                  <a:txBody>
                    <a:bodyPr/>
                    <a:lstStyle/>
                    <a:p>
                      <a:pPr marL="0" indent="0">
                        <a:buNone/>
                      </a:pPr>
                      <a:r>
                        <a:rPr lang="en-US" sz="950" b="1" dirty="0">
                          <a:solidFill>
                            <a:srgbClr val="0F5B66"/>
                          </a:solidFill>
                          <a:latin typeface="Courier New" pitchFamily="34" charset="0"/>
                          <a:ea typeface="Courier New" pitchFamily="34" charset="-122"/>
                          <a:cs typeface="Courier New" pitchFamily="34" charset="-120"/>
                        </a:rPr>
                        <a:t>dkd_onset</a:t>
                      </a:r>
                      <a:endParaRPr lang="en-US" sz="950" dirty="0">
                        <a:latin typeface="Courier New" charset="0"/>
                        <a:ea typeface="Courier New" charset="0"/>
                        <a:cs typeface="Courier New" charset="0"/>
                      </a:endParaRPr>
                    </a:p>
                  </a:txBody>
                  <a:tcPr marL="63500" marR="63500" marT="38100" marB="38100" anchor="ctr">
                    <a:lnL w="9525" cap="flat" cmpd="sng" algn="ctr">
                      <a:solidFill>
                        <a:srgbClr val="D5DCE3"/>
                      </a:solidFill>
                      <a:prstDash val="solid"/>
                      <a:round/>
                      <a:headEnd type="none" w="med" len="med"/>
                      <a:tailEnd type="none" w="med" len="med"/>
                    </a:lnL>
                    <a:lnR w="9525" cap="flat" cmpd="sng" algn="ctr">
                      <a:solidFill>
                        <a:srgbClr val="D5DCE3"/>
                      </a:solidFill>
                      <a:prstDash val="solid"/>
                      <a:round/>
                      <a:headEnd type="none" w="med" len="med"/>
                      <a:tailEnd type="none" w="med" len="med"/>
                    </a:lnR>
                    <a:lnT w="9525" cap="flat" cmpd="sng" algn="ctr">
                      <a:solidFill>
                        <a:srgbClr val="D5DCE3"/>
                      </a:solidFill>
                      <a:prstDash val="solid"/>
                      <a:round/>
                      <a:headEnd type="none" w="med" len="med"/>
                      <a:tailEnd type="none" w="med" len="med"/>
                    </a:lnT>
                    <a:lnB w="9525" cap="flat" cmpd="sng" algn="ctr">
                      <a:solidFill>
                        <a:srgbClr val="D5DCE3"/>
                      </a:solidFill>
                      <a:prstDash val="solid"/>
                      <a:round/>
                      <a:headEnd type="none" w="med" len="med"/>
                      <a:tailEnd type="none" w="med" len="med"/>
                    </a:lnB>
                    <a:solidFill>
                      <a:srgbClr val="FFFFFF"/>
                    </a:solidFill>
                  </a:tcPr>
                </a:tc>
                <a:tc>
                  <a:txBody>
                    <a:bodyPr/>
                    <a:lstStyle/>
                    <a:p>
                      <a:pPr marL="0" indent="0">
                        <a:buNone/>
                      </a:pPr>
                      <a:r>
                        <a:rPr lang="en-US" sz="1000" dirty="0">
                          <a:solidFill>
                            <a:srgbClr val="1F2A37"/>
                          </a:solidFill>
                          <a:latin typeface="Calibri" pitchFamily="34" charset="0"/>
                          <a:ea typeface="Calibri" pitchFamily="34" charset="-122"/>
                          <a:cs typeface="Calibri" pitchFamily="34" charset="-120"/>
                        </a:rPr>
                        <a:t>DKD within 3 years</a:t>
                      </a:r>
                      <a:endParaRPr lang="en-US" sz="1000" dirty="0">
                        <a:latin typeface="Calibri" charset="0"/>
                        <a:ea typeface="Calibri" charset="0"/>
                        <a:cs typeface="Calibri" charset="0"/>
                      </a:endParaRPr>
                    </a:p>
                  </a:txBody>
                  <a:tcPr marL="63500" marR="63500" marT="38100" marB="38100" anchor="ctr">
                    <a:lnL w="9525" cap="flat" cmpd="sng" algn="ctr">
                      <a:solidFill>
                        <a:srgbClr val="D5DCE3"/>
                      </a:solidFill>
                      <a:prstDash val="solid"/>
                      <a:round/>
                      <a:headEnd type="none" w="med" len="med"/>
                      <a:tailEnd type="none" w="med" len="med"/>
                    </a:lnL>
                    <a:lnR w="9525" cap="flat" cmpd="sng" algn="ctr">
                      <a:solidFill>
                        <a:srgbClr val="D5DCE3"/>
                      </a:solidFill>
                      <a:prstDash val="solid"/>
                      <a:round/>
                      <a:headEnd type="none" w="med" len="med"/>
                      <a:tailEnd type="none" w="med" len="med"/>
                    </a:lnR>
                    <a:lnT w="9525" cap="flat" cmpd="sng" algn="ctr">
                      <a:solidFill>
                        <a:srgbClr val="D5DCE3"/>
                      </a:solidFill>
                      <a:prstDash val="solid"/>
                      <a:round/>
                      <a:headEnd type="none" w="med" len="med"/>
                      <a:tailEnd type="none" w="med" len="med"/>
                    </a:lnT>
                    <a:lnB w="9525" cap="flat" cmpd="sng" algn="ctr">
                      <a:solidFill>
                        <a:srgbClr val="D5DCE3"/>
                      </a:solidFill>
                      <a:prstDash val="solid"/>
                      <a:round/>
                      <a:headEnd type="none" w="med" len="med"/>
                      <a:tailEnd type="none" w="med" len="med"/>
                    </a:lnB>
                    <a:solidFill>
                      <a:srgbClr val="FFFFFF"/>
                    </a:solidFill>
                  </a:tcPr>
                </a:tc>
                <a:tc>
                  <a:txBody>
                    <a:bodyPr/>
                    <a:lstStyle/>
                    <a:p>
                      <a:pPr marL="0" indent="0">
                        <a:buNone/>
                      </a:pPr>
                      <a:r>
                        <a:rPr lang="en-US" sz="1000" dirty="0">
                          <a:solidFill>
                            <a:srgbClr val="1F2A37"/>
                          </a:solidFill>
                          <a:latin typeface="Calibri" pitchFamily="34" charset="0"/>
                          <a:ea typeface="Calibri" pitchFamily="34" charset="-122"/>
                          <a:cs typeface="Calibri" pitchFamily="34" charset="-120"/>
                        </a:rPr>
                        <a:t>Synthetic cohort</a:t>
                      </a:r>
                      <a:endParaRPr lang="en-US" sz="1000" dirty="0">
                        <a:latin typeface="Calibri" charset="0"/>
                        <a:ea typeface="Calibri" charset="0"/>
                        <a:cs typeface="Calibri" charset="0"/>
                      </a:endParaRPr>
                    </a:p>
                  </a:txBody>
                  <a:tcPr marL="63500" marR="63500" marT="38100" marB="38100" anchor="ctr">
                    <a:lnL w="9525" cap="flat" cmpd="sng" algn="ctr">
                      <a:solidFill>
                        <a:srgbClr val="D5DCE3"/>
                      </a:solidFill>
                      <a:prstDash val="solid"/>
                      <a:round/>
                      <a:headEnd type="none" w="med" len="med"/>
                      <a:tailEnd type="none" w="med" len="med"/>
                    </a:lnL>
                    <a:lnR w="9525" cap="flat" cmpd="sng" algn="ctr">
                      <a:solidFill>
                        <a:srgbClr val="D5DCE3"/>
                      </a:solidFill>
                      <a:prstDash val="solid"/>
                      <a:round/>
                      <a:headEnd type="none" w="med" len="med"/>
                      <a:tailEnd type="none" w="med" len="med"/>
                    </a:lnR>
                    <a:lnT w="9525" cap="flat" cmpd="sng" algn="ctr">
                      <a:solidFill>
                        <a:srgbClr val="D5DCE3"/>
                      </a:solidFill>
                      <a:prstDash val="solid"/>
                      <a:round/>
                      <a:headEnd type="none" w="med" len="med"/>
                      <a:tailEnd type="none" w="med" len="med"/>
                    </a:lnT>
                    <a:lnB w="9525" cap="flat" cmpd="sng" algn="ctr">
                      <a:solidFill>
                        <a:srgbClr val="D5DCE3"/>
                      </a:solidFill>
                      <a:prstDash val="solid"/>
                      <a:round/>
                      <a:headEnd type="none" w="med" len="med"/>
                      <a:tailEnd type="none" w="med" len="med"/>
                    </a:lnB>
                    <a:solidFill>
                      <a:srgbClr val="FFFFFF"/>
                    </a:solidFill>
                  </a:tcPr>
                </a:tc>
                <a:tc>
                  <a:txBody>
                    <a:bodyPr/>
                    <a:lstStyle/>
                    <a:p>
                      <a:pPr marL="0" indent="0">
                        <a:buNone/>
                      </a:pPr>
                      <a:r>
                        <a:rPr lang="en-US" sz="1000" b="1" dirty="0">
                          <a:solidFill>
                            <a:srgbClr val="1B3A5C"/>
                          </a:solidFill>
                          <a:latin typeface="Calibri" pitchFamily="34" charset="0"/>
                          <a:ea typeface="Calibri" pitchFamily="34" charset="-122"/>
                          <a:cs typeface="Calibri" pitchFamily="34" charset="-120"/>
                        </a:rPr>
                        <a:t>AUROC 0.90, Brier 0.11</a:t>
                      </a:r>
                      <a:endParaRPr lang="en-US" sz="1000" dirty="0">
                        <a:latin typeface="Calibri" charset="0"/>
                        <a:ea typeface="Calibri" charset="0"/>
                        <a:cs typeface="Calibri" charset="0"/>
                      </a:endParaRPr>
                    </a:p>
                  </a:txBody>
                  <a:tcPr marL="63500" marR="63500" marT="38100" marB="38100" anchor="ctr">
                    <a:lnL w="9525" cap="flat" cmpd="sng" algn="ctr">
                      <a:solidFill>
                        <a:srgbClr val="D5DCE3"/>
                      </a:solidFill>
                      <a:prstDash val="solid"/>
                      <a:round/>
                      <a:headEnd type="none" w="med" len="med"/>
                      <a:tailEnd type="none" w="med" len="med"/>
                    </a:lnL>
                    <a:lnR w="9525" cap="flat" cmpd="sng" algn="ctr">
                      <a:solidFill>
                        <a:srgbClr val="D5DCE3"/>
                      </a:solidFill>
                      <a:prstDash val="solid"/>
                      <a:round/>
                      <a:headEnd type="none" w="med" len="med"/>
                      <a:tailEnd type="none" w="med" len="med"/>
                    </a:lnR>
                    <a:lnT w="9525" cap="flat" cmpd="sng" algn="ctr">
                      <a:solidFill>
                        <a:srgbClr val="D5DCE3"/>
                      </a:solidFill>
                      <a:prstDash val="solid"/>
                      <a:round/>
                      <a:headEnd type="none" w="med" len="med"/>
                      <a:tailEnd type="none" w="med" len="med"/>
                    </a:lnT>
                    <a:lnB w="9525" cap="flat" cmpd="sng" algn="ctr">
                      <a:solidFill>
                        <a:srgbClr val="D5DCE3"/>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457200">
                <a:tc>
                  <a:txBody>
                    <a:bodyPr/>
                    <a:lstStyle/>
                    <a:p>
                      <a:pPr marL="0" indent="0">
                        <a:buNone/>
                      </a:pPr>
                      <a:r>
                        <a:rPr lang="en-US" sz="950" b="1" dirty="0">
                          <a:solidFill>
                            <a:srgbClr val="0F5B66"/>
                          </a:solidFill>
                          <a:latin typeface="Courier New" pitchFamily="34" charset="0"/>
                          <a:ea typeface="Courier New" pitchFamily="34" charset="-122"/>
                          <a:cs typeface="Courier New" pitchFamily="34" charset="-120"/>
                        </a:rPr>
                        <a:t>dkd_progression</a:t>
                      </a:r>
                      <a:endParaRPr lang="en-US" sz="950" dirty="0">
                        <a:latin typeface="Courier New" charset="0"/>
                        <a:ea typeface="Courier New" charset="0"/>
                        <a:cs typeface="Courier New" charset="0"/>
                      </a:endParaRPr>
                    </a:p>
                  </a:txBody>
                  <a:tcPr marL="63500" marR="63500" marT="38100" marB="38100" anchor="ctr">
                    <a:lnL w="9525" cap="flat" cmpd="sng" algn="ctr">
                      <a:solidFill>
                        <a:srgbClr val="D5DCE3"/>
                      </a:solidFill>
                      <a:prstDash val="solid"/>
                      <a:round/>
                      <a:headEnd type="none" w="med" len="med"/>
                      <a:tailEnd type="none" w="med" len="med"/>
                    </a:lnL>
                    <a:lnR w="9525" cap="flat" cmpd="sng" algn="ctr">
                      <a:solidFill>
                        <a:srgbClr val="D5DCE3"/>
                      </a:solidFill>
                      <a:prstDash val="solid"/>
                      <a:round/>
                      <a:headEnd type="none" w="med" len="med"/>
                      <a:tailEnd type="none" w="med" len="med"/>
                    </a:lnR>
                    <a:lnT w="9525" cap="flat" cmpd="sng" algn="ctr">
                      <a:solidFill>
                        <a:srgbClr val="D5DCE3"/>
                      </a:solidFill>
                      <a:prstDash val="solid"/>
                      <a:round/>
                      <a:headEnd type="none" w="med" len="med"/>
                      <a:tailEnd type="none" w="med" len="med"/>
                    </a:lnT>
                    <a:lnB w="9525" cap="flat" cmpd="sng" algn="ctr">
                      <a:solidFill>
                        <a:srgbClr val="D5DCE3"/>
                      </a:solidFill>
                      <a:prstDash val="solid"/>
                      <a:round/>
                      <a:headEnd type="none" w="med" len="med"/>
                      <a:tailEnd type="none" w="med" len="med"/>
                    </a:lnB>
                    <a:solidFill>
                      <a:srgbClr val="FFFFFF"/>
                    </a:solidFill>
                  </a:tcPr>
                </a:tc>
                <a:tc>
                  <a:txBody>
                    <a:bodyPr/>
                    <a:lstStyle/>
                    <a:p>
                      <a:pPr marL="0" indent="0">
                        <a:buNone/>
                      </a:pPr>
                      <a:r>
                        <a:rPr lang="en-US" sz="1000" dirty="0">
                          <a:solidFill>
                            <a:srgbClr val="1F2A37"/>
                          </a:solidFill>
                          <a:latin typeface="Calibri" pitchFamily="34" charset="0"/>
                          <a:ea typeface="Calibri" pitchFamily="34" charset="-122"/>
                          <a:cs typeface="Calibri" pitchFamily="34" charset="-120"/>
                        </a:rPr>
                        <a:t>KDIGO stage worse or eGFR −30% in 3 yrs</a:t>
                      </a:r>
                      <a:endParaRPr lang="en-US" sz="1000" dirty="0">
                        <a:latin typeface="Calibri" charset="0"/>
                        <a:ea typeface="Calibri" charset="0"/>
                        <a:cs typeface="Calibri" charset="0"/>
                      </a:endParaRPr>
                    </a:p>
                  </a:txBody>
                  <a:tcPr marL="63500" marR="63500" marT="38100" marB="38100" anchor="ctr">
                    <a:lnL w="9525" cap="flat" cmpd="sng" algn="ctr">
                      <a:solidFill>
                        <a:srgbClr val="D5DCE3"/>
                      </a:solidFill>
                      <a:prstDash val="solid"/>
                      <a:round/>
                      <a:headEnd type="none" w="med" len="med"/>
                      <a:tailEnd type="none" w="med" len="med"/>
                    </a:lnL>
                    <a:lnR w="9525" cap="flat" cmpd="sng" algn="ctr">
                      <a:solidFill>
                        <a:srgbClr val="D5DCE3"/>
                      </a:solidFill>
                      <a:prstDash val="solid"/>
                      <a:round/>
                      <a:headEnd type="none" w="med" len="med"/>
                      <a:tailEnd type="none" w="med" len="med"/>
                    </a:lnR>
                    <a:lnT w="9525" cap="flat" cmpd="sng" algn="ctr">
                      <a:solidFill>
                        <a:srgbClr val="D5DCE3"/>
                      </a:solidFill>
                      <a:prstDash val="solid"/>
                      <a:round/>
                      <a:headEnd type="none" w="med" len="med"/>
                      <a:tailEnd type="none" w="med" len="med"/>
                    </a:lnT>
                    <a:lnB w="9525" cap="flat" cmpd="sng" algn="ctr">
                      <a:solidFill>
                        <a:srgbClr val="D5DCE3"/>
                      </a:solidFill>
                      <a:prstDash val="solid"/>
                      <a:round/>
                      <a:headEnd type="none" w="med" len="med"/>
                      <a:tailEnd type="none" w="med" len="med"/>
                    </a:lnB>
                    <a:solidFill>
                      <a:srgbClr val="FFFFFF"/>
                    </a:solidFill>
                  </a:tcPr>
                </a:tc>
                <a:tc>
                  <a:txBody>
                    <a:bodyPr/>
                    <a:lstStyle/>
                    <a:p>
                      <a:pPr marL="0" indent="0">
                        <a:buNone/>
                      </a:pPr>
                      <a:r>
                        <a:rPr lang="en-US" sz="1000" dirty="0">
                          <a:solidFill>
                            <a:srgbClr val="1F2A37"/>
                          </a:solidFill>
                          <a:latin typeface="Calibri" pitchFamily="34" charset="0"/>
                          <a:ea typeface="Calibri" pitchFamily="34" charset="-122"/>
                          <a:cs typeface="Calibri" pitchFamily="34" charset="-120"/>
                        </a:rPr>
                        <a:t>Synthetic; UCI check</a:t>
                      </a:r>
                      <a:endParaRPr lang="en-US" sz="1000" dirty="0">
                        <a:latin typeface="Calibri" charset="0"/>
                        <a:ea typeface="Calibri" charset="0"/>
                        <a:cs typeface="Calibri" charset="0"/>
                      </a:endParaRPr>
                    </a:p>
                  </a:txBody>
                  <a:tcPr marL="63500" marR="63500" marT="38100" marB="38100" anchor="ctr">
                    <a:lnL w="9525" cap="flat" cmpd="sng" algn="ctr">
                      <a:solidFill>
                        <a:srgbClr val="D5DCE3"/>
                      </a:solidFill>
                      <a:prstDash val="solid"/>
                      <a:round/>
                      <a:headEnd type="none" w="med" len="med"/>
                      <a:tailEnd type="none" w="med" len="med"/>
                    </a:lnL>
                    <a:lnR w="9525" cap="flat" cmpd="sng" algn="ctr">
                      <a:solidFill>
                        <a:srgbClr val="D5DCE3"/>
                      </a:solidFill>
                      <a:prstDash val="solid"/>
                      <a:round/>
                      <a:headEnd type="none" w="med" len="med"/>
                      <a:tailEnd type="none" w="med" len="med"/>
                    </a:lnR>
                    <a:lnT w="9525" cap="flat" cmpd="sng" algn="ctr">
                      <a:solidFill>
                        <a:srgbClr val="D5DCE3"/>
                      </a:solidFill>
                      <a:prstDash val="solid"/>
                      <a:round/>
                      <a:headEnd type="none" w="med" len="med"/>
                      <a:tailEnd type="none" w="med" len="med"/>
                    </a:lnT>
                    <a:lnB w="9525" cap="flat" cmpd="sng" algn="ctr">
                      <a:solidFill>
                        <a:srgbClr val="D5DCE3"/>
                      </a:solidFill>
                      <a:prstDash val="solid"/>
                      <a:round/>
                      <a:headEnd type="none" w="med" len="med"/>
                      <a:tailEnd type="none" w="med" len="med"/>
                    </a:lnB>
                    <a:solidFill>
                      <a:srgbClr val="FFFFFF"/>
                    </a:solidFill>
                  </a:tcPr>
                </a:tc>
                <a:tc>
                  <a:txBody>
                    <a:bodyPr/>
                    <a:lstStyle/>
                    <a:p>
                      <a:pPr marL="0" indent="0">
                        <a:buNone/>
                      </a:pPr>
                      <a:r>
                        <a:rPr lang="en-US" sz="1000" b="1" dirty="0">
                          <a:solidFill>
                            <a:srgbClr val="1B3A5C"/>
                          </a:solidFill>
                          <a:latin typeface="Calibri" pitchFamily="34" charset="0"/>
                          <a:ea typeface="Calibri" pitchFamily="34" charset="-122"/>
                          <a:cs typeface="Calibri" pitchFamily="34" charset="-120"/>
                        </a:rPr>
                        <a:t>AUROC 0.87; UCI India 0.93</a:t>
                      </a:r>
                      <a:endParaRPr lang="en-US" sz="1000" dirty="0">
                        <a:latin typeface="Calibri" charset="0"/>
                        <a:ea typeface="Calibri" charset="0"/>
                        <a:cs typeface="Calibri" charset="0"/>
                      </a:endParaRPr>
                    </a:p>
                  </a:txBody>
                  <a:tcPr marL="63500" marR="63500" marT="38100" marB="38100" anchor="ctr">
                    <a:lnL w="9525" cap="flat" cmpd="sng" algn="ctr">
                      <a:solidFill>
                        <a:srgbClr val="D5DCE3"/>
                      </a:solidFill>
                      <a:prstDash val="solid"/>
                      <a:round/>
                      <a:headEnd type="none" w="med" len="med"/>
                      <a:tailEnd type="none" w="med" len="med"/>
                    </a:lnL>
                    <a:lnR w="9525" cap="flat" cmpd="sng" algn="ctr">
                      <a:solidFill>
                        <a:srgbClr val="D5DCE3"/>
                      </a:solidFill>
                      <a:prstDash val="solid"/>
                      <a:round/>
                      <a:headEnd type="none" w="med" len="med"/>
                      <a:tailEnd type="none" w="med" len="med"/>
                    </a:lnR>
                    <a:lnT w="9525" cap="flat" cmpd="sng" algn="ctr">
                      <a:solidFill>
                        <a:srgbClr val="D5DCE3"/>
                      </a:solidFill>
                      <a:prstDash val="solid"/>
                      <a:round/>
                      <a:headEnd type="none" w="med" len="med"/>
                      <a:tailEnd type="none" w="med" len="med"/>
                    </a:lnT>
                    <a:lnB w="9525" cap="flat" cmpd="sng" algn="ctr">
                      <a:solidFill>
                        <a:srgbClr val="D5DCE3"/>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457200">
                <a:tc>
                  <a:txBody>
                    <a:bodyPr/>
                    <a:lstStyle/>
                    <a:p>
                      <a:pPr marL="0" indent="0">
                        <a:buNone/>
                      </a:pPr>
                      <a:r>
                        <a:rPr lang="en-US" sz="950" b="1" dirty="0">
                          <a:solidFill>
                            <a:srgbClr val="0F5B66"/>
                          </a:solidFill>
                          <a:latin typeface="Courier New" pitchFamily="34" charset="0"/>
                          <a:ea typeface="Courier New" pitchFamily="34" charset="-122"/>
                          <a:cs typeface="Courier New" pitchFamily="34" charset="-120"/>
                        </a:rPr>
                        <a:t>hba1c_forecast</a:t>
                      </a:r>
                      <a:endParaRPr lang="en-US" sz="950" dirty="0">
                        <a:latin typeface="Courier New" charset="0"/>
                        <a:ea typeface="Courier New" charset="0"/>
                        <a:cs typeface="Courier New" charset="0"/>
                      </a:endParaRPr>
                    </a:p>
                  </a:txBody>
                  <a:tcPr marL="63500" marR="63500" marT="38100" marB="38100" anchor="ctr">
                    <a:lnL w="9525" cap="flat" cmpd="sng" algn="ctr">
                      <a:solidFill>
                        <a:srgbClr val="D5DCE3"/>
                      </a:solidFill>
                      <a:prstDash val="solid"/>
                      <a:round/>
                      <a:headEnd type="none" w="med" len="med"/>
                      <a:tailEnd type="none" w="med" len="med"/>
                    </a:lnL>
                    <a:lnR w="9525" cap="flat" cmpd="sng" algn="ctr">
                      <a:solidFill>
                        <a:srgbClr val="D5DCE3"/>
                      </a:solidFill>
                      <a:prstDash val="solid"/>
                      <a:round/>
                      <a:headEnd type="none" w="med" len="med"/>
                      <a:tailEnd type="none" w="med" len="med"/>
                    </a:lnR>
                    <a:lnT w="9525" cap="flat" cmpd="sng" algn="ctr">
                      <a:solidFill>
                        <a:srgbClr val="D5DCE3"/>
                      </a:solidFill>
                      <a:prstDash val="solid"/>
                      <a:round/>
                      <a:headEnd type="none" w="med" len="med"/>
                      <a:tailEnd type="none" w="med" len="med"/>
                    </a:lnT>
                    <a:lnB w="9525" cap="flat" cmpd="sng" algn="ctr">
                      <a:solidFill>
                        <a:srgbClr val="D5DCE3"/>
                      </a:solidFill>
                      <a:prstDash val="solid"/>
                      <a:round/>
                      <a:headEnd type="none" w="med" len="med"/>
                      <a:tailEnd type="none" w="med" len="med"/>
                    </a:lnB>
                    <a:solidFill>
                      <a:srgbClr val="FFFFFF"/>
                    </a:solidFill>
                  </a:tcPr>
                </a:tc>
                <a:tc>
                  <a:txBody>
                    <a:bodyPr/>
                    <a:lstStyle/>
                    <a:p>
                      <a:pPr marL="0" indent="0">
                        <a:buNone/>
                      </a:pPr>
                      <a:r>
                        <a:rPr lang="en-US" sz="1000" dirty="0">
                          <a:solidFill>
                            <a:srgbClr val="1F2A37"/>
                          </a:solidFill>
                          <a:latin typeface="Calibri" pitchFamily="34" charset="0"/>
                          <a:ea typeface="Calibri" pitchFamily="34" charset="-122"/>
                          <a:cs typeface="Calibri" pitchFamily="34" charset="-120"/>
                        </a:rPr>
                        <a:t>HbA1c in 3 months</a:t>
                      </a:r>
                      <a:endParaRPr lang="en-US" sz="1000" dirty="0">
                        <a:latin typeface="Calibri" charset="0"/>
                        <a:ea typeface="Calibri" charset="0"/>
                        <a:cs typeface="Calibri" charset="0"/>
                      </a:endParaRPr>
                    </a:p>
                  </a:txBody>
                  <a:tcPr marL="63500" marR="63500" marT="38100" marB="38100" anchor="ctr">
                    <a:lnL w="9525" cap="flat" cmpd="sng" algn="ctr">
                      <a:solidFill>
                        <a:srgbClr val="D5DCE3"/>
                      </a:solidFill>
                      <a:prstDash val="solid"/>
                      <a:round/>
                      <a:headEnd type="none" w="med" len="med"/>
                      <a:tailEnd type="none" w="med" len="med"/>
                    </a:lnL>
                    <a:lnR w="9525" cap="flat" cmpd="sng" algn="ctr">
                      <a:solidFill>
                        <a:srgbClr val="D5DCE3"/>
                      </a:solidFill>
                      <a:prstDash val="solid"/>
                      <a:round/>
                      <a:headEnd type="none" w="med" len="med"/>
                      <a:tailEnd type="none" w="med" len="med"/>
                    </a:lnR>
                    <a:lnT w="9525" cap="flat" cmpd="sng" algn="ctr">
                      <a:solidFill>
                        <a:srgbClr val="D5DCE3"/>
                      </a:solidFill>
                      <a:prstDash val="solid"/>
                      <a:round/>
                      <a:headEnd type="none" w="med" len="med"/>
                      <a:tailEnd type="none" w="med" len="med"/>
                    </a:lnT>
                    <a:lnB w="9525" cap="flat" cmpd="sng" algn="ctr">
                      <a:solidFill>
                        <a:srgbClr val="D5DCE3"/>
                      </a:solidFill>
                      <a:prstDash val="solid"/>
                      <a:round/>
                      <a:headEnd type="none" w="med" len="med"/>
                      <a:tailEnd type="none" w="med" len="med"/>
                    </a:lnB>
                    <a:solidFill>
                      <a:srgbClr val="FFFFFF"/>
                    </a:solidFill>
                  </a:tcPr>
                </a:tc>
                <a:tc>
                  <a:txBody>
                    <a:bodyPr/>
                    <a:lstStyle/>
                    <a:p>
                      <a:pPr marL="0" indent="0">
                        <a:buNone/>
                      </a:pPr>
                      <a:r>
                        <a:rPr lang="en-US" sz="1000" dirty="0">
                          <a:solidFill>
                            <a:srgbClr val="1F2A37"/>
                          </a:solidFill>
                          <a:latin typeface="Calibri" pitchFamily="34" charset="0"/>
                          <a:ea typeface="Calibri" pitchFamily="34" charset="-122"/>
                          <a:cs typeface="Calibri" pitchFamily="34" charset="-120"/>
                        </a:rPr>
                        <a:t>Synthetic cohort</a:t>
                      </a:r>
                      <a:endParaRPr lang="en-US" sz="1000" dirty="0">
                        <a:latin typeface="Calibri" charset="0"/>
                        <a:ea typeface="Calibri" charset="0"/>
                        <a:cs typeface="Calibri" charset="0"/>
                      </a:endParaRPr>
                    </a:p>
                  </a:txBody>
                  <a:tcPr marL="63500" marR="63500" marT="38100" marB="38100" anchor="ctr">
                    <a:lnL w="9525" cap="flat" cmpd="sng" algn="ctr">
                      <a:solidFill>
                        <a:srgbClr val="D5DCE3"/>
                      </a:solidFill>
                      <a:prstDash val="solid"/>
                      <a:round/>
                      <a:headEnd type="none" w="med" len="med"/>
                      <a:tailEnd type="none" w="med" len="med"/>
                    </a:lnL>
                    <a:lnR w="9525" cap="flat" cmpd="sng" algn="ctr">
                      <a:solidFill>
                        <a:srgbClr val="D5DCE3"/>
                      </a:solidFill>
                      <a:prstDash val="solid"/>
                      <a:round/>
                      <a:headEnd type="none" w="med" len="med"/>
                      <a:tailEnd type="none" w="med" len="med"/>
                    </a:lnR>
                    <a:lnT w="9525" cap="flat" cmpd="sng" algn="ctr">
                      <a:solidFill>
                        <a:srgbClr val="D5DCE3"/>
                      </a:solidFill>
                      <a:prstDash val="solid"/>
                      <a:round/>
                      <a:headEnd type="none" w="med" len="med"/>
                      <a:tailEnd type="none" w="med" len="med"/>
                    </a:lnT>
                    <a:lnB w="9525" cap="flat" cmpd="sng" algn="ctr">
                      <a:solidFill>
                        <a:srgbClr val="D5DCE3"/>
                      </a:solidFill>
                      <a:prstDash val="solid"/>
                      <a:round/>
                      <a:headEnd type="none" w="med" len="med"/>
                      <a:tailEnd type="none" w="med" len="med"/>
                    </a:lnB>
                    <a:solidFill>
                      <a:srgbClr val="FFFFFF"/>
                    </a:solidFill>
                  </a:tcPr>
                </a:tc>
                <a:tc>
                  <a:txBody>
                    <a:bodyPr/>
                    <a:lstStyle/>
                    <a:p>
                      <a:pPr marL="0" indent="0">
                        <a:buNone/>
                      </a:pPr>
                      <a:r>
                        <a:rPr lang="en-US" sz="1000" b="1" dirty="0">
                          <a:solidFill>
                            <a:srgbClr val="1B3A5C"/>
                          </a:solidFill>
                          <a:latin typeface="Calibri" pitchFamily="34" charset="0"/>
                          <a:ea typeface="Calibri" pitchFamily="34" charset="-122"/>
                          <a:cs typeface="Calibri" pitchFamily="34" charset="-120"/>
                        </a:rPr>
                        <a:t>MAE 0.26% when a drug is added (vs 0.39% no-change)</a:t>
                      </a:r>
                      <a:endParaRPr lang="en-US" sz="1000" dirty="0">
                        <a:latin typeface="Calibri" charset="0"/>
                        <a:ea typeface="Calibri" charset="0"/>
                        <a:cs typeface="Calibri" charset="0"/>
                      </a:endParaRPr>
                    </a:p>
                  </a:txBody>
                  <a:tcPr marL="63500" marR="63500" marT="38100" marB="38100" anchor="ctr">
                    <a:lnL w="9525" cap="flat" cmpd="sng" algn="ctr">
                      <a:solidFill>
                        <a:srgbClr val="D5DCE3"/>
                      </a:solidFill>
                      <a:prstDash val="solid"/>
                      <a:round/>
                      <a:headEnd type="none" w="med" len="med"/>
                      <a:tailEnd type="none" w="med" len="med"/>
                    </a:lnL>
                    <a:lnR w="9525" cap="flat" cmpd="sng" algn="ctr">
                      <a:solidFill>
                        <a:srgbClr val="D5DCE3"/>
                      </a:solidFill>
                      <a:prstDash val="solid"/>
                      <a:round/>
                      <a:headEnd type="none" w="med" len="med"/>
                      <a:tailEnd type="none" w="med" len="med"/>
                    </a:lnR>
                    <a:lnT w="9525" cap="flat" cmpd="sng" algn="ctr">
                      <a:solidFill>
                        <a:srgbClr val="D5DCE3"/>
                      </a:solidFill>
                      <a:prstDash val="solid"/>
                      <a:round/>
                      <a:headEnd type="none" w="med" len="med"/>
                      <a:tailEnd type="none" w="med" len="med"/>
                    </a:lnT>
                    <a:lnB w="9525" cap="flat" cmpd="sng" algn="ctr">
                      <a:solidFill>
                        <a:srgbClr val="D5DCE3"/>
                      </a:solidFill>
                      <a:prstDash val="solid"/>
                      <a:round/>
                      <a:headEnd type="none" w="med" len="med"/>
                      <a:tailEnd type="none" w="med" len="med"/>
                    </a:lnB>
                    <a:solidFill>
                      <a:srgbClr val="FFFFFF"/>
                    </a:solidFill>
                  </a:tcPr>
                </a:tc>
                <a:extLst>
                  <a:ext uri="{0D108BD9-81ED-4DB2-BD59-A6C34878D82A}">
                    <a16:rowId xmlns:a16="http://schemas.microsoft.com/office/drawing/2014/main" val="10004"/>
                  </a:ext>
                </a:extLst>
              </a:tr>
              <a:tr h="457200">
                <a:tc>
                  <a:txBody>
                    <a:bodyPr/>
                    <a:lstStyle/>
                    <a:p>
                      <a:pPr marL="0" indent="0">
                        <a:buNone/>
                      </a:pPr>
                      <a:r>
                        <a:rPr lang="en-US" sz="950" b="1" dirty="0">
                          <a:solidFill>
                            <a:srgbClr val="0F5B66"/>
                          </a:solidFill>
                          <a:latin typeface="Courier New" pitchFamily="34" charset="0"/>
                          <a:ea typeface="Courier New" pitchFamily="34" charset="-122"/>
                          <a:cs typeface="Courier New" pitchFamily="34" charset="-120"/>
                        </a:rPr>
                        <a:t>glucose_forecast</a:t>
                      </a:r>
                      <a:endParaRPr lang="en-US" sz="950" dirty="0">
                        <a:latin typeface="Courier New" charset="0"/>
                        <a:ea typeface="Courier New" charset="0"/>
                        <a:cs typeface="Courier New" charset="0"/>
                      </a:endParaRPr>
                    </a:p>
                  </a:txBody>
                  <a:tcPr marL="63500" marR="63500" marT="38100" marB="38100" anchor="ctr">
                    <a:lnL w="9525" cap="flat" cmpd="sng" algn="ctr">
                      <a:solidFill>
                        <a:srgbClr val="D5DCE3"/>
                      </a:solidFill>
                      <a:prstDash val="solid"/>
                      <a:round/>
                      <a:headEnd type="none" w="med" len="med"/>
                      <a:tailEnd type="none" w="med" len="med"/>
                    </a:lnL>
                    <a:lnR w="9525" cap="flat" cmpd="sng" algn="ctr">
                      <a:solidFill>
                        <a:srgbClr val="D5DCE3"/>
                      </a:solidFill>
                      <a:prstDash val="solid"/>
                      <a:round/>
                      <a:headEnd type="none" w="med" len="med"/>
                      <a:tailEnd type="none" w="med" len="med"/>
                    </a:lnR>
                    <a:lnT w="9525" cap="flat" cmpd="sng" algn="ctr">
                      <a:solidFill>
                        <a:srgbClr val="D5DCE3"/>
                      </a:solidFill>
                      <a:prstDash val="solid"/>
                      <a:round/>
                      <a:headEnd type="none" w="med" len="med"/>
                      <a:tailEnd type="none" w="med" len="med"/>
                    </a:lnT>
                    <a:lnB w="9525" cap="flat" cmpd="sng" algn="ctr">
                      <a:solidFill>
                        <a:srgbClr val="D5DCE3"/>
                      </a:solidFill>
                      <a:prstDash val="solid"/>
                      <a:round/>
                      <a:headEnd type="none" w="med" len="med"/>
                      <a:tailEnd type="none" w="med" len="med"/>
                    </a:lnB>
                    <a:solidFill>
                      <a:srgbClr val="FFFFFF"/>
                    </a:solidFill>
                  </a:tcPr>
                </a:tc>
                <a:tc>
                  <a:txBody>
                    <a:bodyPr/>
                    <a:lstStyle/>
                    <a:p>
                      <a:pPr marL="0" indent="0">
                        <a:buNone/>
                      </a:pPr>
                      <a:r>
                        <a:rPr lang="en-US" sz="1000" dirty="0">
                          <a:solidFill>
                            <a:srgbClr val="1F2A37"/>
                          </a:solidFill>
                          <a:latin typeface="Calibri" pitchFamily="34" charset="0"/>
                          <a:ea typeface="Calibri" pitchFamily="34" charset="-122"/>
                          <a:cs typeface="Calibri" pitchFamily="34" charset="-120"/>
                        </a:rPr>
                        <a:t>Glucose +30 / +60 min</a:t>
                      </a:r>
                      <a:endParaRPr lang="en-US" sz="1000" dirty="0">
                        <a:latin typeface="Calibri" charset="0"/>
                        <a:ea typeface="Calibri" charset="0"/>
                        <a:cs typeface="Calibri" charset="0"/>
                      </a:endParaRPr>
                    </a:p>
                  </a:txBody>
                  <a:tcPr marL="63500" marR="63500" marT="38100" marB="38100" anchor="ctr">
                    <a:lnL w="9525" cap="flat" cmpd="sng" algn="ctr">
                      <a:solidFill>
                        <a:srgbClr val="D5DCE3"/>
                      </a:solidFill>
                      <a:prstDash val="solid"/>
                      <a:round/>
                      <a:headEnd type="none" w="med" len="med"/>
                      <a:tailEnd type="none" w="med" len="med"/>
                    </a:lnL>
                    <a:lnR w="9525" cap="flat" cmpd="sng" algn="ctr">
                      <a:solidFill>
                        <a:srgbClr val="D5DCE3"/>
                      </a:solidFill>
                      <a:prstDash val="solid"/>
                      <a:round/>
                      <a:headEnd type="none" w="med" len="med"/>
                      <a:tailEnd type="none" w="med" len="med"/>
                    </a:lnR>
                    <a:lnT w="9525" cap="flat" cmpd="sng" algn="ctr">
                      <a:solidFill>
                        <a:srgbClr val="D5DCE3"/>
                      </a:solidFill>
                      <a:prstDash val="solid"/>
                      <a:round/>
                      <a:headEnd type="none" w="med" len="med"/>
                      <a:tailEnd type="none" w="med" len="med"/>
                    </a:lnT>
                    <a:lnB w="9525" cap="flat" cmpd="sng" algn="ctr">
                      <a:solidFill>
                        <a:srgbClr val="D5DCE3"/>
                      </a:solidFill>
                      <a:prstDash val="solid"/>
                      <a:round/>
                      <a:headEnd type="none" w="med" len="med"/>
                      <a:tailEnd type="none" w="med" len="med"/>
                    </a:lnB>
                    <a:solidFill>
                      <a:srgbClr val="FFFFFF"/>
                    </a:solidFill>
                  </a:tcPr>
                </a:tc>
                <a:tc>
                  <a:txBody>
                    <a:bodyPr/>
                    <a:lstStyle/>
                    <a:p>
                      <a:pPr marL="0" indent="0">
                        <a:buNone/>
                      </a:pPr>
                      <a:r>
                        <a:rPr lang="en-US" sz="1000" dirty="0">
                          <a:solidFill>
                            <a:srgbClr val="1F2A37"/>
                          </a:solidFill>
                          <a:latin typeface="Calibri" pitchFamily="34" charset="0"/>
                          <a:ea typeface="Calibri" pitchFamily="34" charset="-122"/>
                          <a:cs typeface="Calibri" pitchFamily="34" charset="-120"/>
                        </a:rPr>
                        <a:t>Synthetic CGM</a:t>
                      </a:r>
                      <a:endParaRPr lang="en-US" sz="1000" dirty="0">
                        <a:latin typeface="Calibri" charset="0"/>
                        <a:ea typeface="Calibri" charset="0"/>
                        <a:cs typeface="Calibri" charset="0"/>
                      </a:endParaRPr>
                    </a:p>
                  </a:txBody>
                  <a:tcPr marL="63500" marR="63500" marT="38100" marB="38100" anchor="ctr">
                    <a:lnL w="9525" cap="flat" cmpd="sng" algn="ctr">
                      <a:solidFill>
                        <a:srgbClr val="D5DCE3"/>
                      </a:solidFill>
                      <a:prstDash val="solid"/>
                      <a:round/>
                      <a:headEnd type="none" w="med" len="med"/>
                      <a:tailEnd type="none" w="med" len="med"/>
                    </a:lnL>
                    <a:lnR w="9525" cap="flat" cmpd="sng" algn="ctr">
                      <a:solidFill>
                        <a:srgbClr val="D5DCE3"/>
                      </a:solidFill>
                      <a:prstDash val="solid"/>
                      <a:round/>
                      <a:headEnd type="none" w="med" len="med"/>
                      <a:tailEnd type="none" w="med" len="med"/>
                    </a:lnR>
                    <a:lnT w="9525" cap="flat" cmpd="sng" algn="ctr">
                      <a:solidFill>
                        <a:srgbClr val="D5DCE3"/>
                      </a:solidFill>
                      <a:prstDash val="solid"/>
                      <a:round/>
                      <a:headEnd type="none" w="med" len="med"/>
                      <a:tailEnd type="none" w="med" len="med"/>
                    </a:lnT>
                    <a:lnB w="9525" cap="flat" cmpd="sng" algn="ctr">
                      <a:solidFill>
                        <a:srgbClr val="D5DCE3"/>
                      </a:solidFill>
                      <a:prstDash val="solid"/>
                      <a:round/>
                      <a:headEnd type="none" w="med" len="med"/>
                      <a:tailEnd type="none" w="med" len="med"/>
                    </a:lnB>
                    <a:solidFill>
                      <a:srgbClr val="FFFFFF"/>
                    </a:solidFill>
                  </a:tcPr>
                </a:tc>
                <a:tc>
                  <a:txBody>
                    <a:bodyPr/>
                    <a:lstStyle/>
                    <a:p>
                      <a:pPr marL="0" indent="0">
                        <a:buNone/>
                      </a:pPr>
                      <a:r>
                        <a:rPr lang="en-US" sz="1000" b="1" dirty="0">
                          <a:solidFill>
                            <a:srgbClr val="1B3A5C"/>
                          </a:solidFill>
                          <a:latin typeface="Calibri" pitchFamily="34" charset="0"/>
                          <a:ea typeface="Calibri" pitchFamily="34" charset="-122"/>
                          <a:cs typeface="Calibri" pitchFamily="34" charset="-120"/>
                        </a:rPr>
                        <a:t>MAE 8 / 12 mg/dL (vs 15 / 24 no-change)</a:t>
                      </a:r>
                      <a:endParaRPr lang="en-US" sz="1000" dirty="0">
                        <a:latin typeface="Calibri" charset="0"/>
                        <a:ea typeface="Calibri" charset="0"/>
                        <a:cs typeface="Calibri" charset="0"/>
                      </a:endParaRPr>
                    </a:p>
                  </a:txBody>
                  <a:tcPr marL="63500" marR="63500" marT="38100" marB="38100" anchor="ctr">
                    <a:lnL w="9525" cap="flat" cmpd="sng" algn="ctr">
                      <a:solidFill>
                        <a:srgbClr val="D5DCE3"/>
                      </a:solidFill>
                      <a:prstDash val="solid"/>
                      <a:round/>
                      <a:headEnd type="none" w="med" len="med"/>
                      <a:tailEnd type="none" w="med" len="med"/>
                    </a:lnL>
                    <a:lnR w="9525" cap="flat" cmpd="sng" algn="ctr">
                      <a:solidFill>
                        <a:srgbClr val="D5DCE3"/>
                      </a:solidFill>
                      <a:prstDash val="solid"/>
                      <a:round/>
                      <a:headEnd type="none" w="med" len="med"/>
                      <a:tailEnd type="none" w="med" len="med"/>
                    </a:lnR>
                    <a:lnT w="9525" cap="flat" cmpd="sng" algn="ctr">
                      <a:solidFill>
                        <a:srgbClr val="D5DCE3"/>
                      </a:solidFill>
                      <a:prstDash val="solid"/>
                      <a:round/>
                      <a:headEnd type="none" w="med" len="med"/>
                      <a:tailEnd type="none" w="med" len="med"/>
                    </a:lnT>
                    <a:lnB w="9525" cap="flat" cmpd="sng" algn="ctr">
                      <a:solidFill>
                        <a:srgbClr val="D5DCE3"/>
                      </a:solidFill>
                      <a:prstDash val="solid"/>
                      <a:round/>
                      <a:headEnd type="none" w="med" len="med"/>
                      <a:tailEnd type="none" w="med" len="med"/>
                    </a:lnB>
                    <a:solidFill>
                      <a:srgbClr val="FFFFFF"/>
                    </a:solidFill>
                  </a:tcPr>
                </a:tc>
                <a:extLst>
                  <a:ext uri="{0D108BD9-81ED-4DB2-BD59-A6C34878D82A}">
                    <a16:rowId xmlns:a16="http://schemas.microsoft.com/office/drawing/2014/main" val="10005"/>
                  </a:ext>
                </a:extLst>
              </a:tr>
              <a:tr h="384048">
                <a:tc>
                  <a:txBody>
                    <a:bodyPr/>
                    <a:lstStyle/>
                    <a:p>
                      <a:pPr marL="0" indent="0">
                        <a:buNone/>
                      </a:pPr>
                      <a:r>
                        <a:rPr lang="en-US" sz="950" b="1" dirty="0">
                          <a:solidFill>
                            <a:srgbClr val="0F5B66"/>
                          </a:solidFill>
                          <a:latin typeface="Courier New" pitchFamily="34" charset="0"/>
                          <a:ea typeface="Courier New" pitchFamily="34" charset="-122"/>
                          <a:cs typeface="Courier New" pitchFamily="34" charset="-120"/>
                        </a:rPr>
                        <a:t>glucose_spike_90m</a:t>
                      </a:r>
                      <a:endParaRPr lang="en-US" sz="950" dirty="0">
                        <a:latin typeface="Courier New" charset="0"/>
                        <a:ea typeface="Courier New" charset="0"/>
                        <a:cs typeface="Courier New" charset="0"/>
                      </a:endParaRPr>
                    </a:p>
                  </a:txBody>
                  <a:tcPr marL="63500" marR="63500" marT="38100" marB="38100" anchor="ctr">
                    <a:lnL w="9525" cap="flat" cmpd="sng" algn="ctr">
                      <a:solidFill>
                        <a:srgbClr val="D5DCE3"/>
                      </a:solidFill>
                      <a:prstDash val="solid"/>
                      <a:round/>
                      <a:headEnd type="none" w="med" len="med"/>
                      <a:tailEnd type="none" w="med" len="med"/>
                    </a:lnL>
                    <a:lnR w="9525" cap="flat" cmpd="sng" algn="ctr">
                      <a:solidFill>
                        <a:srgbClr val="D5DCE3"/>
                      </a:solidFill>
                      <a:prstDash val="solid"/>
                      <a:round/>
                      <a:headEnd type="none" w="med" len="med"/>
                      <a:tailEnd type="none" w="med" len="med"/>
                    </a:lnR>
                    <a:lnT w="9525" cap="flat" cmpd="sng" algn="ctr">
                      <a:solidFill>
                        <a:srgbClr val="D5DCE3"/>
                      </a:solidFill>
                      <a:prstDash val="solid"/>
                      <a:round/>
                      <a:headEnd type="none" w="med" len="med"/>
                      <a:tailEnd type="none" w="med" len="med"/>
                    </a:lnT>
                    <a:lnB w="9525" cap="flat" cmpd="sng" algn="ctr">
                      <a:solidFill>
                        <a:srgbClr val="D5DCE3"/>
                      </a:solidFill>
                      <a:prstDash val="solid"/>
                      <a:round/>
                      <a:headEnd type="none" w="med" len="med"/>
                      <a:tailEnd type="none" w="med" len="med"/>
                    </a:lnB>
                    <a:solidFill>
                      <a:srgbClr val="FFFFFF"/>
                    </a:solidFill>
                  </a:tcPr>
                </a:tc>
                <a:tc>
                  <a:txBody>
                    <a:bodyPr/>
                    <a:lstStyle/>
                    <a:p>
                      <a:pPr marL="0" indent="0">
                        <a:buNone/>
                      </a:pPr>
                      <a:r>
                        <a:rPr lang="en-US" sz="1000" dirty="0">
                          <a:solidFill>
                            <a:srgbClr val="1F2A37"/>
                          </a:solidFill>
                          <a:latin typeface="Calibri" pitchFamily="34" charset="0"/>
                          <a:ea typeface="Calibri" pitchFamily="34" charset="-122"/>
                          <a:cs typeface="Calibri" pitchFamily="34" charset="-120"/>
                        </a:rPr>
                        <a:t>Glucose &gt; 250 within 90 min</a:t>
                      </a:r>
                      <a:endParaRPr lang="en-US" sz="1000" dirty="0">
                        <a:latin typeface="Calibri" charset="0"/>
                        <a:ea typeface="Calibri" charset="0"/>
                        <a:cs typeface="Calibri" charset="0"/>
                      </a:endParaRPr>
                    </a:p>
                  </a:txBody>
                  <a:tcPr marL="63500" marR="63500" marT="38100" marB="38100" anchor="ctr">
                    <a:lnL w="9525" cap="flat" cmpd="sng" algn="ctr">
                      <a:solidFill>
                        <a:srgbClr val="D5DCE3"/>
                      </a:solidFill>
                      <a:prstDash val="solid"/>
                      <a:round/>
                      <a:headEnd type="none" w="med" len="med"/>
                      <a:tailEnd type="none" w="med" len="med"/>
                    </a:lnL>
                    <a:lnR w="9525" cap="flat" cmpd="sng" algn="ctr">
                      <a:solidFill>
                        <a:srgbClr val="D5DCE3"/>
                      </a:solidFill>
                      <a:prstDash val="solid"/>
                      <a:round/>
                      <a:headEnd type="none" w="med" len="med"/>
                      <a:tailEnd type="none" w="med" len="med"/>
                    </a:lnR>
                    <a:lnT w="9525" cap="flat" cmpd="sng" algn="ctr">
                      <a:solidFill>
                        <a:srgbClr val="D5DCE3"/>
                      </a:solidFill>
                      <a:prstDash val="solid"/>
                      <a:round/>
                      <a:headEnd type="none" w="med" len="med"/>
                      <a:tailEnd type="none" w="med" len="med"/>
                    </a:lnT>
                    <a:lnB w="9525" cap="flat" cmpd="sng" algn="ctr">
                      <a:solidFill>
                        <a:srgbClr val="D5DCE3"/>
                      </a:solidFill>
                      <a:prstDash val="solid"/>
                      <a:round/>
                      <a:headEnd type="none" w="med" len="med"/>
                      <a:tailEnd type="none" w="med" len="med"/>
                    </a:lnB>
                    <a:solidFill>
                      <a:srgbClr val="FFFFFF"/>
                    </a:solidFill>
                  </a:tcPr>
                </a:tc>
                <a:tc>
                  <a:txBody>
                    <a:bodyPr/>
                    <a:lstStyle/>
                    <a:p>
                      <a:pPr marL="0" indent="0">
                        <a:buNone/>
                      </a:pPr>
                      <a:r>
                        <a:rPr lang="en-US" sz="1000" dirty="0">
                          <a:solidFill>
                            <a:srgbClr val="1F2A37"/>
                          </a:solidFill>
                          <a:latin typeface="Calibri" pitchFamily="34" charset="0"/>
                          <a:ea typeface="Calibri" pitchFamily="34" charset="-122"/>
                          <a:cs typeface="Calibri" pitchFamily="34" charset="-120"/>
                        </a:rPr>
                        <a:t>Synthetic CGM</a:t>
                      </a:r>
                      <a:endParaRPr lang="en-US" sz="1000" dirty="0">
                        <a:latin typeface="Calibri" charset="0"/>
                        <a:ea typeface="Calibri" charset="0"/>
                        <a:cs typeface="Calibri" charset="0"/>
                      </a:endParaRPr>
                    </a:p>
                  </a:txBody>
                  <a:tcPr marL="63500" marR="63500" marT="38100" marB="38100" anchor="ctr">
                    <a:lnL w="9525" cap="flat" cmpd="sng" algn="ctr">
                      <a:solidFill>
                        <a:srgbClr val="D5DCE3"/>
                      </a:solidFill>
                      <a:prstDash val="solid"/>
                      <a:round/>
                      <a:headEnd type="none" w="med" len="med"/>
                      <a:tailEnd type="none" w="med" len="med"/>
                    </a:lnL>
                    <a:lnR w="9525" cap="flat" cmpd="sng" algn="ctr">
                      <a:solidFill>
                        <a:srgbClr val="D5DCE3"/>
                      </a:solidFill>
                      <a:prstDash val="solid"/>
                      <a:round/>
                      <a:headEnd type="none" w="med" len="med"/>
                      <a:tailEnd type="none" w="med" len="med"/>
                    </a:lnR>
                    <a:lnT w="9525" cap="flat" cmpd="sng" algn="ctr">
                      <a:solidFill>
                        <a:srgbClr val="D5DCE3"/>
                      </a:solidFill>
                      <a:prstDash val="solid"/>
                      <a:round/>
                      <a:headEnd type="none" w="med" len="med"/>
                      <a:tailEnd type="none" w="med" len="med"/>
                    </a:lnT>
                    <a:lnB w="9525" cap="flat" cmpd="sng" algn="ctr">
                      <a:solidFill>
                        <a:srgbClr val="D5DCE3"/>
                      </a:solidFill>
                      <a:prstDash val="solid"/>
                      <a:round/>
                      <a:headEnd type="none" w="med" len="med"/>
                      <a:tailEnd type="none" w="med" len="med"/>
                    </a:lnB>
                    <a:solidFill>
                      <a:srgbClr val="FFFFFF"/>
                    </a:solidFill>
                  </a:tcPr>
                </a:tc>
                <a:tc>
                  <a:txBody>
                    <a:bodyPr/>
                    <a:lstStyle/>
                    <a:p>
                      <a:pPr marL="0" indent="0">
                        <a:buNone/>
                      </a:pPr>
                      <a:r>
                        <a:rPr lang="en-US" sz="1000" b="1" dirty="0">
                          <a:solidFill>
                            <a:srgbClr val="1B3A5C"/>
                          </a:solidFill>
                          <a:latin typeface="Calibri" pitchFamily="34" charset="0"/>
                          <a:ea typeface="Calibri" pitchFamily="34" charset="-122"/>
                          <a:cs typeface="Calibri" pitchFamily="34" charset="-120"/>
                        </a:rPr>
                        <a:t>AUROC 0.97</a:t>
                      </a:r>
                      <a:endParaRPr lang="en-US" sz="1000" dirty="0">
                        <a:latin typeface="Calibri" charset="0"/>
                        <a:ea typeface="Calibri" charset="0"/>
                        <a:cs typeface="Calibri" charset="0"/>
                      </a:endParaRPr>
                    </a:p>
                  </a:txBody>
                  <a:tcPr marL="63500" marR="63500" marT="38100" marB="38100" anchor="ctr">
                    <a:lnL w="9525" cap="flat" cmpd="sng" algn="ctr">
                      <a:solidFill>
                        <a:srgbClr val="D5DCE3"/>
                      </a:solidFill>
                      <a:prstDash val="solid"/>
                      <a:round/>
                      <a:headEnd type="none" w="med" len="med"/>
                      <a:tailEnd type="none" w="med" len="med"/>
                    </a:lnL>
                    <a:lnR w="9525" cap="flat" cmpd="sng" algn="ctr">
                      <a:solidFill>
                        <a:srgbClr val="D5DCE3"/>
                      </a:solidFill>
                      <a:prstDash val="solid"/>
                      <a:round/>
                      <a:headEnd type="none" w="med" len="med"/>
                      <a:tailEnd type="none" w="med" len="med"/>
                    </a:lnR>
                    <a:lnT w="9525" cap="flat" cmpd="sng" algn="ctr">
                      <a:solidFill>
                        <a:srgbClr val="D5DCE3"/>
                      </a:solidFill>
                      <a:prstDash val="solid"/>
                      <a:round/>
                      <a:headEnd type="none" w="med" len="med"/>
                      <a:tailEnd type="none" w="med" len="med"/>
                    </a:lnT>
                    <a:lnB w="9525" cap="flat" cmpd="sng" algn="ctr">
                      <a:solidFill>
                        <a:srgbClr val="D5DCE3"/>
                      </a:solidFill>
                      <a:prstDash val="solid"/>
                      <a:round/>
                      <a:headEnd type="none" w="med" len="med"/>
                      <a:tailEnd type="none" w="med" len="med"/>
                    </a:lnB>
                    <a:solidFill>
                      <a:srgbClr val="FFFFFF"/>
                    </a:solidFill>
                  </a:tcPr>
                </a:tc>
                <a:extLst>
                  <a:ext uri="{0D108BD9-81ED-4DB2-BD59-A6C34878D82A}">
                    <a16:rowId xmlns:a16="http://schemas.microsoft.com/office/drawing/2014/main" val="10006"/>
                  </a:ext>
                </a:extLst>
              </a:tr>
            </a:tbl>
          </a:graphicData>
        </a:graphic>
      </p:graphicFrame>
      <p:sp>
        <p:nvSpPr>
          <p:cNvPr id="6" name="Text 3"/>
          <p:cNvSpPr txBox="1"/>
          <p:nvPr/>
        </p:nvSpPr>
        <p:spPr>
          <a:xfrm>
            <a:off x="365760" y="4206240"/>
            <a:ext cx="3657600" cy="256032"/>
          </a:xfrm>
          <a:prstGeom prst="rect">
            <a:avLst/>
          </a:prstGeom>
          <a:noFill/>
          <a:ln/>
        </p:spPr>
        <p:txBody>
          <a:bodyPr wrap="square" lIns="0" tIns="0" rIns="0" bIns="0" rtlCol="0" anchor="t"/>
          <a:lstStyle/>
          <a:p>
            <a:pPr marL="0" indent="0">
              <a:buNone/>
            </a:pPr>
            <a:r>
              <a:rPr lang="en-US" sz="1200" b="1" kern="0" spc="100" dirty="0">
                <a:solidFill>
                  <a:srgbClr val="1B3A5C"/>
                </a:solidFill>
                <a:latin typeface="Calibri" pitchFamily="34" charset="0"/>
                <a:ea typeface="Calibri" pitchFamily="34" charset="-122"/>
                <a:cs typeface="Calibri" pitchFamily="34" charset="-120"/>
              </a:rPr>
              <a:t>DATA SOURCES</a:t>
            </a:r>
            <a:endParaRPr lang="en-US" sz="1200" dirty="0"/>
          </a:p>
        </p:txBody>
      </p:sp>
      <p:sp>
        <p:nvSpPr>
          <p:cNvPr id="7" name="Shape 4"/>
          <p:cNvSpPr/>
          <p:nvPr/>
        </p:nvSpPr>
        <p:spPr>
          <a:xfrm>
            <a:off x="320040" y="4507992"/>
            <a:ext cx="2148840" cy="566928"/>
          </a:xfrm>
          <a:prstGeom prst="roundRect">
            <a:avLst>
              <a:gd name="adj" fmla="val 12903"/>
            </a:avLst>
          </a:prstGeom>
          <a:solidFill>
            <a:srgbClr val="E6F4EC"/>
          </a:solidFill>
          <a:ln w="9525">
            <a:solidFill>
              <a:srgbClr val="2F9A5A"/>
            </a:solidFill>
            <a:prstDash val="solid"/>
          </a:ln>
        </p:spPr>
      </p:sp>
      <p:sp>
        <p:nvSpPr>
          <p:cNvPr id="8" name="Text 5"/>
          <p:cNvSpPr txBox="1"/>
          <p:nvPr/>
        </p:nvSpPr>
        <p:spPr>
          <a:xfrm>
            <a:off x="411480" y="4544568"/>
            <a:ext cx="2011680" cy="493776"/>
          </a:xfrm>
          <a:prstGeom prst="rect">
            <a:avLst/>
          </a:prstGeom>
          <a:noFill/>
          <a:ln/>
        </p:spPr>
        <p:txBody>
          <a:bodyPr wrap="square" lIns="0" tIns="0" rIns="0" bIns="0" rtlCol="0" anchor="ctr"/>
          <a:lstStyle/>
          <a:p>
            <a:pPr marL="0" indent="0">
              <a:buNone/>
            </a:pPr>
            <a:r>
              <a:rPr lang="en-US" sz="1050" b="1" dirty="0">
                <a:solidFill>
                  <a:srgbClr val="1B3A5C"/>
                </a:solidFill>
                <a:latin typeface="Calibri" pitchFamily="34" charset="0"/>
                <a:ea typeface="Calibri" pitchFamily="34" charset="-122"/>
                <a:cs typeface="Calibri" pitchFamily="34" charset="-120"/>
              </a:rPr>
              <a:t>NHANES 2017–2020 (CDC)</a:t>
            </a:r>
            <a:endParaRPr lang="en-US" sz="1050" dirty="0"/>
          </a:p>
          <a:p>
            <a:pPr marL="0" indent="0">
              <a:buNone/>
            </a:pPr>
            <a:r>
              <a:rPr lang="en-US" sz="950" dirty="0">
                <a:solidFill>
                  <a:srgbClr val="52606D"/>
                </a:solidFill>
                <a:latin typeface="Calibri" pitchFamily="34" charset="0"/>
                <a:ea typeface="Calibri" pitchFamily="34" charset="-122"/>
                <a:cs typeface="Calibri" pitchFamily="34" charset="-120"/>
              </a:rPr>
              <a:t>1,455 adults with diabetes (real)</a:t>
            </a:r>
            <a:endParaRPr lang="en-US" sz="1050" dirty="0"/>
          </a:p>
        </p:txBody>
      </p:sp>
      <p:sp>
        <p:nvSpPr>
          <p:cNvPr id="5" name="Shape 6"/>
          <p:cNvSpPr/>
          <p:nvPr/>
        </p:nvSpPr>
        <p:spPr>
          <a:xfrm>
            <a:off x="2578608" y="4507992"/>
            <a:ext cx="2148840" cy="566928"/>
          </a:xfrm>
          <a:prstGeom prst="roundRect">
            <a:avLst>
              <a:gd name="adj" fmla="val 12903"/>
            </a:avLst>
          </a:prstGeom>
          <a:solidFill>
            <a:srgbClr val="E6F4EC"/>
          </a:solidFill>
          <a:ln w="9525">
            <a:solidFill>
              <a:srgbClr val="2F9A5A"/>
            </a:solidFill>
            <a:prstDash val="solid"/>
          </a:ln>
        </p:spPr>
      </p:sp>
      <p:sp>
        <p:nvSpPr>
          <p:cNvPr id="10" name="Text 7"/>
          <p:cNvSpPr txBox="1"/>
          <p:nvPr/>
        </p:nvSpPr>
        <p:spPr>
          <a:xfrm>
            <a:off x="2670048" y="4544568"/>
            <a:ext cx="2011680" cy="493776"/>
          </a:xfrm>
          <a:prstGeom prst="rect">
            <a:avLst/>
          </a:prstGeom>
          <a:noFill/>
          <a:ln/>
        </p:spPr>
        <p:txBody>
          <a:bodyPr wrap="square" lIns="0" tIns="0" rIns="0" bIns="0" rtlCol="0" anchor="ctr"/>
          <a:lstStyle/>
          <a:p>
            <a:pPr marL="0" indent="0">
              <a:buNone/>
            </a:pPr>
            <a:r>
              <a:rPr lang="en-US" sz="1050" b="1" dirty="0">
                <a:solidFill>
                  <a:srgbClr val="1B3A5C"/>
                </a:solidFill>
                <a:latin typeface="Calibri" pitchFamily="34" charset="0"/>
                <a:ea typeface="Calibri" pitchFamily="34" charset="-122"/>
                <a:cs typeface="Calibri" pitchFamily="34" charset="-120"/>
              </a:rPr>
              <a:t>UCI CKD (Apollo, India)</a:t>
            </a:r>
            <a:endParaRPr lang="en-US" sz="1050" dirty="0"/>
          </a:p>
          <a:p>
            <a:pPr marL="0" indent="0">
              <a:buNone/>
            </a:pPr>
            <a:r>
              <a:rPr lang="en-US" sz="950" dirty="0">
                <a:solidFill>
                  <a:srgbClr val="52606D"/>
                </a:solidFill>
                <a:latin typeface="Calibri" pitchFamily="34" charset="0"/>
                <a:ea typeface="Calibri" pitchFamily="34" charset="-122"/>
                <a:cs typeface="Calibri" pitchFamily="34" charset="-120"/>
              </a:rPr>
              <a:t>400 patients (real), used as a check</a:t>
            </a:r>
            <a:endParaRPr lang="en-US" sz="1050" dirty="0"/>
          </a:p>
        </p:txBody>
      </p:sp>
      <p:sp>
        <p:nvSpPr>
          <p:cNvPr id="11" name="Shape 8"/>
          <p:cNvSpPr/>
          <p:nvPr/>
        </p:nvSpPr>
        <p:spPr>
          <a:xfrm>
            <a:off x="4837176" y="4507992"/>
            <a:ext cx="2148840" cy="566928"/>
          </a:xfrm>
          <a:prstGeom prst="roundRect">
            <a:avLst>
              <a:gd name="adj" fmla="val 12903"/>
            </a:avLst>
          </a:prstGeom>
          <a:solidFill>
            <a:srgbClr val="EEF5FC"/>
          </a:solidFill>
          <a:ln w="9525">
            <a:solidFill>
              <a:srgbClr val="8DBBE6"/>
            </a:solidFill>
            <a:prstDash val="solid"/>
          </a:ln>
        </p:spPr>
      </p:sp>
      <p:sp>
        <p:nvSpPr>
          <p:cNvPr id="12" name="Text 9"/>
          <p:cNvSpPr txBox="1"/>
          <p:nvPr/>
        </p:nvSpPr>
        <p:spPr>
          <a:xfrm>
            <a:off x="4928616" y="4544568"/>
            <a:ext cx="2011680" cy="493776"/>
          </a:xfrm>
          <a:prstGeom prst="rect">
            <a:avLst/>
          </a:prstGeom>
          <a:noFill/>
          <a:ln/>
        </p:spPr>
        <p:txBody>
          <a:bodyPr wrap="square" lIns="0" tIns="0" rIns="0" bIns="0" rtlCol="0" anchor="ctr"/>
          <a:lstStyle/>
          <a:p>
            <a:pPr marL="0" indent="0">
              <a:buNone/>
            </a:pPr>
            <a:r>
              <a:rPr lang="en-US" sz="1050" b="1" dirty="0">
                <a:solidFill>
                  <a:srgbClr val="1B3A5C"/>
                </a:solidFill>
                <a:latin typeface="Calibri" pitchFamily="34" charset="0"/>
                <a:ea typeface="Calibri" pitchFamily="34" charset="-122"/>
                <a:cs typeface="Calibri" pitchFamily="34" charset="-120"/>
              </a:rPr>
              <a:t>Synthetic Indian T2DM cohort</a:t>
            </a:r>
            <a:endParaRPr lang="en-US" sz="1050" dirty="0"/>
          </a:p>
          <a:p>
            <a:pPr marL="0" indent="0">
              <a:buNone/>
            </a:pPr>
            <a:r>
              <a:rPr lang="en-US" sz="950" dirty="0">
                <a:solidFill>
                  <a:srgbClr val="52606D"/>
                </a:solidFill>
                <a:latin typeface="Calibri" pitchFamily="34" charset="0"/>
                <a:ea typeface="Calibri" pitchFamily="34" charset="-122"/>
                <a:cs typeface="Calibri" pitchFamily="34" charset="-120"/>
              </a:rPr>
              <a:t>2,000 patients × 5 yrs, quarterly</a:t>
            </a:r>
            <a:endParaRPr lang="en-US" sz="1050" dirty="0"/>
          </a:p>
        </p:txBody>
      </p:sp>
      <p:sp>
        <p:nvSpPr>
          <p:cNvPr id="13" name="Shape 10"/>
          <p:cNvSpPr/>
          <p:nvPr/>
        </p:nvSpPr>
        <p:spPr>
          <a:xfrm>
            <a:off x="320040" y="5166360"/>
            <a:ext cx="2148840" cy="566928"/>
          </a:xfrm>
          <a:prstGeom prst="roundRect">
            <a:avLst>
              <a:gd name="adj" fmla="val 12903"/>
            </a:avLst>
          </a:prstGeom>
          <a:solidFill>
            <a:srgbClr val="EEF5FC"/>
          </a:solidFill>
          <a:ln w="9525">
            <a:solidFill>
              <a:srgbClr val="8DBBE6"/>
            </a:solidFill>
            <a:prstDash val="solid"/>
          </a:ln>
        </p:spPr>
      </p:sp>
      <p:sp>
        <p:nvSpPr>
          <p:cNvPr id="14" name="Text 11"/>
          <p:cNvSpPr txBox="1"/>
          <p:nvPr/>
        </p:nvSpPr>
        <p:spPr>
          <a:xfrm>
            <a:off x="411480" y="5202936"/>
            <a:ext cx="2011680" cy="493776"/>
          </a:xfrm>
          <a:prstGeom prst="rect">
            <a:avLst/>
          </a:prstGeom>
          <a:noFill/>
          <a:ln/>
        </p:spPr>
        <p:txBody>
          <a:bodyPr wrap="square" lIns="0" tIns="0" rIns="0" bIns="0" rtlCol="0" anchor="ctr"/>
          <a:lstStyle/>
          <a:p>
            <a:pPr marL="0" indent="0">
              <a:buNone/>
            </a:pPr>
            <a:r>
              <a:rPr lang="en-US" sz="1050" b="1" dirty="0">
                <a:solidFill>
                  <a:srgbClr val="1B3A5C"/>
                </a:solidFill>
                <a:latin typeface="Calibri" pitchFamily="34" charset="0"/>
                <a:ea typeface="Calibri" pitchFamily="34" charset="-122"/>
                <a:cs typeface="Calibri" pitchFamily="34" charset="-120"/>
              </a:rPr>
              <a:t>Synthea (MITRE)</a:t>
            </a:r>
            <a:endParaRPr lang="en-US" sz="1050" dirty="0"/>
          </a:p>
          <a:p>
            <a:pPr marL="0" indent="0">
              <a:buNone/>
            </a:pPr>
            <a:r>
              <a:rPr lang="en-US" sz="950" dirty="0">
                <a:solidFill>
                  <a:srgbClr val="52606D"/>
                </a:solidFill>
                <a:latin typeface="Calibri" pitchFamily="34" charset="0"/>
                <a:ea typeface="Calibri" pitchFamily="34" charset="-122"/>
                <a:cs typeface="Calibri" pitchFamily="34" charset="-120"/>
              </a:rPr>
              <a:t>FHIR R4 sample bundles</a:t>
            </a:r>
            <a:endParaRPr lang="en-US" sz="1050" dirty="0"/>
          </a:p>
        </p:txBody>
      </p:sp>
      <p:sp>
        <p:nvSpPr>
          <p:cNvPr id="15" name="Shape 12"/>
          <p:cNvSpPr/>
          <p:nvPr/>
        </p:nvSpPr>
        <p:spPr>
          <a:xfrm>
            <a:off x="2578608" y="5166360"/>
            <a:ext cx="2148840" cy="566928"/>
          </a:xfrm>
          <a:prstGeom prst="roundRect">
            <a:avLst>
              <a:gd name="adj" fmla="val 12903"/>
            </a:avLst>
          </a:prstGeom>
          <a:solidFill>
            <a:srgbClr val="EEF5FC"/>
          </a:solidFill>
          <a:ln w="9525">
            <a:solidFill>
              <a:srgbClr val="8DBBE6"/>
            </a:solidFill>
            <a:prstDash val="solid"/>
          </a:ln>
        </p:spPr>
      </p:sp>
      <p:sp>
        <p:nvSpPr>
          <p:cNvPr id="16" name="Text 13"/>
          <p:cNvSpPr txBox="1"/>
          <p:nvPr/>
        </p:nvSpPr>
        <p:spPr>
          <a:xfrm>
            <a:off x="2670048" y="5202936"/>
            <a:ext cx="2011680" cy="493776"/>
          </a:xfrm>
          <a:prstGeom prst="rect">
            <a:avLst/>
          </a:prstGeom>
          <a:noFill/>
          <a:ln/>
        </p:spPr>
        <p:txBody>
          <a:bodyPr wrap="square" lIns="0" tIns="0" rIns="0" bIns="0" rtlCol="0" anchor="ctr"/>
          <a:lstStyle/>
          <a:p>
            <a:pPr marL="0" indent="0">
              <a:buNone/>
            </a:pPr>
            <a:r>
              <a:rPr lang="en-US" sz="1050" b="1" dirty="0">
                <a:solidFill>
                  <a:srgbClr val="1B3A5C"/>
                </a:solidFill>
                <a:latin typeface="Calibri" pitchFamily="34" charset="0"/>
                <a:ea typeface="Calibri" pitchFamily="34" charset="-122"/>
                <a:cs typeface="Calibri" pitchFamily="34" charset="-120"/>
              </a:rPr>
              <a:t>CGMacros (PhysioNet)</a:t>
            </a:r>
            <a:endParaRPr lang="en-US" sz="1050" dirty="0"/>
          </a:p>
          <a:p>
            <a:pPr marL="0" indent="0">
              <a:buNone/>
            </a:pPr>
            <a:r>
              <a:rPr lang="en-US" sz="950" dirty="0">
                <a:solidFill>
                  <a:srgbClr val="52606D"/>
                </a:solidFill>
                <a:latin typeface="Calibri" pitchFamily="34" charset="0"/>
                <a:ea typeface="Calibri" pitchFamily="34" charset="-122"/>
                <a:cs typeface="Calibri" pitchFamily="34" charset="-120"/>
              </a:rPr>
              <a:t>CGM for forecast + simulator</a:t>
            </a:r>
            <a:endParaRPr lang="en-US" sz="1050" dirty="0"/>
          </a:p>
        </p:txBody>
      </p:sp>
      <p:sp>
        <p:nvSpPr>
          <p:cNvPr id="17" name="Shape 14"/>
          <p:cNvSpPr/>
          <p:nvPr/>
        </p:nvSpPr>
        <p:spPr>
          <a:xfrm>
            <a:off x="4837176" y="5166360"/>
            <a:ext cx="2148840" cy="566928"/>
          </a:xfrm>
          <a:prstGeom prst="roundRect">
            <a:avLst>
              <a:gd name="adj" fmla="val 12903"/>
            </a:avLst>
          </a:prstGeom>
          <a:solidFill>
            <a:srgbClr val="EEF5FC"/>
          </a:solidFill>
          <a:ln w="9525">
            <a:solidFill>
              <a:srgbClr val="8DBBE6"/>
            </a:solidFill>
            <a:prstDash val="solid"/>
          </a:ln>
        </p:spPr>
      </p:sp>
      <p:sp>
        <p:nvSpPr>
          <p:cNvPr id="18" name="Text 15"/>
          <p:cNvSpPr txBox="1"/>
          <p:nvPr/>
        </p:nvSpPr>
        <p:spPr>
          <a:xfrm>
            <a:off x="4928616" y="5202936"/>
            <a:ext cx="2011680" cy="493776"/>
          </a:xfrm>
          <a:prstGeom prst="rect">
            <a:avLst/>
          </a:prstGeom>
          <a:noFill/>
          <a:ln/>
        </p:spPr>
        <p:txBody>
          <a:bodyPr wrap="square" lIns="0" tIns="0" rIns="0" bIns="0" rtlCol="0" anchor="ctr"/>
          <a:lstStyle/>
          <a:p>
            <a:pPr marL="0" indent="0">
              <a:buNone/>
            </a:pPr>
            <a:r>
              <a:rPr lang="en-US" sz="1050" b="1" dirty="0">
                <a:solidFill>
                  <a:srgbClr val="1B3A5C"/>
                </a:solidFill>
                <a:latin typeface="Calibri" pitchFamily="34" charset="0"/>
                <a:ea typeface="Calibri" pitchFamily="34" charset="-122"/>
                <a:cs typeface="Calibri" pitchFamily="34" charset="-120"/>
              </a:rPr>
              <a:t>Indian foods list</a:t>
            </a:r>
            <a:endParaRPr lang="en-US" sz="1050" dirty="0"/>
          </a:p>
          <a:p>
            <a:pPr marL="0" indent="0">
              <a:buNone/>
            </a:pPr>
            <a:r>
              <a:rPr lang="en-US" sz="950" dirty="0">
                <a:solidFill>
                  <a:srgbClr val="52606D"/>
                </a:solidFill>
                <a:latin typeface="Calibri" pitchFamily="34" charset="0"/>
                <a:ea typeface="Calibri" pitchFamily="34" charset="-122"/>
                <a:cs typeface="Calibri" pitchFamily="34" charset="-120"/>
              </a:rPr>
              <a:t>carbs + GI, English + Hindi</a:t>
            </a:r>
            <a:endParaRPr lang="en-US" sz="1050" dirty="0"/>
          </a:p>
        </p:txBody>
      </p:sp>
      <p:sp>
        <p:nvSpPr>
          <p:cNvPr id="19" name="AUROC chart frame"/>
          <p:cNvSpPr/>
          <p:nvPr/>
        </p:nvSpPr>
        <p:spPr>
          <a:xfrm>
            <a:off x="7223760" y="868680"/>
            <a:ext cx="4663440" cy="3429000"/>
          </a:xfrm>
          <a:prstGeom prst="roundRect">
            <a:avLst>
              <a:gd name="adj" fmla="val 2667"/>
            </a:avLst>
          </a:prstGeom>
          <a:solidFill>
            <a:srgbClr val="FFFFFF"/>
          </a:solidFill>
          <a:ln w="15875">
            <a:solidFill>
              <a:srgbClr val="D5DCE3"/>
            </a:solidFill>
            <a:prstDash val="solid"/>
          </a:ln>
        </p:spPr>
      </p:sp>
      <p:graphicFrame>
        <p:nvGraphicFramePr>
          <p:cNvPr id="20" name="Chart 0"/>
          <p:cNvGraphicFramePr/>
          <p:nvPr/>
        </p:nvGraphicFramePr>
        <p:xfrm>
          <a:off x="7296912" y="914400"/>
          <a:ext cx="4526280" cy="3337560"/>
        </p:xfrm>
        <a:graphic>
          <a:graphicData uri="http://schemas.openxmlformats.org/drawingml/2006/chart">
            <c:chart xmlns:c="http://schemas.openxmlformats.org/drawingml/2006/chart" xmlns:r="http://schemas.openxmlformats.org/officeDocument/2006/relationships" r:id="rId3"/>
          </a:graphicData>
        </a:graphic>
      </p:graphicFrame>
      <p:sp>
        <p:nvSpPr>
          <p:cNvPr id="21" name="KPI 1"/>
          <p:cNvSpPr/>
          <p:nvPr/>
        </p:nvSpPr>
        <p:spPr>
          <a:xfrm>
            <a:off x="7223760" y="4434840"/>
            <a:ext cx="1499616" cy="1280160"/>
          </a:xfrm>
          <a:prstGeom prst="roundRect">
            <a:avLst>
              <a:gd name="adj" fmla="val 7143"/>
            </a:avLst>
          </a:prstGeom>
          <a:solidFill>
            <a:srgbClr val="FDEBDF"/>
          </a:solidFill>
          <a:ln w="15875">
            <a:solidFill>
              <a:srgbClr val="F2A679"/>
            </a:solidFill>
            <a:prstDash val="dash"/>
          </a:ln>
        </p:spPr>
      </p:sp>
      <p:sp>
        <p:nvSpPr>
          <p:cNvPr id="22" name="Text 18"/>
          <p:cNvSpPr txBox="1"/>
          <p:nvPr/>
        </p:nvSpPr>
        <p:spPr>
          <a:xfrm>
            <a:off x="7269480" y="4480560"/>
            <a:ext cx="1408176" cy="502920"/>
          </a:xfrm>
          <a:prstGeom prst="rect">
            <a:avLst/>
          </a:prstGeom>
          <a:noFill/>
          <a:ln/>
        </p:spPr>
        <p:txBody>
          <a:bodyPr wrap="square" lIns="0" tIns="0" rIns="0" bIns="0" rtlCol="0" anchor="ctr"/>
          <a:lstStyle/>
          <a:p>
            <a:pPr marL="0" indent="0" algn="ctr">
              <a:buNone/>
            </a:pPr>
            <a:r>
              <a:rPr lang="en-US" sz="2200" b="1" dirty="0">
                <a:solidFill>
                  <a:srgbClr val="E9712F"/>
                </a:solidFill>
                <a:latin typeface="Calibri" pitchFamily="34" charset="0"/>
                <a:ea typeface="Calibri" pitchFamily="34" charset="-122"/>
                <a:cs typeface="Calibri" pitchFamily="34" charset="-120"/>
              </a:rPr>
              <a:t>99%</a:t>
            </a:r>
            <a:endParaRPr lang="en-US" sz="2200" dirty="0"/>
          </a:p>
        </p:txBody>
      </p:sp>
      <p:sp>
        <p:nvSpPr>
          <p:cNvPr id="23" name="Text 19"/>
          <p:cNvSpPr txBox="1"/>
          <p:nvPr/>
        </p:nvSpPr>
        <p:spPr>
          <a:xfrm>
            <a:off x="7296912" y="4983480"/>
            <a:ext cx="1353312" cy="685800"/>
          </a:xfrm>
          <a:prstGeom prst="rect">
            <a:avLst/>
          </a:prstGeom>
          <a:noFill/>
          <a:ln/>
        </p:spPr>
        <p:txBody>
          <a:bodyPr wrap="square" lIns="0" tIns="0" rIns="0" bIns="0" rtlCol="0" anchor="t"/>
          <a:lstStyle/>
          <a:p>
            <a:pPr marL="0" indent="0" algn="ctr">
              <a:buNone/>
            </a:pPr>
            <a:r>
              <a:rPr lang="en-US" sz="1100" b="1" dirty="0">
                <a:solidFill>
                  <a:srgbClr val="1B3A5C"/>
                </a:solidFill>
                <a:latin typeface="Calibri" pitchFamily="34" charset="0"/>
                <a:ea typeface="Calibri" pitchFamily="34" charset="-122"/>
                <a:cs typeface="Calibri" pitchFamily="34" charset="-120"/>
              </a:rPr>
              <a:t>of glucose spikes warned</a:t>
            </a:r>
            <a:endParaRPr lang="en-US" sz="1100" dirty="0"/>
          </a:p>
        </p:txBody>
      </p:sp>
      <p:sp>
        <p:nvSpPr>
          <p:cNvPr id="24" name="KPI 2"/>
          <p:cNvSpPr/>
          <p:nvPr/>
        </p:nvSpPr>
        <p:spPr>
          <a:xfrm>
            <a:off x="8805672" y="4434840"/>
            <a:ext cx="1499616" cy="1280160"/>
          </a:xfrm>
          <a:prstGeom prst="roundRect">
            <a:avLst>
              <a:gd name="adj" fmla="val 7143"/>
            </a:avLst>
          </a:prstGeom>
          <a:solidFill>
            <a:srgbClr val="FDEBDF"/>
          </a:solidFill>
          <a:ln w="15875">
            <a:solidFill>
              <a:srgbClr val="F2A679"/>
            </a:solidFill>
            <a:prstDash val="dash"/>
          </a:ln>
        </p:spPr>
      </p:sp>
      <p:sp>
        <p:nvSpPr>
          <p:cNvPr id="25" name="Text 21"/>
          <p:cNvSpPr txBox="1"/>
          <p:nvPr/>
        </p:nvSpPr>
        <p:spPr>
          <a:xfrm>
            <a:off x="8851392" y="4480560"/>
            <a:ext cx="1408176" cy="502920"/>
          </a:xfrm>
          <a:prstGeom prst="rect">
            <a:avLst/>
          </a:prstGeom>
          <a:noFill/>
          <a:ln/>
        </p:spPr>
        <p:txBody>
          <a:bodyPr wrap="square" lIns="0" tIns="0" rIns="0" bIns="0" rtlCol="0" anchor="ctr"/>
          <a:lstStyle/>
          <a:p>
            <a:pPr marL="0" indent="0" algn="ctr">
              <a:buNone/>
            </a:pPr>
            <a:r>
              <a:rPr lang="en-US" sz="2200" b="1" dirty="0">
                <a:solidFill>
                  <a:srgbClr val="E9712F"/>
                </a:solidFill>
                <a:latin typeface="Calibri" pitchFamily="34" charset="0"/>
                <a:ea typeface="Calibri" pitchFamily="34" charset="-122"/>
                <a:cs typeface="Calibri" pitchFamily="34" charset="-120"/>
              </a:rPr>
              <a:t>85 min</a:t>
            </a:r>
            <a:endParaRPr lang="en-US" sz="2200" dirty="0"/>
          </a:p>
        </p:txBody>
      </p:sp>
      <p:sp>
        <p:nvSpPr>
          <p:cNvPr id="26" name="Text 22"/>
          <p:cNvSpPr txBox="1"/>
          <p:nvPr/>
        </p:nvSpPr>
        <p:spPr>
          <a:xfrm>
            <a:off x="8878824" y="4983480"/>
            <a:ext cx="1353312" cy="685800"/>
          </a:xfrm>
          <a:prstGeom prst="rect">
            <a:avLst/>
          </a:prstGeom>
          <a:noFill/>
          <a:ln/>
        </p:spPr>
        <p:txBody>
          <a:bodyPr wrap="square" lIns="0" tIns="0" rIns="0" bIns="0" rtlCol="0" anchor="t"/>
          <a:lstStyle/>
          <a:p>
            <a:pPr marL="0" indent="0" algn="ctr">
              <a:buNone/>
            </a:pPr>
            <a:r>
              <a:rPr lang="en-US" sz="1100" b="1" dirty="0">
                <a:solidFill>
                  <a:srgbClr val="1B3A5C"/>
                </a:solidFill>
                <a:latin typeface="Calibri" pitchFamily="34" charset="0"/>
                <a:ea typeface="Calibri" pitchFamily="34" charset="-122"/>
                <a:cs typeface="Calibri" pitchFamily="34" charset="-120"/>
              </a:rPr>
              <a:t>median lead; 74% ≥ 60 min</a:t>
            </a:r>
            <a:endParaRPr lang="en-US" sz="1100" dirty="0"/>
          </a:p>
        </p:txBody>
      </p:sp>
      <p:sp>
        <p:nvSpPr>
          <p:cNvPr id="27" name="KPI 3"/>
          <p:cNvSpPr/>
          <p:nvPr/>
        </p:nvSpPr>
        <p:spPr>
          <a:xfrm>
            <a:off x="10387584" y="4434840"/>
            <a:ext cx="1499616" cy="1280160"/>
          </a:xfrm>
          <a:prstGeom prst="roundRect">
            <a:avLst>
              <a:gd name="adj" fmla="val 7143"/>
            </a:avLst>
          </a:prstGeom>
          <a:solidFill>
            <a:srgbClr val="FDEBDF"/>
          </a:solidFill>
          <a:ln w="15875">
            <a:solidFill>
              <a:srgbClr val="F2A679"/>
            </a:solidFill>
            <a:prstDash val="dash"/>
          </a:ln>
        </p:spPr>
      </p:sp>
      <p:sp>
        <p:nvSpPr>
          <p:cNvPr id="28" name="Text 24"/>
          <p:cNvSpPr txBox="1"/>
          <p:nvPr/>
        </p:nvSpPr>
        <p:spPr>
          <a:xfrm>
            <a:off x="10433304" y="4480560"/>
            <a:ext cx="1408176" cy="502920"/>
          </a:xfrm>
          <a:prstGeom prst="rect">
            <a:avLst/>
          </a:prstGeom>
          <a:noFill/>
          <a:ln/>
        </p:spPr>
        <p:txBody>
          <a:bodyPr wrap="square" lIns="0" tIns="0" rIns="0" bIns="0" rtlCol="0" anchor="ctr"/>
          <a:lstStyle/>
          <a:p>
            <a:pPr marL="0" indent="0" algn="ctr">
              <a:buNone/>
            </a:pPr>
            <a:r>
              <a:rPr lang="en-US" sz="2200" b="1" dirty="0">
                <a:solidFill>
                  <a:srgbClr val="E9712F"/>
                </a:solidFill>
                <a:latin typeface="Calibri" pitchFamily="34" charset="0"/>
                <a:ea typeface="Calibri" pitchFamily="34" charset="-122"/>
                <a:cs typeface="Calibri" pitchFamily="34" charset="-120"/>
              </a:rPr>
              <a:t>94%</a:t>
            </a:r>
            <a:endParaRPr lang="en-US" sz="2200" dirty="0"/>
          </a:p>
        </p:txBody>
      </p:sp>
      <p:sp>
        <p:nvSpPr>
          <p:cNvPr id="29" name="Text 25"/>
          <p:cNvSpPr txBox="1"/>
          <p:nvPr/>
        </p:nvSpPr>
        <p:spPr>
          <a:xfrm>
            <a:off x="10460736" y="4983480"/>
            <a:ext cx="1353312" cy="685800"/>
          </a:xfrm>
          <a:prstGeom prst="rect">
            <a:avLst/>
          </a:prstGeom>
          <a:noFill/>
          <a:ln/>
        </p:spPr>
        <p:txBody>
          <a:bodyPr wrap="square" lIns="0" tIns="0" rIns="0" bIns="0" rtlCol="0" anchor="t"/>
          <a:lstStyle/>
          <a:p>
            <a:pPr marL="0" indent="0" algn="ctr">
              <a:buNone/>
            </a:pPr>
            <a:r>
              <a:rPr lang="en-US" sz="1100" b="1" dirty="0">
                <a:solidFill>
                  <a:srgbClr val="1B3A5C"/>
                </a:solidFill>
                <a:latin typeface="Calibri" pitchFamily="34" charset="0"/>
                <a:ea typeface="Calibri" pitchFamily="34" charset="-122"/>
                <a:cs typeface="Calibri" pitchFamily="34" charset="-120"/>
              </a:rPr>
              <a:t>KDIGO rule matches hospital diagnosis (UCI)</a:t>
            </a:r>
            <a:endParaRPr lang="en-US" sz="1100" dirty="0"/>
          </a:p>
        </p:txBody>
      </p:sp>
      <p:sp>
        <p:nvSpPr>
          <p:cNvPr id="30" name="Text 26"/>
          <p:cNvSpPr txBox="1"/>
          <p:nvPr/>
        </p:nvSpPr>
        <p:spPr>
          <a:xfrm>
            <a:off x="320040" y="5833872"/>
            <a:ext cx="11567160" cy="384048"/>
          </a:xfrm>
          <a:prstGeom prst="rect">
            <a:avLst/>
          </a:prstGeom>
          <a:noFill/>
          <a:ln/>
        </p:spPr>
        <p:txBody>
          <a:bodyPr wrap="square" lIns="0" tIns="0" rIns="0" bIns="0" rtlCol="0" anchor="ctr"/>
          <a:lstStyle/>
          <a:p>
            <a:pPr marL="0" indent="0" algn="ctr">
              <a:buNone/>
            </a:pPr>
            <a:r>
              <a:rPr lang="en-US" sz="1050" i="1" dirty="0">
                <a:solidFill>
                  <a:srgbClr val="C6363A"/>
                </a:solidFill>
                <a:latin typeface="Calibri" pitchFamily="34" charset="0"/>
                <a:ea typeface="Calibri" pitchFamily="34" charset="-122"/>
                <a:cs typeface="Calibri" pitchFamily="34" charset="-120"/>
              </a:rPr>
              <a:t>Only dkd_current is trained on real patients. High AUROC on the synthetic cohort shows the models learned the simulator's rules. Clinical validation on Indian patients is still to come. Details in models/model_card.md.</a:t>
            </a:r>
            <a:endParaRPr lang="en-US" sz="10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itle tag"/>
          <p:cNvSpPr/>
          <p:nvPr/>
        </p:nvSpPr>
        <p:spPr>
          <a:xfrm>
            <a:off x="274320" y="109728"/>
            <a:ext cx="4593946" cy="603504"/>
          </a:xfrm>
          <a:prstGeom prst="rect">
            <a:avLst/>
          </a:prstGeom>
          <a:solidFill>
            <a:srgbClr val="FFFFFF"/>
          </a:solidFill>
          <a:ln w="22225">
            <a:solidFill>
              <a:srgbClr val="2F6DB5"/>
            </a:solidFill>
            <a:prstDash val="solid"/>
          </a:ln>
        </p:spPr>
      </p:sp>
      <p:sp>
        <p:nvSpPr>
          <p:cNvPr id="3" name="Text 10"/>
          <p:cNvSpPr>
            <a:spLocks noGrp="1"/>
          </p:cNvSpPr>
          <p:nvPr>
            <p:ph type="title" idx="111" hasCustomPrompt="1"/>
          </p:nvPr>
        </p:nvSpPr>
        <p:spPr>
          <a:xfrm>
            <a:off x="384048" y="128016"/>
            <a:ext cx="8686800" cy="566928"/>
          </a:xfrm>
          <a:prstGeom prst="rect">
            <a:avLst/>
          </a:prstGeom>
          <a:noFill/>
          <a:ln/>
        </p:spPr>
        <p:txBody>
          <a:bodyPr wrap="square" lIns="0" tIns="0" rIns="0" bIns="0" rtlCol="0" anchor="ctr"/>
          <a:lstStyle/>
          <a:p>
            <a:pPr marL="0" indent="0" algn="l">
              <a:buNone/>
            </a:pPr>
            <a:r>
              <a:rPr lang="en-US" sz="2600" b="1" dirty="0">
                <a:solidFill>
                  <a:srgbClr val="E9712F"/>
                </a:solidFill>
              </a:rPr>
              <a:t>Doctor Portal &amp; Patient App</a:t>
            </a:r>
            <a:endParaRPr lang="en-US" sz="2600" dirty="0"/>
          </a:p>
        </p:txBody>
      </p:sp>
      <p:sp>
        <p:nvSpPr>
          <p:cNvPr id="4" name="Text 2"/>
          <p:cNvSpPr txBox="1"/>
          <p:nvPr/>
        </p:nvSpPr>
        <p:spPr>
          <a:xfrm>
            <a:off x="365760" y="841248"/>
            <a:ext cx="3657600" cy="256032"/>
          </a:xfrm>
          <a:prstGeom prst="rect">
            <a:avLst/>
          </a:prstGeom>
          <a:noFill/>
          <a:ln/>
        </p:spPr>
        <p:txBody>
          <a:bodyPr wrap="square" lIns="0" tIns="0" rIns="0" bIns="0" rtlCol="0" anchor="t"/>
          <a:lstStyle/>
          <a:p>
            <a:pPr marL="0" indent="0">
              <a:buNone/>
            </a:pPr>
            <a:r>
              <a:rPr lang="en-US" sz="1200" b="1" kern="0" spc="100" dirty="0">
                <a:solidFill>
                  <a:srgbClr val="1B3A5C"/>
                </a:solidFill>
                <a:latin typeface="Calibri" pitchFamily="34" charset="0"/>
                <a:ea typeface="Calibri" pitchFamily="34" charset="-122"/>
                <a:cs typeface="Calibri" pitchFamily="34" charset="-120"/>
              </a:rPr>
              <a:t>DOCTOR PORTAL</a:t>
            </a:r>
            <a:endParaRPr lang="en-US" sz="1200" dirty="0"/>
          </a:p>
        </p:txBody>
      </p:sp>
      <p:sp>
        <p:nvSpPr>
          <p:cNvPr id="5" name="Shape 3"/>
          <p:cNvSpPr/>
          <p:nvPr/>
        </p:nvSpPr>
        <p:spPr>
          <a:xfrm>
            <a:off x="356616" y="1188720"/>
            <a:ext cx="6035040" cy="3044952"/>
          </a:xfrm>
          <a:prstGeom prst="rect">
            <a:avLst/>
          </a:prstGeom>
          <a:solidFill>
            <a:srgbClr val="D9DEE4"/>
          </a:solidFill>
          <a:ln w="12700">
            <a:solidFill>
              <a:srgbClr val="D9DEE4"/>
            </a:solidFill>
            <a:prstDash val="solid"/>
          </a:ln>
        </p:spPr>
      </p:sp>
      <p:pic>
        <p:nvPicPr>
          <p:cNvPr id="6" name="Live monitor screenshot" descr="/home/claude/gr/assets/live.jpg"/>
          <p:cNvPicPr>
            <a:picLocks noChangeAspect="1"/>
          </p:cNvPicPr>
          <p:nvPr/>
        </p:nvPicPr>
        <p:blipFill>
          <a:blip r:embed="rId3"/>
          <a:stretch>
            <a:fillRect/>
          </a:stretch>
        </p:blipFill>
        <p:spPr>
          <a:xfrm>
            <a:off x="320040" y="1143000"/>
            <a:ext cx="6035040" cy="3044952"/>
          </a:xfrm>
          <a:prstGeom prst="rect">
            <a:avLst/>
          </a:prstGeom>
        </p:spPr>
      </p:pic>
      <p:sp>
        <p:nvSpPr>
          <p:cNvPr id="7" name="Shape 4"/>
          <p:cNvSpPr/>
          <p:nvPr/>
        </p:nvSpPr>
        <p:spPr>
          <a:xfrm>
            <a:off x="320040" y="1143000"/>
            <a:ext cx="6035040" cy="3044952"/>
          </a:xfrm>
          <a:prstGeom prst="rect">
            <a:avLst/>
          </a:prstGeom>
          <a:ln w="9525">
            <a:solidFill>
              <a:srgbClr val="C9D1D9"/>
            </a:solidFill>
            <a:prstDash val="solid"/>
          </a:ln>
        </p:spPr>
      </p:sp>
      <p:sp>
        <p:nvSpPr>
          <p:cNvPr id="8" name="Text 5"/>
          <p:cNvSpPr/>
          <p:nvPr/>
        </p:nvSpPr>
        <p:spPr>
          <a:xfrm>
            <a:off x="411480" y="3840480"/>
            <a:ext cx="2834640" cy="274320"/>
          </a:xfrm>
          <a:prstGeom prst="roundRect">
            <a:avLst>
              <a:gd name="adj" fmla="val 16667"/>
            </a:avLst>
          </a:prstGeom>
          <a:solidFill>
            <a:srgbClr val="E9712F"/>
          </a:solidFill>
          <a:ln/>
        </p:spPr>
        <p:txBody>
          <a:bodyPr wrap="square" lIns="0" tIns="0" rIns="0" bIns="0" rtlCol="0" anchor="ctr"/>
          <a:lstStyle/>
          <a:p>
            <a:pPr marL="0" indent="0" algn="ctr">
              <a:buNone/>
            </a:pPr>
            <a:r>
              <a:rPr lang="en-US" sz="1000" b="1" dirty="0">
                <a:solidFill>
                  <a:srgbClr val="FFFFFF"/>
                </a:solidFill>
              </a:rPr>
              <a:t>Live monitor: spike predicted after a rice lunch</a:t>
            </a:r>
            <a:endParaRPr lang="en-US" sz="1000" dirty="0"/>
          </a:p>
        </p:txBody>
      </p:sp>
      <p:sp>
        <p:nvSpPr>
          <p:cNvPr id="9" name="Live monitor"/>
          <p:cNvSpPr/>
          <p:nvPr/>
        </p:nvSpPr>
        <p:spPr>
          <a:xfrm>
            <a:off x="320040" y="4343400"/>
            <a:ext cx="1920240" cy="1856232"/>
          </a:xfrm>
          <a:prstGeom prst="roundRect">
            <a:avLst>
              <a:gd name="adj" fmla="val 4926"/>
            </a:avLst>
          </a:prstGeom>
          <a:solidFill>
            <a:srgbClr val="FDEBDF"/>
          </a:solidFill>
          <a:ln w="15875">
            <a:solidFill>
              <a:srgbClr val="F2A679"/>
            </a:solidFill>
            <a:prstDash val="dash"/>
          </a:ln>
        </p:spPr>
      </p:sp>
      <p:sp>
        <p:nvSpPr>
          <p:cNvPr id="10" name="Shape 7"/>
          <p:cNvSpPr/>
          <p:nvPr/>
        </p:nvSpPr>
        <p:spPr>
          <a:xfrm>
            <a:off x="411480" y="4434840"/>
            <a:ext cx="347472" cy="347472"/>
          </a:xfrm>
          <a:prstGeom prst="ellipse">
            <a:avLst/>
          </a:prstGeom>
          <a:solidFill>
            <a:srgbClr val="E9712F"/>
          </a:solidFill>
          <a:ln w="12700">
            <a:solidFill>
              <a:srgbClr val="E9712F"/>
            </a:solidFill>
            <a:prstDash val="solid"/>
          </a:ln>
        </p:spPr>
      </p:sp>
      <p:pic>
        <p:nvPicPr>
          <p:cNvPr id="11" name="Image 1" descr="preencoded.png"/>
          <p:cNvPicPr>
            <a:picLocks noChangeAspect="1"/>
          </p:cNvPicPr>
          <p:nvPr/>
        </p:nvPicPr>
        <p:blipFill>
          <a:blip r:embed="rId4"/>
          <a:stretch>
            <a:fillRect/>
          </a:stretch>
        </p:blipFill>
        <p:spPr>
          <a:xfrm>
            <a:off x="487924" y="4511284"/>
            <a:ext cx="194584" cy="194584"/>
          </a:xfrm>
          <a:prstGeom prst="rect">
            <a:avLst/>
          </a:prstGeom>
        </p:spPr>
      </p:pic>
      <p:sp>
        <p:nvSpPr>
          <p:cNvPr id="12" name="Text 8"/>
          <p:cNvSpPr txBox="1"/>
          <p:nvPr/>
        </p:nvSpPr>
        <p:spPr>
          <a:xfrm>
            <a:off x="813816" y="4434840"/>
            <a:ext cx="1371600" cy="347472"/>
          </a:xfrm>
          <a:prstGeom prst="rect">
            <a:avLst/>
          </a:prstGeom>
          <a:noFill/>
          <a:ln/>
        </p:spPr>
        <p:txBody>
          <a:bodyPr wrap="square" lIns="0" tIns="0" rIns="0" bIns="0" rtlCol="0" anchor="ctr"/>
          <a:lstStyle/>
          <a:p>
            <a:pPr marL="0" indent="0">
              <a:buNone/>
            </a:pPr>
            <a:r>
              <a:rPr lang="en-US" sz="1150" b="1" dirty="0">
                <a:solidFill>
                  <a:srgbClr val="1B3A5C"/>
                </a:solidFill>
                <a:latin typeface="Calibri" pitchFamily="34" charset="0"/>
                <a:ea typeface="Calibri" pitchFamily="34" charset="-122"/>
                <a:cs typeface="Calibri" pitchFamily="34" charset="-120"/>
              </a:rPr>
              <a:t>Live monitor</a:t>
            </a:r>
            <a:endParaRPr lang="en-US" sz="1150" dirty="0"/>
          </a:p>
        </p:txBody>
      </p:sp>
      <p:sp>
        <p:nvSpPr>
          <p:cNvPr id="13" name="Text 9"/>
          <p:cNvSpPr txBox="1"/>
          <p:nvPr/>
        </p:nvSpPr>
        <p:spPr>
          <a:xfrm>
            <a:off x="429768" y="4846320"/>
            <a:ext cx="1737360" cy="1298448"/>
          </a:xfrm>
          <a:prstGeom prst="rect">
            <a:avLst/>
          </a:prstGeom>
          <a:noFill/>
          <a:ln/>
        </p:spPr>
        <p:txBody>
          <a:bodyPr wrap="square" lIns="0" tIns="0" rIns="0" bIns="0" rtlCol="0" anchor="t"/>
          <a:lstStyle/>
          <a:p>
            <a:pPr marL="0" indent="0">
              <a:buNone/>
            </a:pPr>
            <a:r>
              <a:rPr lang="en-US" sz="1150" dirty="0">
                <a:solidFill>
                  <a:srgbClr val="1F2A37"/>
                </a:solidFill>
                <a:latin typeface="Calibri" pitchFamily="34" charset="0"/>
                <a:ea typeface="Calibri" pitchFamily="34" charset="-122"/>
                <a:cs typeface="Calibri" pitchFamily="34" charset="-120"/>
              </a:rPr>
              <a:t>Refreshes every 3 s: glucose, +30/+60 min forecast, heart rate, sensor. Demo buttons inject a meal spike or hypo.</a:t>
            </a:r>
            <a:endParaRPr lang="en-US" sz="1150" dirty="0"/>
          </a:p>
        </p:txBody>
      </p:sp>
      <p:sp>
        <p:nvSpPr>
          <p:cNvPr id="14" name="Alerts &amp; patients"/>
          <p:cNvSpPr/>
          <p:nvPr/>
        </p:nvSpPr>
        <p:spPr>
          <a:xfrm>
            <a:off x="2377440" y="4343400"/>
            <a:ext cx="1920240" cy="1856232"/>
          </a:xfrm>
          <a:prstGeom prst="roundRect">
            <a:avLst>
              <a:gd name="adj" fmla="val 4926"/>
            </a:avLst>
          </a:prstGeom>
          <a:solidFill>
            <a:srgbClr val="EEF5FC"/>
          </a:solidFill>
          <a:ln w="15875">
            <a:solidFill>
              <a:srgbClr val="8DBBE6"/>
            </a:solidFill>
            <a:prstDash val="dash"/>
          </a:ln>
        </p:spPr>
      </p:sp>
      <p:sp>
        <p:nvSpPr>
          <p:cNvPr id="15" name="Shape 11"/>
          <p:cNvSpPr/>
          <p:nvPr/>
        </p:nvSpPr>
        <p:spPr>
          <a:xfrm>
            <a:off x="2468880" y="4434840"/>
            <a:ext cx="347472" cy="347472"/>
          </a:xfrm>
          <a:prstGeom prst="ellipse">
            <a:avLst/>
          </a:prstGeom>
          <a:solidFill>
            <a:srgbClr val="2F6DB5"/>
          </a:solidFill>
          <a:ln w="12700">
            <a:solidFill>
              <a:srgbClr val="2F6DB5"/>
            </a:solidFill>
            <a:prstDash val="solid"/>
          </a:ln>
        </p:spPr>
      </p:sp>
      <p:pic>
        <p:nvPicPr>
          <p:cNvPr id="16" name="Image 2" descr="preencoded.png"/>
          <p:cNvPicPr>
            <a:picLocks noChangeAspect="1"/>
          </p:cNvPicPr>
          <p:nvPr/>
        </p:nvPicPr>
        <p:blipFill>
          <a:blip r:embed="rId5"/>
          <a:stretch>
            <a:fillRect/>
          </a:stretch>
        </p:blipFill>
        <p:spPr>
          <a:xfrm>
            <a:off x="2545324" y="4511284"/>
            <a:ext cx="194584" cy="194584"/>
          </a:xfrm>
          <a:prstGeom prst="rect">
            <a:avLst/>
          </a:prstGeom>
        </p:spPr>
      </p:pic>
      <p:sp>
        <p:nvSpPr>
          <p:cNvPr id="17" name="Text 12"/>
          <p:cNvSpPr txBox="1"/>
          <p:nvPr/>
        </p:nvSpPr>
        <p:spPr>
          <a:xfrm>
            <a:off x="2871216" y="4434840"/>
            <a:ext cx="1371600" cy="347472"/>
          </a:xfrm>
          <a:prstGeom prst="rect">
            <a:avLst/>
          </a:prstGeom>
          <a:noFill/>
          <a:ln/>
        </p:spPr>
        <p:txBody>
          <a:bodyPr wrap="square" lIns="0" tIns="0" rIns="0" bIns="0" rtlCol="0" anchor="ctr"/>
          <a:lstStyle/>
          <a:p>
            <a:pPr marL="0" indent="0">
              <a:buNone/>
            </a:pPr>
            <a:r>
              <a:rPr lang="en-US" sz="1150" b="1" dirty="0">
                <a:solidFill>
                  <a:srgbClr val="1B3A5C"/>
                </a:solidFill>
                <a:latin typeface="Calibri" pitchFamily="34" charset="0"/>
                <a:ea typeface="Calibri" pitchFamily="34" charset="-122"/>
                <a:cs typeface="Calibri" pitchFamily="34" charset="-120"/>
              </a:rPr>
              <a:t>Alerts &amp; patients</a:t>
            </a:r>
            <a:endParaRPr lang="en-US" sz="1150" dirty="0"/>
          </a:p>
        </p:txBody>
      </p:sp>
      <p:sp>
        <p:nvSpPr>
          <p:cNvPr id="18" name="Text 13"/>
          <p:cNvSpPr txBox="1"/>
          <p:nvPr/>
        </p:nvSpPr>
        <p:spPr>
          <a:xfrm>
            <a:off x="2487168" y="4846320"/>
            <a:ext cx="1737360" cy="1298448"/>
          </a:xfrm>
          <a:prstGeom prst="rect">
            <a:avLst/>
          </a:prstGeom>
          <a:noFill/>
          <a:ln/>
        </p:spPr>
        <p:txBody>
          <a:bodyPr wrap="square" lIns="0" tIns="0" rIns="0" bIns="0" rtlCol="0" anchor="t"/>
          <a:lstStyle/>
          <a:p>
            <a:pPr marL="0" indent="0">
              <a:buNone/>
            </a:pPr>
            <a:r>
              <a:rPr lang="en-US" sz="1150" dirty="0">
                <a:solidFill>
                  <a:srgbClr val="1F2A37"/>
                </a:solidFill>
                <a:latin typeface="Calibri" pitchFamily="34" charset="0"/>
                <a:ea typeface="Calibri" pitchFamily="34" charset="-122"/>
                <a:cs typeface="Calibri" pitchFamily="34" charset="-120"/>
              </a:rPr>
              <a:t>Patients sorted by 3-yr DKD risk with KDIGO chips; one alert queue, no repeats within 60 min.</a:t>
            </a:r>
            <a:endParaRPr lang="en-US" sz="1150" dirty="0"/>
          </a:p>
        </p:txBody>
      </p:sp>
      <p:sp>
        <p:nvSpPr>
          <p:cNvPr id="19" name="8 tabs per patient"/>
          <p:cNvSpPr/>
          <p:nvPr/>
        </p:nvSpPr>
        <p:spPr>
          <a:xfrm>
            <a:off x="4434840" y="4343400"/>
            <a:ext cx="1920240" cy="1856232"/>
          </a:xfrm>
          <a:prstGeom prst="roundRect">
            <a:avLst>
              <a:gd name="adj" fmla="val 4926"/>
            </a:avLst>
          </a:prstGeom>
          <a:solidFill>
            <a:srgbClr val="FDEBDF"/>
          </a:solidFill>
          <a:ln w="15875">
            <a:solidFill>
              <a:srgbClr val="F2A679"/>
            </a:solidFill>
            <a:prstDash val="dash"/>
          </a:ln>
        </p:spPr>
      </p:sp>
      <p:sp>
        <p:nvSpPr>
          <p:cNvPr id="20" name="Shape 15"/>
          <p:cNvSpPr/>
          <p:nvPr/>
        </p:nvSpPr>
        <p:spPr>
          <a:xfrm>
            <a:off x="4526280" y="4434840"/>
            <a:ext cx="347472" cy="347472"/>
          </a:xfrm>
          <a:prstGeom prst="ellipse">
            <a:avLst/>
          </a:prstGeom>
          <a:solidFill>
            <a:srgbClr val="E9712F"/>
          </a:solidFill>
          <a:ln w="12700">
            <a:solidFill>
              <a:srgbClr val="E9712F"/>
            </a:solidFill>
            <a:prstDash val="solid"/>
          </a:ln>
        </p:spPr>
      </p:sp>
      <p:pic>
        <p:nvPicPr>
          <p:cNvPr id="21" name="Image 3" descr="preencoded.png"/>
          <p:cNvPicPr>
            <a:picLocks noChangeAspect="1"/>
          </p:cNvPicPr>
          <p:nvPr/>
        </p:nvPicPr>
        <p:blipFill>
          <a:blip r:embed="rId6"/>
          <a:stretch>
            <a:fillRect/>
          </a:stretch>
        </p:blipFill>
        <p:spPr>
          <a:xfrm>
            <a:off x="4602724" y="4511284"/>
            <a:ext cx="194584" cy="194584"/>
          </a:xfrm>
          <a:prstGeom prst="rect">
            <a:avLst/>
          </a:prstGeom>
        </p:spPr>
      </p:pic>
      <p:sp>
        <p:nvSpPr>
          <p:cNvPr id="22" name="Text 16"/>
          <p:cNvSpPr txBox="1"/>
          <p:nvPr/>
        </p:nvSpPr>
        <p:spPr>
          <a:xfrm>
            <a:off x="4928616" y="4434840"/>
            <a:ext cx="1371600" cy="347472"/>
          </a:xfrm>
          <a:prstGeom prst="rect">
            <a:avLst/>
          </a:prstGeom>
          <a:noFill/>
          <a:ln/>
        </p:spPr>
        <p:txBody>
          <a:bodyPr wrap="square" lIns="0" tIns="0" rIns="0" bIns="0" rtlCol="0" anchor="ctr"/>
          <a:lstStyle/>
          <a:p>
            <a:pPr marL="0" indent="0">
              <a:buNone/>
            </a:pPr>
            <a:r>
              <a:rPr lang="en-US" sz="1150" b="1" dirty="0">
                <a:solidFill>
                  <a:srgbClr val="1B3A5C"/>
                </a:solidFill>
                <a:latin typeface="Calibri" pitchFamily="34" charset="0"/>
                <a:ea typeface="Calibri" pitchFamily="34" charset="-122"/>
                <a:cs typeface="Calibri" pitchFamily="34" charset="-120"/>
              </a:rPr>
              <a:t>8 tabs per patient</a:t>
            </a:r>
            <a:endParaRPr lang="en-US" sz="1150" dirty="0"/>
          </a:p>
        </p:txBody>
      </p:sp>
      <p:sp>
        <p:nvSpPr>
          <p:cNvPr id="23" name="Text 17"/>
          <p:cNvSpPr txBox="1"/>
          <p:nvPr/>
        </p:nvSpPr>
        <p:spPr>
          <a:xfrm>
            <a:off x="4544568" y="4846320"/>
            <a:ext cx="1737360" cy="1298448"/>
          </a:xfrm>
          <a:prstGeom prst="rect">
            <a:avLst/>
          </a:prstGeom>
          <a:noFill/>
          <a:ln/>
        </p:spPr>
        <p:txBody>
          <a:bodyPr wrap="square" lIns="0" tIns="0" rIns="0" bIns="0" rtlCol="0" anchor="t"/>
          <a:lstStyle/>
          <a:p>
            <a:pPr marL="0" indent="0">
              <a:buNone/>
            </a:pPr>
            <a:r>
              <a:rPr lang="en-US" sz="1150" dirty="0">
                <a:solidFill>
                  <a:srgbClr val="1F2A37"/>
                </a:solidFill>
                <a:latin typeface="Calibri" pitchFamily="34" charset="0"/>
                <a:ea typeface="Calibri" pitchFamily="34" charset="-122"/>
                <a:cs typeface="Calibri" pitchFamily="34" charset="-120"/>
              </a:rPr>
              <a:t>Overview, Live, </a:t>
            </a:r>
            <a:r>
              <a:rPr lang="en-US" sz="1150" b="1" dirty="0">
                <a:solidFill>
                  <a:srgbClr val="1F2A37"/>
                </a:solidFill>
                <a:latin typeface="Calibri" pitchFamily="34" charset="0"/>
                <a:ea typeface="Calibri" pitchFamily="34" charset="-122"/>
                <a:cs typeface="Calibri" pitchFamily="34" charset="-120"/>
              </a:rPr>
              <a:t>Treatments advisor for doctors with live simulations,</a:t>
            </a:r>
            <a:r>
              <a:rPr lang="en-US" sz="1150" dirty="0">
                <a:solidFill>
                  <a:srgbClr val="1F2A37"/>
                </a:solidFill>
                <a:latin typeface="Calibri" pitchFamily="34" charset="0"/>
                <a:ea typeface="Calibri" pitchFamily="34" charset="-122"/>
                <a:cs typeface="Calibri" pitchFamily="34" charset="-120"/>
              </a:rPr>
              <a:t> Medications, Meals, EHR/FHIR, AI assistant, Report.</a:t>
            </a:r>
            <a:endParaRPr lang="en-US" sz="1150" dirty="0"/>
          </a:p>
        </p:txBody>
      </p:sp>
      <p:sp>
        <p:nvSpPr>
          <p:cNvPr id="24" name="Text 18"/>
          <p:cNvSpPr txBox="1"/>
          <p:nvPr/>
        </p:nvSpPr>
        <p:spPr>
          <a:xfrm>
            <a:off x="6629400" y="841248"/>
            <a:ext cx="4572000" cy="256032"/>
          </a:xfrm>
          <a:prstGeom prst="rect">
            <a:avLst/>
          </a:prstGeom>
          <a:noFill/>
          <a:ln/>
        </p:spPr>
        <p:txBody>
          <a:bodyPr wrap="square" lIns="0" tIns="0" rIns="0" bIns="0" rtlCol="0" anchor="t"/>
          <a:lstStyle/>
          <a:p>
            <a:pPr marL="0" indent="0">
              <a:buNone/>
            </a:pPr>
            <a:r>
              <a:rPr lang="en-US" sz="1200" b="1" kern="0" spc="100" dirty="0">
                <a:solidFill>
                  <a:srgbClr val="1B3A5C"/>
                </a:solidFill>
                <a:latin typeface="Calibri" pitchFamily="34" charset="0"/>
                <a:ea typeface="Calibri" pitchFamily="34" charset="-122"/>
                <a:cs typeface="Calibri" pitchFamily="34" charset="-120"/>
              </a:rPr>
              <a:t>PATIENT APP IN ENGLISH AND हिंदी</a:t>
            </a:r>
            <a:endParaRPr lang="en-US" sz="1200" dirty="0"/>
          </a:p>
        </p:txBody>
      </p:sp>
      <p:sp>
        <p:nvSpPr>
          <p:cNvPr id="25" name="Shape 19"/>
          <p:cNvSpPr/>
          <p:nvPr/>
        </p:nvSpPr>
        <p:spPr>
          <a:xfrm>
            <a:off x="6611112" y="1143000"/>
            <a:ext cx="1773936" cy="3419856"/>
          </a:xfrm>
          <a:prstGeom prst="roundRect">
            <a:avLst>
              <a:gd name="adj" fmla="val 7216"/>
            </a:avLst>
          </a:prstGeom>
          <a:solidFill>
            <a:srgbClr val="1B3A5C"/>
          </a:solidFill>
          <a:ln w="12700">
            <a:solidFill>
              <a:srgbClr val="1B3A5C"/>
            </a:solidFill>
            <a:prstDash val="solid"/>
          </a:ln>
          <a:effectLst>
            <a:outerShdw blurRad="63500" dist="38100" dir="3600000" algn="bl" rotWithShape="0">
              <a:srgbClr val="000000">
                <a:alpha val="20000"/>
              </a:srgbClr>
            </a:outerShdw>
          </a:effectLst>
        </p:spPr>
      </p:sp>
      <p:pic>
        <p:nvPicPr>
          <p:cNvPr id="26" name="Phone 1" descr="/home/claude/gr/assets/ph_today_hi.jpg"/>
          <p:cNvPicPr>
            <a:picLocks noChangeAspect="1"/>
          </p:cNvPicPr>
          <p:nvPr/>
        </p:nvPicPr>
        <p:blipFill>
          <a:blip r:embed="rId7"/>
          <a:stretch>
            <a:fillRect/>
          </a:stretch>
        </p:blipFill>
        <p:spPr>
          <a:xfrm>
            <a:off x="6675120" y="1207008"/>
            <a:ext cx="1645920" cy="3291840"/>
          </a:xfrm>
          <a:prstGeom prst="rect">
            <a:avLst/>
          </a:prstGeom>
        </p:spPr>
      </p:pic>
      <p:sp>
        <p:nvSpPr>
          <p:cNvPr id="27" name="Phone caption 1"/>
          <p:cNvSpPr/>
          <p:nvPr/>
        </p:nvSpPr>
        <p:spPr>
          <a:xfrm>
            <a:off x="6611112" y="4681728"/>
            <a:ext cx="1773936" cy="1517904"/>
          </a:xfrm>
          <a:prstGeom prst="roundRect">
            <a:avLst>
              <a:gd name="adj" fmla="val 6024"/>
            </a:avLst>
          </a:prstGeom>
          <a:solidFill>
            <a:srgbClr val="FDEBDF"/>
          </a:solidFill>
          <a:ln w="15875">
            <a:solidFill>
              <a:srgbClr val="F2A679"/>
            </a:solidFill>
            <a:prstDash val="dash"/>
          </a:ln>
        </p:spPr>
      </p:sp>
      <p:sp>
        <p:nvSpPr>
          <p:cNvPr id="28" name="Text 21"/>
          <p:cNvSpPr txBox="1"/>
          <p:nvPr/>
        </p:nvSpPr>
        <p:spPr>
          <a:xfrm>
            <a:off x="6702552" y="4736592"/>
            <a:ext cx="1591056" cy="310896"/>
          </a:xfrm>
          <a:prstGeom prst="rect">
            <a:avLst/>
          </a:prstGeom>
          <a:noFill/>
          <a:ln/>
        </p:spPr>
        <p:txBody>
          <a:bodyPr wrap="square" lIns="0" tIns="0" rIns="0" bIns="0" rtlCol="0" anchor="ctr"/>
          <a:lstStyle/>
          <a:p>
            <a:pPr marL="0" indent="0">
              <a:buNone/>
            </a:pPr>
            <a:r>
              <a:rPr lang="en-US" sz="1200" b="1" dirty="0">
                <a:solidFill>
                  <a:srgbClr val="1B3A5C"/>
                </a:solidFill>
                <a:latin typeface="Calibri" pitchFamily="34" charset="0"/>
                <a:ea typeface="Calibri" pitchFamily="34" charset="-122"/>
                <a:cs typeface="Calibri" pitchFamily="34" charset="-120"/>
              </a:rPr>
              <a:t>आज (Today)</a:t>
            </a:r>
            <a:endParaRPr lang="en-US" sz="1200" dirty="0"/>
          </a:p>
        </p:txBody>
      </p:sp>
      <p:sp>
        <p:nvSpPr>
          <p:cNvPr id="29" name="Text 22"/>
          <p:cNvSpPr txBox="1"/>
          <p:nvPr/>
        </p:nvSpPr>
        <p:spPr>
          <a:xfrm>
            <a:off x="6702552" y="5065776"/>
            <a:ext cx="1591056" cy="1097280"/>
          </a:xfrm>
          <a:prstGeom prst="rect">
            <a:avLst/>
          </a:prstGeom>
          <a:noFill/>
          <a:ln/>
        </p:spPr>
        <p:txBody>
          <a:bodyPr wrap="square" lIns="0" tIns="0" rIns="0" bIns="0" rtlCol="0" anchor="t"/>
          <a:lstStyle/>
          <a:p>
            <a:pPr marL="0" indent="0">
              <a:buNone/>
            </a:pPr>
            <a:r>
              <a:rPr lang="en-US" sz="1150" dirty="0">
                <a:solidFill>
                  <a:srgbClr val="1F2A37"/>
                </a:solidFill>
                <a:latin typeface="Calibri" pitchFamily="34" charset="0"/>
                <a:ea typeface="Calibri" pitchFamily="34" charset="-122"/>
                <a:cs typeface="Calibri" pitchFamily="34" charset="-120"/>
              </a:rPr>
              <a:t>Live glucose, next dose with Taken / Skip, 14-day time in range (Hindi)</a:t>
            </a:r>
            <a:endParaRPr lang="en-US" sz="1150" dirty="0"/>
          </a:p>
        </p:txBody>
      </p:sp>
      <p:sp>
        <p:nvSpPr>
          <p:cNvPr id="30" name="Shape 23"/>
          <p:cNvSpPr/>
          <p:nvPr/>
        </p:nvSpPr>
        <p:spPr>
          <a:xfrm>
            <a:off x="8403336" y="1143000"/>
            <a:ext cx="1773936" cy="3419856"/>
          </a:xfrm>
          <a:prstGeom prst="roundRect">
            <a:avLst>
              <a:gd name="adj" fmla="val 7216"/>
            </a:avLst>
          </a:prstGeom>
          <a:solidFill>
            <a:srgbClr val="1B3A5C"/>
          </a:solidFill>
          <a:ln w="12700">
            <a:solidFill>
              <a:srgbClr val="1B3A5C"/>
            </a:solidFill>
            <a:prstDash val="solid"/>
          </a:ln>
          <a:effectLst>
            <a:outerShdw blurRad="63500" dist="38100" dir="3600000" algn="bl" rotWithShape="0">
              <a:srgbClr val="000000">
                <a:alpha val="20000"/>
              </a:srgbClr>
            </a:outerShdw>
          </a:effectLst>
        </p:spPr>
      </p:sp>
      <p:pic>
        <p:nvPicPr>
          <p:cNvPr id="31" name="Phone 2" descr="/home/claude/gr/assets/ph_meals_en.jpg"/>
          <p:cNvPicPr>
            <a:picLocks noChangeAspect="1"/>
          </p:cNvPicPr>
          <p:nvPr/>
        </p:nvPicPr>
        <p:blipFill>
          <a:blip r:embed="rId8"/>
          <a:stretch>
            <a:fillRect/>
          </a:stretch>
        </p:blipFill>
        <p:spPr>
          <a:xfrm>
            <a:off x="8467344" y="1207008"/>
            <a:ext cx="1645920" cy="3291840"/>
          </a:xfrm>
          <a:prstGeom prst="rect">
            <a:avLst/>
          </a:prstGeom>
        </p:spPr>
      </p:pic>
      <p:sp>
        <p:nvSpPr>
          <p:cNvPr id="32" name="Phone caption 2"/>
          <p:cNvSpPr/>
          <p:nvPr/>
        </p:nvSpPr>
        <p:spPr>
          <a:xfrm>
            <a:off x="8403336" y="4681728"/>
            <a:ext cx="1773936" cy="1517904"/>
          </a:xfrm>
          <a:prstGeom prst="roundRect">
            <a:avLst>
              <a:gd name="adj" fmla="val 6024"/>
            </a:avLst>
          </a:prstGeom>
          <a:solidFill>
            <a:srgbClr val="EEF5FC"/>
          </a:solidFill>
          <a:ln w="15875">
            <a:solidFill>
              <a:srgbClr val="8DBBE6"/>
            </a:solidFill>
            <a:prstDash val="dash"/>
          </a:ln>
        </p:spPr>
      </p:sp>
      <p:sp>
        <p:nvSpPr>
          <p:cNvPr id="33" name="Text 25"/>
          <p:cNvSpPr txBox="1"/>
          <p:nvPr/>
        </p:nvSpPr>
        <p:spPr>
          <a:xfrm>
            <a:off x="8494776" y="4736592"/>
            <a:ext cx="1591056" cy="310896"/>
          </a:xfrm>
          <a:prstGeom prst="rect">
            <a:avLst/>
          </a:prstGeom>
          <a:noFill/>
          <a:ln/>
        </p:spPr>
        <p:txBody>
          <a:bodyPr wrap="square" lIns="0" tIns="0" rIns="0" bIns="0" rtlCol="0" anchor="ctr"/>
          <a:lstStyle/>
          <a:p>
            <a:pPr marL="0" indent="0">
              <a:buNone/>
            </a:pPr>
            <a:r>
              <a:rPr lang="en-US" sz="1200" b="1" dirty="0">
                <a:solidFill>
                  <a:srgbClr val="1B3A5C"/>
                </a:solidFill>
                <a:latin typeface="Calibri" pitchFamily="34" charset="0"/>
                <a:ea typeface="Calibri" pitchFamily="34" charset="-122"/>
                <a:cs typeface="Calibri" pitchFamily="34" charset="-120"/>
              </a:rPr>
              <a:t>Meals</a:t>
            </a:r>
            <a:endParaRPr lang="en-US" sz="1200" dirty="0"/>
          </a:p>
        </p:txBody>
      </p:sp>
      <p:sp>
        <p:nvSpPr>
          <p:cNvPr id="34" name="Text 26"/>
          <p:cNvSpPr txBox="1"/>
          <p:nvPr/>
        </p:nvSpPr>
        <p:spPr>
          <a:xfrm>
            <a:off x="8494776" y="5065776"/>
            <a:ext cx="1591056" cy="1097280"/>
          </a:xfrm>
          <a:prstGeom prst="rect">
            <a:avLst/>
          </a:prstGeom>
          <a:noFill/>
          <a:ln/>
        </p:spPr>
        <p:txBody>
          <a:bodyPr wrap="square" lIns="0" tIns="0" rIns="0" bIns="0" rtlCol="0" anchor="t"/>
          <a:lstStyle/>
          <a:p>
            <a:pPr marL="0" indent="0">
              <a:buNone/>
            </a:pPr>
            <a:r>
              <a:rPr lang="en-US" sz="1150" dirty="0">
                <a:solidFill>
                  <a:srgbClr val="1F2A37"/>
                </a:solidFill>
                <a:latin typeface="Calibri" pitchFamily="34" charset="0"/>
                <a:ea typeface="Calibri" pitchFamily="34" charset="-122"/>
                <a:cs typeface="Calibri" pitchFamily="34" charset="-120"/>
              </a:rPr>
              <a:t>Indian foods with carbs and GI; top 3 spiking foods from own CGM</a:t>
            </a:r>
            <a:endParaRPr lang="en-US" sz="1150" dirty="0"/>
          </a:p>
        </p:txBody>
      </p:sp>
      <p:sp>
        <p:nvSpPr>
          <p:cNvPr id="35" name="Shape 27"/>
          <p:cNvSpPr/>
          <p:nvPr/>
        </p:nvSpPr>
        <p:spPr>
          <a:xfrm>
            <a:off x="10195560" y="1143000"/>
            <a:ext cx="1773936" cy="3419856"/>
          </a:xfrm>
          <a:prstGeom prst="roundRect">
            <a:avLst>
              <a:gd name="adj" fmla="val 7216"/>
            </a:avLst>
          </a:prstGeom>
          <a:solidFill>
            <a:srgbClr val="1B3A5C"/>
          </a:solidFill>
          <a:ln w="12700">
            <a:solidFill>
              <a:srgbClr val="1B3A5C"/>
            </a:solidFill>
            <a:prstDash val="solid"/>
          </a:ln>
          <a:effectLst>
            <a:outerShdw blurRad="63500" dist="38100" dir="3600000" algn="bl" rotWithShape="0">
              <a:srgbClr val="000000">
                <a:alpha val="20000"/>
              </a:srgbClr>
            </a:outerShdw>
          </a:effectLst>
        </p:spPr>
      </p:sp>
      <p:pic>
        <p:nvPicPr>
          <p:cNvPr id="36" name="Phone 3" descr="/home/claude/gr/assets/ph_ask_en.jpg"/>
          <p:cNvPicPr>
            <a:picLocks noChangeAspect="1"/>
          </p:cNvPicPr>
          <p:nvPr/>
        </p:nvPicPr>
        <p:blipFill>
          <a:blip r:embed="rId9"/>
          <a:stretch>
            <a:fillRect/>
          </a:stretch>
        </p:blipFill>
        <p:spPr>
          <a:xfrm>
            <a:off x="10259568" y="1207008"/>
            <a:ext cx="1645920" cy="3291840"/>
          </a:xfrm>
          <a:prstGeom prst="rect">
            <a:avLst/>
          </a:prstGeom>
        </p:spPr>
      </p:pic>
      <p:sp>
        <p:nvSpPr>
          <p:cNvPr id="37" name="Phone caption 3"/>
          <p:cNvSpPr/>
          <p:nvPr/>
        </p:nvSpPr>
        <p:spPr>
          <a:xfrm>
            <a:off x="10195560" y="4681728"/>
            <a:ext cx="1773936" cy="1517904"/>
          </a:xfrm>
          <a:prstGeom prst="roundRect">
            <a:avLst>
              <a:gd name="adj" fmla="val 6024"/>
            </a:avLst>
          </a:prstGeom>
          <a:solidFill>
            <a:srgbClr val="FDEBDF"/>
          </a:solidFill>
          <a:ln w="15875">
            <a:solidFill>
              <a:srgbClr val="F2A679"/>
            </a:solidFill>
            <a:prstDash val="dash"/>
          </a:ln>
        </p:spPr>
      </p:sp>
      <p:sp>
        <p:nvSpPr>
          <p:cNvPr id="38" name="Text 29"/>
          <p:cNvSpPr txBox="1"/>
          <p:nvPr/>
        </p:nvSpPr>
        <p:spPr>
          <a:xfrm>
            <a:off x="10287000" y="4736592"/>
            <a:ext cx="1591056" cy="310896"/>
          </a:xfrm>
          <a:prstGeom prst="rect">
            <a:avLst/>
          </a:prstGeom>
          <a:noFill/>
          <a:ln/>
        </p:spPr>
        <p:txBody>
          <a:bodyPr wrap="square" lIns="0" tIns="0" rIns="0" bIns="0" rtlCol="0" anchor="ctr"/>
          <a:lstStyle/>
          <a:p>
            <a:pPr marL="0" indent="0">
              <a:buNone/>
            </a:pPr>
            <a:r>
              <a:rPr lang="en-US" sz="1200" b="1" dirty="0">
                <a:solidFill>
                  <a:srgbClr val="1B3A5C"/>
                </a:solidFill>
                <a:latin typeface="Calibri" pitchFamily="34" charset="0"/>
                <a:ea typeface="Calibri" pitchFamily="34" charset="-122"/>
                <a:cs typeface="Calibri" pitchFamily="34" charset="-120"/>
              </a:rPr>
              <a:t>Ask</a:t>
            </a:r>
            <a:endParaRPr lang="en-US" sz="1200" dirty="0"/>
          </a:p>
        </p:txBody>
      </p:sp>
      <p:sp>
        <p:nvSpPr>
          <p:cNvPr id="39" name="Text 30"/>
          <p:cNvSpPr txBox="1"/>
          <p:nvPr/>
        </p:nvSpPr>
        <p:spPr>
          <a:xfrm>
            <a:off x="10287000" y="5065776"/>
            <a:ext cx="1591056" cy="1097280"/>
          </a:xfrm>
          <a:prstGeom prst="rect">
            <a:avLst/>
          </a:prstGeom>
          <a:noFill/>
          <a:ln/>
        </p:spPr>
        <p:txBody>
          <a:bodyPr wrap="square" lIns="0" tIns="0" rIns="0" bIns="0" rtlCol="0" anchor="t"/>
          <a:lstStyle/>
          <a:p>
            <a:pPr marL="0" indent="0">
              <a:buNone/>
            </a:pPr>
            <a:r>
              <a:rPr lang="en-US" sz="1150" dirty="0">
                <a:solidFill>
                  <a:srgbClr val="1F2A37"/>
                </a:solidFill>
                <a:latin typeface="Calibri" pitchFamily="34" charset="0"/>
                <a:ea typeface="Calibri" pitchFamily="34" charset="-122"/>
                <a:cs typeface="Calibri" pitchFamily="34" charset="-120"/>
              </a:rPr>
              <a:t>Medicine questions get one reply: "Please discuss this with your doctor"</a:t>
            </a:r>
            <a:endParaRPr lang="en-US" sz="11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itle tag"/>
          <p:cNvSpPr/>
          <p:nvPr/>
        </p:nvSpPr>
        <p:spPr>
          <a:xfrm>
            <a:off x="274320" y="109728"/>
            <a:ext cx="5694883" cy="603504"/>
          </a:xfrm>
          <a:prstGeom prst="rect">
            <a:avLst/>
          </a:prstGeom>
          <a:solidFill>
            <a:srgbClr val="FFFFFF"/>
          </a:solidFill>
          <a:ln w="22225">
            <a:solidFill>
              <a:srgbClr val="2F6DB5"/>
            </a:solidFill>
            <a:prstDash val="solid"/>
          </a:ln>
        </p:spPr>
      </p:sp>
      <p:sp>
        <p:nvSpPr>
          <p:cNvPr id="3" name="Text 10"/>
          <p:cNvSpPr>
            <a:spLocks noGrp="1"/>
          </p:cNvSpPr>
          <p:nvPr>
            <p:ph type="title" idx="111" hasCustomPrompt="1"/>
          </p:nvPr>
        </p:nvSpPr>
        <p:spPr>
          <a:xfrm>
            <a:off x="384048" y="128016"/>
            <a:ext cx="8686800" cy="566928"/>
          </a:xfrm>
          <a:prstGeom prst="rect">
            <a:avLst/>
          </a:prstGeom>
          <a:noFill/>
          <a:ln/>
        </p:spPr>
        <p:txBody>
          <a:bodyPr wrap="square" lIns="0" tIns="0" rIns="0" bIns="0" rtlCol="0" anchor="ctr"/>
          <a:lstStyle/>
          <a:p>
            <a:pPr marL="0" indent="0" algn="l">
              <a:buNone/>
            </a:pPr>
            <a:r>
              <a:rPr lang="en-US" sz="2600" b="1" dirty="0">
                <a:solidFill>
                  <a:srgbClr val="E9712F"/>
                </a:solidFill>
              </a:rPr>
              <a:t>AI Assistant, Safety &amp; Engineering</a:t>
            </a:r>
            <a:endParaRPr lang="en-US" sz="2600" dirty="0"/>
          </a:p>
        </p:txBody>
      </p:sp>
      <p:sp>
        <p:nvSpPr>
          <p:cNvPr id="4" name="Shape 2"/>
          <p:cNvSpPr/>
          <p:nvPr/>
        </p:nvSpPr>
        <p:spPr>
          <a:xfrm>
            <a:off x="356616" y="914400"/>
            <a:ext cx="6949440" cy="2852928"/>
          </a:xfrm>
          <a:prstGeom prst="rect">
            <a:avLst/>
          </a:prstGeom>
          <a:solidFill>
            <a:srgbClr val="D9DEE4"/>
          </a:solidFill>
          <a:ln w="12700">
            <a:solidFill>
              <a:srgbClr val="D9DEE4"/>
            </a:solidFill>
            <a:prstDash val="solid"/>
          </a:ln>
        </p:spPr>
      </p:sp>
      <p:pic>
        <p:nvPicPr>
          <p:cNvPr id="5" name="AI assistant screenshot" descr="/home/claude/gr/assets/ai.jpg"/>
          <p:cNvPicPr>
            <a:picLocks noChangeAspect="1"/>
          </p:cNvPicPr>
          <p:nvPr/>
        </p:nvPicPr>
        <p:blipFill>
          <a:blip r:embed="rId3"/>
          <a:stretch>
            <a:fillRect/>
          </a:stretch>
        </p:blipFill>
        <p:spPr>
          <a:xfrm>
            <a:off x="320040" y="868680"/>
            <a:ext cx="6949440" cy="2852928"/>
          </a:xfrm>
          <a:prstGeom prst="rect">
            <a:avLst/>
          </a:prstGeom>
        </p:spPr>
      </p:pic>
      <p:sp>
        <p:nvSpPr>
          <p:cNvPr id="6" name="Shape 3"/>
          <p:cNvSpPr/>
          <p:nvPr/>
        </p:nvSpPr>
        <p:spPr>
          <a:xfrm>
            <a:off x="320040" y="868680"/>
            <a:ext cx="6949440" cy="2852928"/>
          </a:xfrm>
          <a:prstGeom prst="rect">
            <a:avLst/>
          </a:prstGeom>
          <a:ln w="9525">
            <a:solidFill>
              <a:srgbClr val="C9D1D9"/>
            </a:solidFill>
            <a:prstDash val="solid"/>
          </a:ln>
        </p:spPr>
      </p:sp>
      <p:sp>
        <p:nvSpPr>
          <p:cNvPr id="7" name="LLM chain"/>
          <p:cNvSpPr/>
          <p:nvPr/>
        </p:nvSpPr>
        <p:spPr>
          <a:xfrm>
            <a:off x="320040" y="3886200"/>
            <a:ext cx="2231136" cy="2304288"/>
          </a:xfrm>
          <a:prstGeom prst="roundRect">
            <a:avLst>
              <a:gd name="adj" fmla="val 4098"/>
            </a:avLst>
          </a:prstGeom>
          <a:solidFill>
            <a:srgbClr val="FDEBDF"/>
          </a:solidFill>
          <a:ln w="15875">
            <a:solidFill>
              <a:srgbClr val="F2A679"/>
            </a:solidFill>
            <a:prstDash val="dash"/>
          </a:ln>
        </p:spPr>
      </p:sp>
      <p:sp>
        <p:nvSpPr>
          <p:cNvPr id="8" name="Shape 5"/>
          <p:cNvSpPr/>
          <p:nvPr/>
        </p:nvSpPr>
        <p:spPr>
          <a:xfrm>
            <a:off x="429768" y="3995928"/>
            <a:ext cx="384048" cy="384048"/>
          </a:xfrm>
          <a:prstGeom prst="ellipse">
            <a:avLst/>
          </a:prstGeom>
          <a:solidFill>
            <a:srgbClr val="E9712F"/>
          </a:solidFill>
          <a:ln w="12700">
            <a:solidFill>
              <a:srgbClr val="E9712F"/>
            </a:solidFill>
            <a:prstDash val="solid"/>
          </a:ln>
        </p:spPr>
      </p:sp>
      <p:pic>
        <p:nvPicPr>
          <p:cNvPr id="9" name="Image 1" descr="preencoded.png"/>
          <p:cNvPicPr>
            <a:picLocks noChangeAspect="1"/>
          </p:cNvPicPr>
          <p:nvPr/>
        </p:nvPicPr>
        <p:blipFill>
          <a:blip r:embed="rId4"/>
          <a:stretch>
            <a:fillRect/>
          </a:stretch>
        </p:blipFill>
        <p:spPr>
          <a:xfrm>
            <a:off x="514259" y="4080419"/>
            <a:ext cx="215067" cy="215067"/>
          </a:xfrm>
          <a:prstGeom prst="rect">
            <a:avLst/>
          </a:prstGeom>
        </p:spPr>
      </p:pic>
      <p:sp>
        <p:nvSpPr>
          <p:cNvPr id="10" name="Text 6"/>
          <p:cNvSpPr txBox="1"/>
          <p:nvPr/>
        </p:nvSpPr>
        <p:spPr>
          <a:xfrm>
            <a:off x="886968" y="3995928"/>
            <a:ext cx="1600200" cy="384048"/>
          </a:xfrm>
          <a:prstGeom prst="rect">
            <a:avLst/>
          </a:prstGeom>
          <a:noFill/>
          <a:ln/>
        </p:spPr>
        <p:txBody>
          <a:bodyPr wrap="square" lIns="0" tIns="0" rIns="0" bIns="0" rtlCol="0" anchor="ctr"/>
          <a:lstStyle/>
          <a:p>
            <a:pPr marL="0" indent="0">
              <a:buNone/>
            </a:pPr>
            <a:r>
              <a:rPr lang="en-US" sz="1250" b="1" dirty="0">
                <a:solidFill>
                  <a:srgbClr val="1B3A5C"/>
                </a:solidFill>
                <a:latin typeface="Calibri" pitchFamily="34" charset="0"/>
                <a:ea typeface="Calibri" pitchFamily="34" charset="-122"/>
                <a:cs typeface="Calibri" pitchFamily="34" charset="-120"/>
              </a:rPr>
              <a:t>LLM chain</a:t>
            </a:r>
            <a:endParaRPr lang="en-US" sz="1250" dirty="0"/>
          </a:p>
        </p:txBody>
      </p:sp>
      <p:sp>
        <p:nvSpPr>
          <p:cNvPr id="11" name="Text 7"/>
          <p:cNvSpPr txBox="1"/>
          <p:nvPr/>
        </p:nvSpPr>
        <p:spPr>
          <a:xfrm>
            <a:off x="448056" y="4498848"/>
            <a:ext cx="1993392" cy="1645920"/>
          </a:xfrm>
          <a:prstGeom prst="rect">
            <a:avLst/>
          </a:prstGeom>
          <a:noFill/>
          <a:ln/>
        </p:spPr>
        <p:txBody>
          <a:bodyPr wrap="square" lIns="0" tIns="0" rIns="0" bIns="0" rtlCol="0" anchor="t"/>
          <a:lstStyle/>
          <a:p>
            <a:pPr marL="0" indent="0">
              <a:buNone/>
            </a:pPr>
            <a:r>
              <a:rPr lang="en-US" sz="1200" dirty="0">
                <a:solidFill>
                  <a:srgbClr val="1F2A37"/>
                </a:solidFill>
                <a:latin typeface="Calibri" pitchFamily="34" charset="0"/>
                <a:ea typeface="Calibri" pitchFamily="34" charset="-122"/>
                <a:cs typeface="Calibri" pitchFamily="34" charset="-120"/>
              </a:rPr>
              <a:t>Kimi K2.6 (Moonshot) first, then Gemini, then built-in templates marked "offline summary". It explains the twin's numbers, makes no predictions and cites 8 guideline notes.</a:t>
            </a:r>
            <a:endParaRPr lang="en-US" sz="1200" dirty="0"/>
          </a:p>
        </p:txBody>
      </p:sp>
      <p:sp>
        <p:nvSpPr>
          <p:cNvPr id="12" name="Privacy"/>
          <p:cNvSpPr/>
          <p:nvPr/>
        </p:nvSpPr>
        <p:spPr>
          <a:xfrm>
            <a:off x="2679192" y="3886200"/>
            <a:ext cx="2231136" cy="2304288"/>
          </a:xfrm>
          <a:prstGeom prst="roundRect">
            <a:avLst>
              <a:gd name="adj" fmla="val 4098"/>
            </a:avLst>
          </a:prstGeom>
          <a:solidFill>
            <a:srgbClr val="EEF5FC"/>
          </a:solidFill>
          <a:ln w="15875">
            <a:solidFill>
              <a:srgbClr val="8DBBE6"/>
            </a:solidFill>
            <a:prstDash val="dash"/>
          </a:ln>
        </p:spPr>
      </p:sp>
      <p:sp>
        <p:nvSpPr>
          <p:cNvPr id="13" name="Shape 9"/>
          <p:cNvSpPr/>
          <p:nvPr/>
        </p:nvSpPr>
        <p:spPr>
          <a:xfrm>
            <a:off x="2788920" y="3995928"/>
            <a:ext cx="384048" cy="384048"/>
          </a:xfrm>
          <a:prstGeom prst="ellipse">
            <a:avLst/>
          </a:prstGeom>
          <a:solidFill>
            <a:srgbClr val="2F6DB5"/>
          </a:solidFill>
          <a:ln w="12700">
            <a:solidFill>
              <a:srgbClr val="2F6DB5"/>
            </a:solidFill>
            <a:prstDash val="solid"/>
          </a:ln>
        </p:spPr>
      </p:sp>
      <p:pic>
        <p:nvPicPr>
          <p:cNvPr id="14" name="Image 2" descr="preencoded.png"/>
          <p:cNvPicPr>
            <a:picLocks noChangeAspect="1"/>
          </p:cNvPicPr>
          <p:nvPr/>
        </p:nvPicPr>
        <p:blipFill>
          <a:blip r:embed="rId5"/>
          <a:stretch>
            <a:fillRect/>
          </a:stretch>
        </p:blipFill>
        <p:spPr>
          <a:xfrm>
            <a:off x="2873411" y="4080419"/>
            <a:ext cx="215067" cy="215067"/>
          </a:xfrm>
          <a:prstGeom prst="rect">
            <a:avLst/>
          </a:prstGeom>
        </p:spPr>
      </p:pic>
      <p:sp>
        <p:nvSpPr>
          <p:cNvPr id="15" name="Text 10"/>
          <p:cNvSpPr txBox="1"/>
          <p:nvPr/>
        </p:nvSpPr>
        <p:spPr>
          <a:xfrm>
            <a:off x="3246120" y="3995928"/>
            <a:ext cx="1600200" cy="384048"/>
          </a:xfrm>
          <a:prstGeom prst="rect">
            <a:avLst/>
          </a:prstGeom>
          <a:noFill/>
          <a:ln/>
        </p:spPr>
        <p:txBody>
          <a:bodyPr wrap="square" lIns="0" tIns="0" rIns="0" bIns="0" rtlCol="0" anchor="ctr"/>
          <a:lstStyle/>
          <a:p>
            <a:pPr marL="0" indent="0">
              <a:buNone/>
            </a:pPr>
            <a:r>
              <a:rPr lang="en-US" sz="1250" b="1" dirty="0">
                <a:solidFill>
                  <a:srgbClr val="1B3A5C"/>
                </a:solidFill>
                <a:latin typeface="Calibri" pitchFamily="34" charset="0"/>
                <a:ea typeface="Calibri" pitchFamily="34" charset="-122"/>
                <a:cs typeface="Calibri" pitchFamily="34" charset="-120"/>
              </a:rPr>
              <a:t>Privacy</a:t>
            </a:r>
            <a:endParaRPr lang="en-US" sz="1250" dirty="0"/>
          </a:p>
        </p:txBody>
      </p:sp>
      <p:sp>
        <p:nvSpPr>
          <p:cNvPr id="16" name="Text 11"/>
          <p:cNvSpPr txBox="1"/>
          <p:nvPr/>
        </p:nvSpPr>
        <p:spPr>
          <a:xfrm>
            <a:off x="2807208" y="4498848"/>
            <a:ext cx="1993392" cy="1645920"/>
          </a:xfrm>
          <a:prstGeom prst="rect">
            <a:avLst/>
          </a:prstGeom>
          <a:noFill/>
          <a:ln/>
        </p:spPr>
        <p:txBody>
          <a:bodyPr wrap="square" lIns="0" tIns="0" rIns="0" bIns="0" rtlCol="0" anchor="t"/>
          <a:lstStyle/>
          <a:p>
            <a:pPr marL="0" indent="0">
              <a:buNone/>
            </a:pPr>
            <a:r>
              <a:rPr lang="en-US" sz="1200" dirty="0">
                <a:solidFill>
                  <a:srgbClr val="1F2A37"/>
                </a:solidFill>
                <a:latin typeface="Calibri" pitchFamily="34" charset="0"/>
                <a:ea typeface="Calibri" pitchFamily="34" charset="-122"/>
                <a:cs typeface="Calibri" pitchFamily="34" charset="-120"/>
              </a:rPr>
              <a:t>Sends only the patient ID and numbers, never names. Called only on a button press or question; answers cached 30 min.</a:t>
            </a:r>
            <a:endParaRPr lang="en-US" sz="1200" dirty="0"/>
          </a:p>
        </p:txBody>
      </p:sp>
      <p:sp>
        <p:nvSpPr>
          <p:cNvPr id="17" name="Patient guardrails"/>
          <p:cNvSpPr/>
          <p:nvPr/>
        </p:nvSpPr>
        <p:spPr>
          <a:xfrm>
            <a:off x="5038344" y="3886200"/>
            <a:ext cx="2231136" cy="2304288"/>
          </a:xfrm>
          <a:prstGeom prst="roundRect">
            <a:avLst>
              <a:gd name="adj" fmla="val 4098"/>
            </a:avLst>
          </a:prstGeom>
          <a:solidFill>
            <a:srgbClr val="FDEBDF"/>
          </a:solidFill>
          <a:ln w="15875">
            <a:solidFill>
              <a:srgbClr val="F2A679"/>
            </a:solidFill>
            <a:prstDash val="dash"/>
          </a:ln>
        </p:spPr>
      </p:sp>
      <p:sp>
        <p:nvSpPr>
          <p:cNvPr id="18" name="Shape 13"/>
          <p:cNvSpPr/>
          <p:nvPr/>
        </p:nvSpPr>
        <p:spPr>
          <a:xfrm>
            <a:off x="5148072" y="3995928"/>
            <a:ext cx="384048" cy="384048"/>
          </a:xfrm>
          <a:prstGeom prst="ellipse">
            <a:avLst/>
          </a:prstGeom>
          <a:solidFill>
            <a:srgbClr val="0F5B66"/>
          </a:solidFill>
          <a:ln w="12700">
            <a:solidFill>
              <a:srgbClr val="0F5B66"/>
            </a:solidFill>
            <a:prstDash val="solid"/>
          </a:ln>
        </p:spPr>
      </p:sp>
      <p:pic>
        <p:nvPicPr>
          <p:cNvPr id="19" name="Image 3" descr="preencoded.png"/>
          <p:cNvPicPr>
            <a:picLocks noChangeAspect="1"/>
          </p:cNvPicPr>
          <p:nvPr/>
        </p:nvPicPr>
        <p:blipFill>
          <a:blip r:embed="rId6"/>
          <a:stretch>
            <a:fillRect/>
          </a:stretch>
        </p:blipFill>
        <p:spPr>
          <a:xfrm>
            <a:off x="5232563" y="4080419"/>
            <a:ext cx="215067" cy="215067"/>
          </a:xfrm>
          <a:prstGeom prst="rect">
            <a:avLst/>
          </a:prstGeom>
        </p:spPr>
      </p:pic>
      <p:sp>
        <p:nvSpPr>
          <p:cNvPr id="20" name="Text 14"/>
          <p:cNvSpPr txBox="1"/>
          <p:nvPr/>
        </p:nvSpPr>
        <p:spPr>
          <a:xfrm>
            <a:off x="5605272" y="3995928"/>
            <a:ext cx="1600200" cy="384048"/>
          </a:xfrm>
          <a:prstGeom prst="rect">
            <a:avLst/>
          </a:prstGeom>
          <a:noFill/>
          <a:ln/>
        </p:spPr>
        <p:txBody>
          <a:bodyPr wrap="square" lIns="0" tIns="0" rIns="0" bIns="0" rtlCol="0" anchor="ctr"/>
          <a:lstStyle/>
          <a:p>
            <a:pPr marL="0" indent="0">
              <a:buNone/>
            </a:pPr>
            <a:r>
              <a:rPr lang="en-US" sz="1250" b="1" dirty="0">
                <a:solidFill>
                  <a:srgbClr val="1B3A5C"/>
                </a:solidFill>
                <a:latin typeface="Calibri" pitchFamily="34" charset="0"/>
                <a:ea typeface="Calibri" pitchFamily="34" charset="-122"/>
                <a:cs typeface="Calibri" pitchFamily="34" charset="-120"/>
              </a:rPr>
              <a:t>Patient guardrails</a:t>
            </a:r>
            <a:endParaRPr lang="en-US" sz="1250" dirty="0"/>
          </a:p>
        </p:txBody>
      </p:sp>
      <p:sp>
        <p:nvSpPr>
          <p:cNvPr id="21" name="Text 15"/>
          <p:cNvSpPr txBox="1"/>
          <p:nvPr/>
        </p:nvSpPr>
        <p:spPr>
          <a:xfrm>
            <a:off x="5166360" y="4498848"/>
            <a:ext cx="1993392" cy="1645920"/>
          </a:xfrm>
          <a:prstGeom prst="rect">
            <a:avLst/>
          </a:prstGeom>
          <a:noFill/>
          <a:ln/>
        </p:spPr>
        <p:txBody>
          <a:bodyPr wrap="square" lIns="0" tIns="0" rIns="0" bIns="0" rtlCol="0" anchor="t"/>
          <a:lstStyle/>
          <a:p>
            <a:pPr marL="0" indent="0">
              <a:buNone/>
            </a:pPr>
            <a:r>
              <a:rPr lang="en-US" sz="1200" dirty="0">
                <a:solidFill>
                  <a:srgbClr val="1F2A37"/>
                </a:solidFill>
                <a:latin typeface="Calibri" pitchFamily="34" charset="0"/>
                <a:ea typeface="Calibri" pitchFamily="34" charset="-122"/>
                <a:cs typeface="Calibri" pitchFamily="34" charset="-120"/>
              </a:rPr>
              <a:t>English + Hindi keyword check: no medicine-change advice; low glucose gets a fixed 15-15 message; every answer ends "Decision support only".</a:t>
            </a:r>
            <a:endParaRPr lang="en-US" sz="1200" dirty="0"/>
          </a:p>
        </p:txBody>
      </p:sp>
      <p:sp>
        <p:nvSpPr>
          <p:cNvPr id="22" name="Shape 16"/>
          <p:cNvSpPr/>
          <p:nvPr/>
        </p:nvSpPr>
        <p:spPr>
          <a:xfrm>
            <a:off x="7580376" y="914400"/>
            <a:ext cx="2011680" cy="1947999"/>
          </a:xfrm>
          <a:prstGeom prst="rect">
            <a:avLst/>
          </a:prstGeom>
          <a:solidFill>
            <a:srgbClr val="D9DEE4"/>
          </a:solidFill>
          <a:ln w="12700">
            <a:solidFill>
              <a:srgbClr val="D9DEE4"/>
            </a:solidFill>
            <a:prstDash val="solid"/>
          </a:ln>
        </p:spPr>
      </p:sp>
      <p:pic>
        <p:nvPicPr>
          <p:cNvPr id="23" name="Doctor PDF screenshot" descr="/home/claude/gr/assets/report.jpg"/>
          <p:cNvPicPr>
            <a:picLocks noChangeAspect="1"/>
          </p:cNvPicPr>
          <p:nvPr/>
        </p:nvPicPr>
        <p:blipFill>
          <a:blip r:embed="rId7"/>
          <a:srcRect b="31499"/>
          <a:stretch>
            <a:fillRect/>
          </a:stretch>
        </p:blipFill>
        <p:spPr>
          <a:xfrm>
            <a:off x="7543800" y="868680"/>
            <a:ext cx="2011680" cy="1947999"/>
          </a:xfrm>
          <a:prstGeom prst="rect">
            <a:avLst/>
          </a:prstGeom>
        </p:spPr>
      </p:pic>
      <p:sp>
        <p:nvSpPr>
          <p:cNvPr id="24" name="Shape 17"/>
          <p:cNvSpPr/>
          <p:nvPr/>
        </p:nvSpPr>
        <p:spPr>
          <a:xfrm>
            <a:off x="7543800" y="868680"/>
            <a:ext cx="2011680" cy="1947999"/>
          </a:xfrm>
          <a:prstGeom prst="rect">
            <a:avLst/>
          </a:prstGeom>
          <a:ln w="9525">
            <a:solidFill>
              <a:srgbClr val="C9D1D9"/>
            </a:solidFill>
            <a:prstDash val="solid"/>
          </a:ln>
        </p:spPr>
      </p:sp>
      <p:sp>
        <p:nvSpPr>
          <p:cNvPr id="25" name="Text 18"/>
          <p:cNvSpPr txBox="1"/>
          <p:nvPr/>
        </p:nvSpPr>
        <p:spPr>
          <a:xfrm>
            <a:off x="9692640" y="1250606"/>
            <a:ext cx="2194560" cy="1278527"/>
          </a:xfrm>
          <a:prstGeom prst="rect">
            <a:avLst/>
          </a:prstGeom>
          <a:noFill/>
          <a:ln/>
        </p:spPr>
        <p:txBody>
          <a:bodyPr wrap="square" lIns="0" tIns="0" rIns="0" bIns="0" rtlCol="0" anchor="t"/>
          <a:lstStyle/>
          <a:p>
            <a:pPr marL="0" indent="0">
              <a:buNone/>
            </a:pPr>
            <a:r>
              <a:rPr lang="en-US" sz="1250" b="1" dirty="0">
                <a:solidFill>
                  <a:srgbClr val="1B3A5C"/>
                </a:solidFill>
                <a:latin typeface="Calibri" pitchFamily="34" charset="0"/>
                <a:ea typeface="Calibri" pitchFamily="34" charset="-122"/>
                <a:cs typeface="Calibri" pitchFamily="34" charset="-120"/>
              </a:rPr>
              <a:t>PDF reports (can be download)</a:t>
            </a:r>
            <a:endParaRPr lang="en-US" sz="1250" dirty="0"/>
          </a:p>
          <a:p>
            <a:pPr marL="0" indent="0">
              <a:buNone/>
            </a:pPr>
            <a:r>
              <a:rPr lang="en-US" sz="1100" dirty="0">
                <a:solidFill>
                  <a:srgbClr val="1F2A37"/>
                </a:solidFill>
                <a:latin typeface="Calibri" pitchFamily="34" charset="0"/>
                <a:ea typeface="Calibri" pitchFamily="34" charset="-122"/>
                <a:cs typeface="Calibri" pitchFamily="34" charset="-120"/>
              </a:rPr>
              <a:t>Doctor: labs with freshness flags, KDIGO grid, CGM summary, risk scores with model versions, ranked options, AI summary.</a:t>
            </a:r>
            <a:endParaRPr lang="en-US" sz="1250" dirty="0"/>
          </a:p>
          <a:p>
            <a:pPr marL="0" indent="0">
              <a:buNone/>
            </a:pPr>
            <a:r>
              <a:rPr lang="en-US" sz="400" dirty="0">
                <a:solidFill>
                  <a:srgbClr val="1F2A37"/>
                </a:solidFill>
                <a:latin typeface="Calibri" pitchFamily="34" charset="0"/>
                <a:ea typeface="Calibri" pitchFamily="34" charset="-122"/>
                <a:cs typeface="Calibri" pitchFamily="34" charset="-120"/>
              </a:rPr>
              <a:t> </a:t>
            </a:r>
            <a:endParaRPr lang="en-US" sz="1250" dirty="0"/>
          </a:p>
          <a:p>
            <a:pPr marL="0" indent="0">
              <a:buNone/>
            </a:pPr>
            <a:r>
              <a:rPr lang="en-US" sz="1100" dirty="0">
                <a:solidFill>
                  <a:srgbClr val="1F2A37"/>
                </a:solidFill>
                <a:latin typeface="Calibri" pitchFamily="34" charset="0"/>
                <a:ea typeface="Calibri" pitchFamily="34" charset="-122"/>
                <a:cs typeface="Calibri" pitchFamily="34" charset="-120"/>
              </a:rPr>
              <a:t>Patient: one page, English + हिंदी.</a:t>
            </a:r>
            <a:endParaRPr lang="en-US" sz="1250" dirty="0"/>
          </a:p>
        </p:txBody>
      </p:sp>
      <p:sp>
        <p:nvSpPr>
          <p:cNvPr id="26" name="Text 19"/>
          <p:cNvSpPr txBox="1"/>
          <p:nvPr/>
        </p:nvSpPr>
        <p:spPr>
          <a:xfrm>
            <a:off x="7589520" y="3840480"/>
            <a:ext cx="3657600" cy="256032"/>
          </a:xfrm>
          <a:prstGeom prst="rect">
            <a:avLst/>
          </a:prstGeom>
          <a:noFill/>
          <a:ln/>
        </p:spPr>
        <p:txBody>
          <a:bodyPr wrap="square" lIns="0" tIns="0" rIns="0" bIns="0" rtlCol="0" anchor="t"/>
          <a:lstStyle/>
          <a:p>
            <a:pPr marL="0" indent="0">
              <a:buNone/>
            </a:pPr>
            <a:r>
              <a:rPr lang="en-US" sz="1200" b="1" kern="0" spc="100" dirty="0">
                <a:solidFill>
                  <a:srgbClr val="1B3A5C"/>
                </a:solidFill>
                <a:latin typeface="Calibri" pitchFamily="34" charset="0"/>
                <a:ea typeface="Calibri" pitchFamily="34" charset="-122"/>
                <a:cs typeface="Calibri" pitchFamily="34" charset="-120"/>
              </a:rPr>
              <a:t>TECH STACK</a:t>
            </a:r>
            <a:endParaRPr lang="en-US" sz="1200" dirty="0"/>
          </a:p>
        </p:txBody>
      </p:sp>
      <p:sp>
        <p:nvSpPr>
          <p:cNvPr id="27" name="Text 20"/>
          <p:cNvSpPr/>
          <p:nvPr/>
        </p:nvSpPr>
        <p:spPr>
          <a:xfrm>
            <a:off x="7543800" y="4133088"/>
            <a:ext cx="740664" cy="310896"/>
          </a:xfrm>
          <a:prstGeom prst="roundRect">
            <a:avLst>
              <a:gd name="adj" fmla="val 23529"/>
            </a:avLst>
          </a:prstGeom>
          <a:solidFill>
            <a:srgbClr val="EEF5FC"/>
          </a:solidFill>
          <a:ln w="9525">
            <a:solidFill>
              <a:srgbClr val="8DBBE6"/>
            </a:solidFill>
          </a:ln>
        </p:spPr>
        <p:txBody>
          <a:bodyPr wrap="square" lIns="0" tIns="0" rIns="0" bIns="0" rtlCol="0" anchor="ctr"/>
          <a:lstStyle/>
          <a:p>
            <a:pPr marL="0" indent="0" algn="ctr">
              <a:buNone/>
            </a:pPr>
            <a:r>
              <a:rPr lang="en-US" sz="1000" b="1" dirty="0">
                <a:solidFill>
                  <a:srgbClr val="1B3A5C"/>
                </a:solidFill>
              </a:rPr>
              <a:t>FastAPI</a:t>
            </a:r>
            <a:endParaRPr lang="en-US" sz="1000" dirty="0"/>
          </a:p>
        </p:txBody>
      </p:sp>
      <p:sp>
        <p:nvSpPr>
          <p:cNvPr id="28" name="Text 21"/>
          <p:cNvSpPr/>
          <p:nvPr/>
        </p:nvSpPr>
        <p:spPr>
          <a:xfrm>
            <a:off x="8375904" y="4133088"/>
            <a:ext cx="868680" cy="310896"/>
          </a:xfrm>
          <a:prstGeom prst="roundRect">
            <a:avLst>
              <a:gd name="adj" fmla="val 23529"/>
            </a:avLst>
          </a:prstGeom>
          <a:solidFill>
            <a:srgbClr val="EEF5FC"/>
          </a:solidFill>
          <a:ln w="9525">
            <a:solidFill>
              <a:srgbClr val="8DBBE6"/>
            </a:solidFill>
          </a:ln>
        </p:spPr>
        <p:txBody>
          <a:bodyPr wrap="square" lIns="0" tIns="0" rIns="0" bIns="0" rtlCol="0" anchor="ctr"/>
          <a:lstStyle/>
          <a:p>
            <a:pPr marL="0" indent="0" algn="ctr">
              <a:buNone/>
            </a:pPr>
            <a:r>
              <a:rPr lang="en-US" sz="1000" b="1" dirty="0">
                <a:solidFill>
                  <a:srgbClr val="1B3A5C"/>
                </a:solidFill>
              </a:rPr>
              <a:t>Streamlit</a:t>
            </a:r>
            <a:endParaRPr lang="en-US" sz="1000" dirty="0"/>
          </a:p>
        </p:txBody>
      </p:sp>
      <p:sp>
        <p:nvSpPr>
          <p:cNvPr id="29" name="Text 22"/>
          <p:cNvSpPr/>
          <p:nvPr/>
        </p:nvSpPr>
        <p:spPr>
          <a:xfrm>
            <a:off x="9336024" y="4133088"/>
            <a:ext cx="731520" cy="310896"/>
          </a:xfrm>
          <a:prstGeom prst="roundRect">
            <a:avLst>
              <a:gd name="adj" fmla="val 23529"/>
            </a:avLst>
          </a:prstGeom>
          <a:solidFill>
            <a:srgbClr val="EEF5FC"/>
          </a:solidFill>
          <a:ln w="9525">
            <a:solidFill>
              <a:srgbClr val="8DBBE6"/>
            </a:solidFill>
          </a:ln>
        </p:spPr>
        <p:txBody>
          <a:bodyPr wrap="square" lIns="0" tIns="0" rIns="0" bIns="0" rtlCol="0" anchor="ctr"/>
          <a:lstStyle/>
          <a:p>
            <a:pPr marL="0" indent="0" algn="ctr">
              <a:buNone/>
            </a:pPr>
            <a:r>
              <a:rPr lang="en-US" sz="1000" b="1" dirty="0">
                <a:solidFill>
                  <a:srgbClr val="1B3A5C"/>
                </a:solidFill>
              </a:rPr>
              <a:t>SQLite</a:t>
            </a:r>
            <a:endParaRPr lang="en-US" sz="1000" dirty="0"/>
          </a:p>
        </p:txBody>
      </p:sp>
      <p:sp>
        <p:nvSpPr>
          <p:cNvPr id="30" name="Text 23"/>
          <p:cNvSpPr/>
          <p:nvPr/>
        </p:nvSpPr>
        <p:spPr>
          <a:xfrm>
            <a:off x="10158984" y="4133088"/>
            <a:ext cx="1060704" cy="310896"/>
          </a:xfrm>
          <a:prstGeom prst="roundRect">
            <a:avLst>
              <a:gd name="adj" fmla="val 23529"/>
            </a:avLst>
          </a:prstGeom>
          <a:solidFill>
            <a:srgbClr val="EEF5FC"/>
          </a:solidFill>
          <a:ln w="9525">
            <a:solidFill>
              <a:srgbClr val="8DBBE6"/>
            </a:solidFill>
          </a:ln>
        </p:spPr>
        <p:txBody>
          <a:bodyPr wrap="square" lIns="0" tIns="0" rIns="0" bIns="0" rtlCol="0" anchor="ctr"/>
          <a:lstStyle/>
          <a:p>
            <a:pPr marL="0" indent="0" algn="ctr">
              <a:buNone/>
            </a:pPr>
            <a:r>
              <a:rPr lang="en-US" sz="1000" b="1" dirty="0">
                <a:solidFill>
                  <a:srgbClr val="1B3A5C"/>
                </a:solidFill>
              </a:rPr>
              <a:t>JWT + bcrypt</a:t>
            </a:r>
            <a:endParaRPr lang="en-US" sz="1000" dirty="0"/>
          </a:p>
        </p:txBody>
      </p:sp>
      <p:sp>
        <p:nvSpPr>
          <p:cNvPr id="31" name="Text 24"/>
          <p:cNvSpPr/>
          <p:nvPr/>
        </p:nvSpPr>
        <p:spPr>
          <a:xfrm>
            <a:off x="7543800" y="4517136"/>
            <a:ext cx="740664" cy="310896"/>
          </a:xfrm>
          <a:prstGeom prst="roundRect">
            <a:avLst>
              <a:gd name="adj" fmla="val 23529"/>
            </a:avLst>
          </a:prstGeom>
          <a:solidFill>
            <a:srgbClr val="EEF5FC"/>
          </a:solidFill>
          <a:ln w="9525">
            <a:solidFill>
              <a:srgbClr val="8DBBE6"/>
            </a:solidFill>
          </a:ln>
        </p:spPr>
        <p:txBody>
          <a:bodyPr wrap="square" lIns="0" tIns="0" rIns="0" bIns="0" rtlCol="0" anchor="ctr"/>
          <a:lstStyle/>
          <a:p>
            <a:pPr marL="0" indent="0" algn="ctr">
              <a:buNone/>
            </a:pPr>
            <a:r>
              <a:rPr lang="en-US" sz="1000" b="1" dirty="0">
                <a:solidFill>
                  <a:srgbClr val="1B3A5C"/>
                </a:solidFill>
              </a:rPr>
              <a:t>FHIR R4</a:t>
            </a:r>
            <a:endParaRPr lang="en-US" sz="1000" dirty="0"/>
          </a:p>
        </p:txBody>
      </p:sp>
      <p:sp>
        <p:nvSpPr>
          <p:cNvPr id="32" name="Text 25"/>
          <p:cNvSpPr/>
          <p:nvPr/>
        </p:nvSpPr>
        <p:spPr>
          <a:xfrm>
            <a:off x="8375904" y="4517136"/>
            <a:ext cx="740664" cy="310896"/>
          </a:xfrm>
          <a:prstGeom prst="roundRect">
            <a:avLst>
              <a:gd name="adj" fmla="val 23529"/>
            </a:avLst>
          </a:prstGeom>
          <a:solidFill>
            <a:srgbClr val="EEF5FC"/>
          </a:solidFill>
          <a:ln w="9525">
            <a:solidFill>
              <a:srgbClr val="8DBBE6"/>
            </a:solidFill>
          </a:ln>
        </p:spPr>
        <p:txBody>
          <a:bodyPr wrap="square" lIns="0" tIns="0" rIns="0" bIns="0" rtlCol="0" anchor="ctr"/>
          <a:lstStyle/>
          <a:p>
            <a:pPr marL="0" indent="0" algn="ctr">
              <a:buNone/>
            </a:pPr>
            <a:r>
              <a:rPr lang="en-US" sz="1000" b="1" dirty="0">
                <a:solidFill>
                  <a:srgbClr val="1B3A5C"/>
                </a:solidFill>
              </a:rPr>
              <a:t>XGBoost</a:t>
            </a:r>
            <a:endParaRPr lang="en-US" sz="1000" dirty="0"/>
          </a:p>
        </p:txBody>
      </p:sp>
      <p:sp>
        <p:nvSpPr>
          <p:cNvPr id="33" name="Text 26"/>
          <p:cNvSpPr/>
          <p:nvPr/>
        </p:nvSpPr>
        <p:spPr>
          <a:xfrm>
            <a:off x="9208008" y="4517136"/>
            <a:ext cx="731520" cy="310896"/>
          </a:xfrm>
          <a:prstGeom prst="roundRect">
            <a:avLst>
              <a:gd name="adj" fmla="val 23529"/>
            </a:avLst>
          </a:prstGeom>
          <a:solidFill>
            <a:srgbClr val="EEF5FC"/>
          </a:solidFill>
          <a:ln w="9525">
            <a:solidFill>
              <a:srgbClr val="8DBBE6"/>
            </a:solidFill>
          </a:ln>
        </p:spPr>
        <p:txBody>
          <a:bodyPr wrap="square" lIns="0" tIns="0" rIns="0" bIns="0" rtlCol="0" anchor="ctr"/>
          <a:lstStyle/>
          <a:p>
            <a:pPr marL="0" indent="0" algn="ctr">
              <a:buNone/>
            </a:pPr>
            <a:r>
              <a:rPr lang="en-US" sz="1000" b="1" dirty="0">
                <a:solidFill>
                  <a:srgbClr val="1B3A5C"/>
                </a:solidFill>
              </a:rPr>
              <a:t>fpdf2</a:t>
            </a:r>
            <a:endParaRPr lang="en-US" sz="1000" dirty="0"/>
          </a:p>
        </p:txBody>
      </p:sp>
      <p:sp>
        <p:nvSpPr>
          <p:cNvPr id="34" name="Text 27"/>
          <p:cNvSpPr/>
          <p:nvPr/>
        </p:nvSpPr>
        <p:spPr>
          <a:xfrm>
            <a:off x="10030968" y="4517136"/>
            <a:ext cx="1188720" cy="310896"/>
          </a:xfrm>
          <a:prstGeom prst="roundRect">
            <a:avLst>
              <a:gd name="adj" fmla="val 23529"/>
            </a:avLst>
          </a:prstGeom>
          <a:solidFill>
            <a:srgbClr val="EEF5FC"/>
          </a:solidFill>
          <a:ln w="9525">
            <a:solidFill>
              <a:srgbClr val="8DBBE6"/>
            </a:solidFill>
          </a:ln>
        </p:spPr>
        <p:txBody>
          <a:bodyPr wrap="square" lIns="0" tIns="0" rIns="0" bIns="0" rtlCol="0" anchor="ctr"/>
          <a:lstStyle/>
          <a:p>
            <a:pPr marL="0" indent="0" algn="ctr">
              <a:buNone/>
            </a:pPr>
            <a:r>
              <a:rPr lang="en-US" sz="1000" b="1" dirty="0">
                <a:solidFill>
                  <a:srgbClr val="1B3A5C"/>
                </a:solidFill>
              </a:rPr>
              <a:t>Docker Compose</a:t>
            </a:r>
            <a:endParaRPr lang="en-US" sz="1000" dirty="0"/>
          </a:p>
        </p:txBody>
      </p:sp>
      <p:sp>
        <p:nvSpPr>
          <p:cNvPr id="35" name="Text 28"/>
          <p:cNvSpPr/>
          <p:nvPr/>
        </p:nvSpPr>
        <p:spPr>
          <a:xfrm>
            <a:off x="7543800" y="4901184"/>
            <a:ext cx="1188720" cy="310896"/>
          </a:xfrm>
          <a:prstGeom prst="roundRect">
            <a:avLst>
              <a:gd name="adj" fmla="val 23529"/>
            </a:avLst>
          </a:prstGeom>
          <a:solidFill>
            <a:srgbClr val="EEF5FC"/>
          </a:solidFill>
          <a:ln w="9525">
            <a:solidFill>
              <a:srgbClr val="8DBBE6"/>
            </a:solidFill>
          </a:ln>
        </p:spPr>
        <p:txBody>
          <a:bodyPr wrap="square" lIns="0" tIns="0" rIns="0" bIns="0" rtlCol="0" anchor="ctr"/>
          <a:lstStyle/>
          <a:p>
            <a:pPr marL="0" indent="0" algn="ctr">
              <a:buNone/>
            </a:pPr>
            <a:r>
              <a:rPr lang="en-US" sz="1000" b="1" dirty="0">
                <a:solidFill>
                  <a:srgbClr val="1B3A5C"/>
                </a:solidFill>
              </a:rPr>
              <a:t>GitHub Actions</a:t>
            </a:r>
            <a:endParaRPr lang="en-US" sz="1000" dirty="0"/>
          </a:p>
        </p:txBody>
      </p:sp>
      <p:sp>
        <p:nvSpPr>
          <p:cNvPr id="36" name="Text 29"/>
          <p:cNvSpPr/>
          <p:nvPr/>
        </p:nvSpPr>
        <p:spPr>
          <a:xfrm>
            <a:off x="8823960" y="4901184"/>
            <a:ext cx="1380744" cy="310896"/>
          </a:xfrm>
          <a:prstGeom prst="roundRect">
            <a:avLst>
              <a:gd name="adj" fmla="val 23529"/>
            </a:avLst>
          </a:prstGeom>
          <a:solidFill>
            <a:srgbClr val="EEF5FC"/>
          </a:solidFill>
          <a:ln w="9525">
            <a:solidFill>
              <a:srgbClr val="8DBBE6"/>
            </a:solidFill>
          </a:ln>
        </p:spPr>
        <p:txBody>
          <a:bodyPr wrap="square" lIns="0" tIns="0" rIns="0" bIns="0" rtlCol="0" anchor="ctr"/>
          <a:lstStyle/>
          <a:p>
            <a:pPr marL="0" indent="0" algn="ctr">
              <a:buNone/>
            </a:pPr>
            <a:r>
              <a:rPr lang="en-US" sz="1000" b="1" dirty="0">
                <a:solidFill>
                  <a:srgbClr val="1B3A5C"/>
                </a:solidFill>
              </a:rPr>
              <a:t>pytest (89 tests)</a:t>
            </a:r>
            <a:endParaRPr lang="en-US" sz="1000" dirty="0"/>
          </a:p>
        </p:txBody>
      </p:sp>
      <p:sp>
        <p:nvSpPr>
          <p:cNvPr id="37" name="Text 30"/>
          <p:cNvSpPr/>
          <p:nvPr/>
        </p:nvSpPr>
        <p:spPr>
          <a:xfrm>
            <a:off x="10296144" y="4901184"/>
            <a:ext cx="868680" cy="310896"/>
          </a:xfrm>
          <a:prstGeom prst="roundRect">
            <a:avLst>
              <a:gd name="adj" fmla="val 23529"/>
            </a:avLst>
          </a:prstGeom>
          <a:solidFill>
            <a:srgbClr val="EEF5FC"/>
          </a:solidFill>
          <a:ln w="9525">
            <a:solidFill>
              <a:srgbClr val="8DBBE6"/>
            </a:solidFill>
          </a:ln>
        </p:spPr>
        <p:txBody>
          <a:bodyPr wrap="square" lIns="0" tIns="0" rIns="0" bIns="0" rtlCol="0" anchor="ctr"/>
          <a:lstStyle/>
          <a:p>
            <a:pPr marL="0" indent="0" algn="ctr">
              <a:buNone/>
            </a:pPr>
            <a:r>
              <a:rPr lang="en-US" sz="1000" b="1" dirty="0">
                <a:solidFill>
                  <a:srgbClr val="1B3A5C"/>
                </a:solidFill>
              </a:rPr>
              <a:t>HF Spaces</a:t>
            </a:r>
            <a:endParaRPr lang="en-US" sz="1000" dirty="0"/>
          </a:p>
        </p:txBody>
      </p:sp>
      <p:sp>
        <p:nvSpPr>
          <p:cNvPr id="38" name="Quality"/>
          <p:cNvSpPr/>
          <p:nvPr/>
        </p:nvSpPr>
        <p:spPr>
          <a:xfrm>
            <a:off x="7543800" y="5440680"/>
            <a:ext cx="4343400" cy="749808"/>
          </a:xfrm>
          <a:prstGeom prst="roundRect">
            <a:avLst>
              <a:gd name="adj" fmla="val 12195"/>
            </a:avLst>
          </a:prstGeom>
          <a:solidFill>
            <a:srgbClr val="FFFFFF"/>
          </a:solidFill>
          <a:ln w="15875">
            <a:solidFill>
              <a:srgbClr val="D5DCE3"/>
            </a:solidFill>
            <a:prstDash val="solid"/>
          </a:ln>
        </p:spPr>
      </p:sp>
      <p:sp>
        <p:nvSpPr>
          <p:cNvPr id="39" name="Shape 32"/>
          <p:cNvSpPr/>
          <p:nvPr/>
        </p:nvSpPr>
        <p:spPr>
          <a:xfrm>
            <a:off x="7635240" y="5586984"/>
            <a:ext cx="438912" cy="438912"/>
          </a:xfrm>
          <a:prstGeom prst="ellipse">
            <a:avLst/>
          </a:prstGeom>
          <a:solidFill>
            <a:srgbClr val="2F9A5A"/>
          </a:solidFill>
          <a:ln w="12700">
            <a:solidFill>
              <a:srgbClr val="2F9A5A"/>
            </a:solidFill>
            <a:prstDash val="solid"/>
          </a:ln>
        </p:spPr>
      </p:sp>
      <p:pic>
        <p:nvPicPr>
          <p:cNvPr id="40" name="Image 5" descr="preencoded.png"/>
          <p:cNvPicPr>
            <a:picLocks noChangeAspect="1"/>
          </p:cNvPicPr>
          <p:nvPr/>
        </p:nvPicPr>
        <p:blipFill>
          <a:blip r:embed="rId8"/>
          <a:stretch>
            <a:fillRect/>
          </a:stretch>
        </p:blipFill>
        <p:spPr>
          <a:xfrm>
            <a:off x="7731801" y="5683545"/>
            <a:ext cx="245791" cy="245791"/>
          </a:xfrm>
          <a:prstGeom prst="rect">
            <a:avLst/>
          </a:prstGeom>
        </p:spPr>
      </p:pic>
      <p:sp>
        <p:nvSpPr>
          <p:cNvPr id="41" name="Text 33"/>
          <p:cNvSpPr txBox="1"/>
          <p:nvPr/>
        </p:nvSpPr>
        <p:spPr>
          <a:xfrm>
            <a:off x="8183880" y="5468112"/>
            <a:ext cx="3639312" cy="694944"/>
          </a:xfrm>
          <a:prstGeom prst="rect">
            <a:avLst/>
          </a:prstGeom>
          <a:noFill/>
          <a:ln/>
        </p:spPr>
        <p:txBody>
          <a:bodyPr wrap="square" lIns="0" tIns="0" rIns="0" bIns="0" rtlCol="0" anchor="ctr"/>
          <a:lstStyle/>
          <a:p>
            <a:pPr marL="0" indent="0">
              <a:buNone/>
            </a:pPr>
            <a:r>
              <a:rPr lang="en-US" sz="1000" dirty="0">
                <a:solidFill>
                  <a:srgbClr val="1B3A5C"/>
                </a:solidFill>
                <a:latin typeface="Calibri" pitchFamily="34" charset="0"/>
                <a:ea typeface="Calibri" pitchFamily="34" charset="-122"/>
                <a:cs typeface="Calibri" pitchFamily="34" charset="-120"/>
              </a:rPr>
              <a:t>CI on every push: pytest, secret check, 35-s demo dry run, then Docker build + smoke test. Clinical rules live in YAML/CSV, editable without Python.</a:t>
            </a:r>
            <a:endParaRPr lang="en-US" sz="10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itle tag"/>
          <p:cNvSpPr/>
          <p:nvPr/>
        </p:nvSpPr>
        <p:spPr>
          <a:xfrm>
            <a:off x="274320" y="109728"/>
            <a:ext cx="2234794" cy="603504"/>
          </a:xfrm>
          <a:prstGeom prst="rect">
            <a:avLst/>
          </a:prstGeom>
          <a:solidFill>
            <a:srgbClr val="FFFFFF"/>
          </a:solidFill>
          <a:ln w="22225">
            <a:solidFill>
              <a:srgbClr val="2F6DB5"/>
            </a:solidFill>
            <a:prstDash val="solid"/>
          </a:ln>
        </p:spPr>
      </p:sp>
      <p:sp>
        <p:nvSpPr>
          <p:cNvPr id="3" name="Text 10"/>
          <p:cNvSpPr>
            <a:spLocks noGrp="1"/>
          </p:cNvSpPr>
          <p:nvPr>
            <p:ph type="title" idx="111" hasCustomPrompt="1"/>
          </p:nvPr>
        </p:nvSpPr>
        <p:spPr>
          <a:xfrm>
            <a:off x="384048" y="128016"/>
            <a:ext cx="8686800" cy="566928"/>
          </a:xfrm>
          <a:prstGeom prst="rect">
            <a:avLst/>
          </a:prstGeom>
          <a:noFill/>
          <a:ln/>
        </p:spPr>
        <p:txBody>
          <a:bodyPr wrap="square" lIns="0" tIns="0" rIns="0" bIns="0" rtlCol="0" anchor="ctr"/>
          <a:lstStyle/>
          <a:p>
            <a:pPr marL="0" indent="0" algn="l">
              <a:buNone/>
            </a:pPr>
            <a:r>
              <a:rPr lang="en-US" sz="2600" b="1" dirty="0">
                <a:solidFill>
                  <a:srgbClr val="E9712F"/>
                </a:solidFill>
              </a:rPr>
              <a:t>Future Scope</a:t>
            </a:r>
            <a:endParaRPr lang="en-US" sz="2600" dirty="0"/>
          </a:p>
        </p:txBody>
      </p:sp>
      <p:sp>
        <p:nvSpPr>
          <p:cNvPr id="4" name="Today box"/>
          <p:cNvSpPr/>
          <p:nvPr/>
        </p:nvSpPr>
        <p:spPr>
          <a:xfrm>
            <a:off x="320040" y="896112"/>
            <a:ext cx="2167128" cy="2926080"/>
          </a:xfrm>
          <a:prstGeom prst="roundRect">
            <a:avLst>
              <a:gd name="adj" fmla="val 4219"/>
            </a:avLst>
          </a:prstGeom>
          <a:solidFill>
            <a:srgbClr val="1B3A5C"/>
          </a:solidFill>
          <a:ln w="12700">
            <a:solidFill>
              <a:srgbClr val="1B3A5C"/>
            </a:solidFill>
            <a:prstDash val="solid"/>
          </a:ln>
          <a:effectLst>
            <a:outerShdw blurRad="76200" dist="38100" dir="3600000" algn="bl" rotWithShape="0">
              <a:srgbClr val="000000">
                <a:alpha val="25000"/>
              </a:srgbClr>
            </a:outerShdw>
          </a:effectLst>
        </p:spPr>
      </p:sp>
      <p:sp>
        <p:nvSpPr>
          <p:cNvPr id="5" name="Shape 3"/>
          <p:cNvSpPr/>
          <p:nvPr/>
        </p:nvSpPr>
        <p:spPr>
          <a:xfrm>
            <a:off x="448056" y="1024128"/>
            <a:ext cx="420624" cy="420624"/>
          </a:xfrm>
          <a:prstGeom prst="ellipse">
            <a:avLst/>
          </a:prstGeom>
          <a:solidFill>
            <a:srgbClr val="E9712F"/>
          </a:solidFill>
          <a:ln w="12700">
            <a:solidFill>
              <a:srgbClr val="E9712F"/>
            </a:solidFill>
            <a:prstDash val="solid"/>
          </a:ln>
        </p:spPr>
      </p:sp>
      <p:pic>
        <p:nvPicPr>
          <p:cNvPr id="6" name="Image 0" descr="preencoded.png"/>
          <p:cNvPicPr>
            <a:picLocks noChangeAspect="1"/>
          </p:cNvPicPr>
          <p:nvPr/>
        </p:nvPicPr>
        <p:blipFill>
          <a:blip r:embed="rId3"/>
          <a:stretch>
            <a:fillRect/>
          </a:stretch>
        </p:blipFill>
        <p:spPr>
          <a:xfrm>
            <a:off x="540593" y="1116665"/>
            <a:ext cx="235549" cy="235549"/>
          </a:xfrm>
          <a:prstGeom prst="rect">
            <a:avLst/>
          </a:prstGeom>
        </p:spPr>
      </p:pic>
      <p:sp>
        <p:nvSpPr>
          <p:cNvPr id="7" name="Text 4"/>
          <p:cNvSpPr txBox="1"/>
          <p:nvPr/>
        </p:nvSpPr>
        <p:spPr>
          <a:xfrm>
            <a:off x="960120" y="1024128"/>
            <a:ext cx="1435608" cy="420624"/>
          </a:xfrm>
          <a:prstGeom prst="rect">
            <a:avLst/>
          </a:prstGeom>
          <a:noFill/>
          <a:ln/>
        </p:spPr>
        <p:txBody>
          <a:bodyPr wrap="square" lIns="0" tIns="0" rIns="0" bIns="0" rtlCol="0" anchor="ctr"/>
          <a:lstStyle/>
          <a:p>
            <a:pPr marL="0" indent="0">
              <a:buNone/>
            </a:pPr>
            <a:r>
              <a:rPr lang="en-US" sz="1000" b="1" kern="0" spc="100" dirty="0">
                <a:solidFill>
                  <a:srgbClr val="F5B08A"/>
                </a:solidFill>
                <a:latin typeface="Calibri" pitchFamily="34" charset="0"/>
                <a:ea typeface="Calibri" pitchFamily="34" charset="-122"/>
                <a:cs typeface="Calibri" pitchFamily="34" charset="-120"/>
              </a:rPr>
              <a:t>TODAY</a:t>
            </a:r>
            <a:endParaRPr lang="en-US" sz="1000" dirty="0"/>
          </a:p>
        </p:txBody>
      </p:sp>
      <p:sp>
        <p:nvSpPr>
          <p:cNvPr id="8" name="Text 5"/>
          <p:cNvSpPr txBox="1"/>
          <p:nvPr/>
        </p:nvSpPr>
        <p:spPr>
          <a:xfrm>
            <a:off x="466344" y="1364742"/>
            <a:ext cx="1929384" cy="566928"/>
          </a:xfrm>
          <a:prstGeom prst="rect">
            <a:avLst/>
          </a:prstGeom>
          <a:noFill/>
          <a:ln/>
        </p:spPr>
        <p:txBody>
          <a:bodyPr wrap="square" lIns="0" tIns="0" rIns="0" bIns="0" rtlCol="0" anchor="ctr"/>
          <a:lstStyle/>
          <a:p>
            <a:pPr marL="0" indent="0">
              <a:buNone/>
            </a:pPr>
            <a:r>
              <a:rPr lang="en-US" sz="1350" b="1" dirty="0">
                <a:solidFill>
                  <a:srgbClr val="FFFFFF"/>
                </a:solidFill>
                <a:latin typeface="Calibri" pitchFamily="34" charset="0"/>
                <a:ea typeface="Calibri" pitchFamily="34" charset="-122"/>
                <a:cs typeface="Calibri" pitchFamily="34" charset="-120"/>
              </a:rPr>
              <a:t>Working prototype</a:t>
            </a:r>
            <a:endParaRPr lang="en-US" sz="1350" dirty="0"/>
          </a:p>
        </p:txBody>
      </p:sp>
      <p:sp>
        <p:nvSpPr>
          <p:cNvPr id="9" name="Text 6"/>
          <p:cNvSpPr txBox="1"/>
          <p:nvPr/>
        </p:nvSpPr>
        <p:spPr>
          <a:xfrm>
            <a:off x="429768" y="1851660"/>
            <a:ext cx="1947672" cy="1600200"/>
          </a:xfrm>
          <a:prstGeom prst="rect">
            <a:avLst/>
          </a:prstGeom>
          <a:noFill/>
          <a:ln/>
        </p:spPr>
        <p:txBody>
          <a:bodyPr wrap="square" lIns="0" tIns="0" rIns="0" bIns="0" rtlCol="0" anchor="t"/>
          <a:lstStyle/>
          <a:p>
            <a:pPr marL="152400" indent="-152400">
              <a:spcAft>
                <a:spcPts val="600"/>
              </a:spcAft>
              <a:buSzPct val="100000"/>
              <a:buChar char="•"/>
            </a:pPr>
            <a:r>
              <a:rPr lang="en-US" sz="1100" dirty="0">
                <a:solidFill>
                  <a:srgbClr val="FFFFFF"/>
                </a:solidFill>
                <a:latin typeface="Calibri" pitchFamily="34" charset="0"/>
                <a:ea typeface="Calibri" pitchFamily="34" charset="-122"/>
                <a:cs typeface="Calibri" pitchFamily="34" charset="-120"/>
              </a:rPr>
              <a:t>Predicts sugar spikes and kidney risk in type 2 diabetes</a:t>
            </a:r>
            <a:endParaRPr lang="en-US" sz="1100" dirty="0"/>
          </a:p>
          <a:p>
            <a:pPr marL="152400" indent="-152400">
              <a:spcAft>
                <a:spcPts val="600"/>
              </a:spcAft>
              <a:buSzPct val="100000"/>
              <a:buChar char="•"/>
            </a:pPr>
            <a:r>
              <a:rPr lang="en-US" sz="1100" dirty="0">
                <a:solidFill>
                  <a:srgbClr val="FFFFFF"/>
                </a:solidFill>
                <a:latin typeface="Calibri" pitchFamily="34" charset="0"/>
                <a:ea typeface="Calibri" pitchFamily="34" charset="-122"/>
                <a:cs typeface="Calibri" pitchFamily="34" charset="-120"/>
              </a:rPr>
              <a:t>Progressive twin that learns each patient</a:t>
            </a:r>
            <a:endParaRPr lang="en-US" sz="1100" dirty="0"/>
          </a:p>
          <a:p>
            <a:pPr marL="152400" indent="-152400">
              <a:spcAft>
                <a:spcPts val="600"/>
              </a:spcAft>
              <a:buSzPct val="100000"/>
              <a:buChar char="•"/>
            </a:pPr>
            <a:r>
              <a:rPr lang="en-US" sz="1100" dirty="0">
                <a:solidFill>
                  <a:srgbClr val="FFFFFF"/>
                </a:solidFill>
                <a:latin typeface="Calibri" pitchFamily="34" charset="0"/>
                <a:ea typeface="Calibri" pitchFamily="34" charset="-122"/>
                <a:cs typeface="Calibri" pitchFamily="34" charset="-120"/>
              </a:rPr>
              <a:t>Device agnostic: any sensor, any hospital system</a:t>
            </a:r>
            <a:endParaRPr lang="en-US" sz="1100" dirty="0"/>
          </a:p>
          <a:p>
            <a:pPr marL="152400" indent="-152400">
              <a:spcAft>
                <a:spcPts val="600"/>
              </a:spcAft>
              <a:buSzPct val="100000"/>
              <a:buChar char="•"/>
            </a:pPr>
            <a:r>
              <a:rPr lang="en-US" sz="1100" dirty="0">
                <a:solidFill>
                  <a:srgbClr val="FFFFFF"/>
                </a:solidFill>
                <a:latin typeface="Calibri" pitchFamily="34" charset="0"/>
                <a:ea typeface="Calibri" pitchFamily="34" charset="-122"/>
                <a:cs typeface="Calibri" pitchFamily="34" charset="-120"/>
              </a:rPr>
              <a:t>Doctor dashboard with treatment advisor along with patient simulation; patient app in Hindi and English</a:t>
            </a:r>
            <a:endParaRPr lang="en-US" sz="1100" dirty="0"/>
          </a:p>
        </p:txBody>
      </p:sp>
      <p:sp>
        <p:nvSpPr>
          <p:cNvPr id="10" name="Shape 7"/>
          <p:cNvSpPr/>
          <p:nvPr/>
        </p:nvSpPr>
        <p:spPr>
          <a:xfrm>
            <a:off x="2496312" y="2267712"/>
            <a:ext cx="164592" cy="182880"/>
          </a:xfrm>
          <a:prstGeom prst="rightArrow">
            <a:avLst/>
          </a:prstGeom>
          <a:solidFill>
            <a:srgbClr val="2F6DB5"/>
          </a:solidFill>
          <a:ln w="12700">
            <a:solidFill>
              <a:srgbClr val="2F6DB5"/>
            </a:solidFill>
            <a:prstDash val="solid"/>
          </a:ln>
        </p:spPr>
      </p:sp>
      <p:sp>
        <p:nvSpPr>
          <p:cNvPr id="11" name="Future box 1"/>
          <p:cNvSpPr/>
          <p:nvPr/>
        </p:nvSpPr>
        <p:spPr>
          <a:xfrm>
            <a:off x="2670048" y="896112"/>
            <a:ext cx="2167128" cy="2926080"/>
          </a:xfrm>
          <a:prstGeom prst="roundRect">
            <a:avLst>
              <a:gd name="adj" fmla="val 4219"/>
            </a:avLst>
          </a:prstGeom>
          <a:solidFill>
            <a:schemeClr val="tx2">
              <a:lumMod val="20000"/>
              <a:lumOff val="80000"/>
            </a:schemeClr>
          </a:solidFill>
          <a:ln w="15875">
            <a:solidFill>
              <a:srgbClr val="8DBBE6"/>
            </a:solidFill>
            <a:prstDash val="dash"/>
          </a:ln>
        </p:spPr>
      </p:sp>
      <p:sp>
        <p:nvSpPr>
          <p:cNvPr id="12" name="Shape 9"/>
          <p:cNvSpPr/>
          <p:nvPr/>
        </p:nvSpPr>
        <p:spPr>
          <a:xfrm>
            <a:off x="2798064" y="1024128"/>
            <a:ext cx="420624" cy="420624"/>
          </a:xfrm>
          <a:prstGeom prst="ellipse">
            <a:avLst/>
          </a:prstGeom>
          <a:solidFill>
            <a:srgbClr val="2F6DB5"/>
          </a:solidFill>
          <a:ln w="12700">
            <a:solidFill>
              <a:srgbClr val="2F6DB5"/>
            </a:solidFill>
            <a:prstDash val="solid"/>
          </a:ln>
        </p:spPr>
      </p:sp>
      <p:pic>
        <p:nvPicPr>
          <p:cNvPr id="13" name="Image 1" descr="preencoded.png"/>
          <p:cNvPicPr>
            <a:picLocks noChangeAspect="1"/>
          </p:cNvPicPr>
          <p:nvPr/>
        </p:nvPicPr>
        <p:blipFill>
          <a:blip r:embed="rId4"/>
          <a:stretch>
            <a:fillRect/>
          </a:stretch>
        </p:blipFill>
        <p:spPr>
          <a:xfrm>
            <a:off x="2890601" y="1116665"/>
            <a:ext cx="235549" cy="235549"/>
          </a:xfrm>
          <a:prstGeom prst="rect">
            <a:avLst/>
          </a:prstGeom>
        </p:spPr>
      </p:pic>
      <p:sp>
        <p:nvSpPr>
          <p:cNvPr id="14" name="Text 10"/>
          <p:cNvSpPr txBox="1"/>
          <p:nvPr/>
        </p:nvSpPr>
        <p:spPr>
          <a:xfrm>
            <a:off x="3310128" y="1024128"/>
            <a:ext cx="1435608" cy="420624"/>
          </a:xfrm>
          <a:prstGeom prst="rect">
            <a:avLst/>
          </a:prstGeom>
          <a:noFill/>
          <a:ln/>
        </p:spPr>
        <p:txBody>
          <a:bodyPr wrap="square" lIns="0" tIns="0" rIns="0" bIns="0" rtlCol="0" anchor="ctr"/>
          <a:lstStyle/>
          <a:p>
            <a:pPr marL="0" indent="0">
              <a:buNone/>
            </a:pPr>
            <a:r>
              <a:rPr lang="en-US" sz="1200" b="1" kern="0" spc="100" dirty="0">
                <a:solidFill>
                  <a:srgbClr val="52606D"/>
                </a:solidFill>
                <a:ea typeface="Calibri" pitchFamily="34" charset="-122"/>
                <a:cs typeface="Calibri" pitchFamily="34" charset="-120"/>
              </a:rPr>
              <a:t>Scope 1</a:t>
            </a:r>
            <a:endParaRPr lang="en-US" sz="1200" dirty="0"/>
          </a:p>
        </p:txBody>
      </p:sp>
      <p:sp>
        <p:nvSpPr>
          <p:cNvPr id="15" name="Text 11"/>
          <p:cNvSpPr txBox="1"/>
          <p:nvPr/>
        </p:nvSpPr>
        <p:spPr>
          <a:xfrm>
            <a:off x="2798064" y="1517904"/>
            <a:ext cx="1929384" cy="566928"/>
          </a:xfrm>
          <a:prstGeom prst="rect">
            <a:avLst/>
          </a:prstGeom>
          <a:noFill/>
          <a:ln/>
        </p:spPr>
        <p:txBody>
          <a:bodyPr wrap="square" lIns="0" tIns="0" rIns="0" bIns="0" rtlCol="0" anchor="ctr"/>
          <a:lstStyle/>
          <a:p>
            <a:pPr marL="0" indent="0">
              <a:buNone/>
            </a:pPr>
            <a:r>
              <a:rPr lang="en-US" sz="1350" b="1" dirty="0">
                <a:solidFill>
                  <a:srgbClr val="1B3A5C"/>
                </a:solidFill>
                <a:latin typeface="Calibri" pitchFamily="34" charset="0"/>
                <a:ea typeface="Calibri" pitchFamily="34" charset="-122"/>
                <a:cs typeface="Calibri" pitchFamily="34" charset="-120"/>
              </a:rPr>
              <a:t>Run in real hospitals</a:t>
            </a:r>
            <a:endParaRPr lang="en-US" sz="1350" dirty="0"/>
          </a:p>
        </p:txBody>
      </p:sp>
      <p:sp>
        <p:nvSpPr>
          <p:cNvPr id="16" name="Text 12"/>
          <p:cNvSpPr txBox="1"/>
          <p:nvPr/>
        </p:nvSpPr>
        <p:spPr>
          <a:xfrm>
            <a:off x="2798064" y="2139696"/>
            <a:ext cx="1929384" cy="1600200"/>
          </a:xfrm>
          <a:prstGeom prst="rect">
            <a:avLst/>
          </a:prstGeom>
          <a:noFill/>
          <a:ln/>
        </p:spPr>
        <p:txBody>
          <a:bodyPr wrap="square" lIns="0" tIns="0" rIns="0" bIns="0" rtlCol="0" anchor="t"/>
          <a:lstStyle/>
          <a:p>
            <a:pPr marL="0" indent="0">
              <a:buNone/>
            </a:pPr>
            <a:r>
              <a:rPr lang="en-US" sz="1100" dirty="0">
                <a:solidFill>
                  <a:srgbClr val="1F2A37"/>
                </a:solidFill>
                <a:latin typeface="Calibri" pitchFamily="34" charset="0"/>
                <a:ea typeface="Calibri" pitchFamily="34" charset="-122"/>
                <a:cs typeface="Calibri" pitchFamily="34" charset="-120"/>
              </a:rPr>
              <a:t>Pilot with an Indian hospital on anonymised records and compare the twin's predictions with what happened to those patients.</a:t>
            </a:r>
            <a:endParaRPr lang="en-US" sz="1100" dirty="0"/>
          </a:p>
          <a:p>
            <a:pPr marL="0" indent="0">
              <a:buNone/>
            </a:pPr>
            <a:r>
              <a:rPr lang="en-US" sz="600" dirty="0">
                <a:solidFill>
                  <a:srgbClr val="1F2A37"/>
                </a:solidFill>
                <a:latin typeface="Calibri" pitchFamily="34" charset="0"/>
                <a:ea typeface="Calibri" pitchFamily="34" charset="-122"/>
                <a:cs typeface="Calibri" pitchFamily="34" charset="-120"/>
              </a:rPr>
              <a:t> </a:t>
            </a:r>
            <a:endParaRPr lang="en-US" sz="1100" dirty="0"/>
          </a:p>
          <a:p>
            <a:pPr marL="0" indent="0">
              <a:buNone/>
            </a:pPr>
            <a:r>
              <a:rPr lang="en-US" sz="1100" b="1" dirty="0">
                <a:solidFill>
                  <a:srgbClr val="E9712F"/>
                </a:solidFill>
                <a:latin typeface="Calibri" pitchFamily="34" charset="0"/>
                <a:ea typeface="Calibri" pitchFamily="34" charset="-122"/>
                <a:cs typeface="Calibri" pitchFamily="34" charset="-120"/>
              </a:rPr>
              <a:t>Helps: </a:t>
            </a:r>
            <a:r>
              <a:rPr lang="en-US" sz="1100" dirty="0">
                <a:solidFill>
                  <a:srgbClr val="1B3A5C"/>
                </a:solidFill>
                <a:latin typeface="Calibri" pitchFamily="34" charset="0"/>
                <a:ea typeface="Calibri" pitchFamily="34" charset="-122"/>
                <a:cs typeface="Calibri" pitchFamily="34" charset="-120"/>
              </a:rPr>
              <a:t>Hospitals see proof on their own patients before they rely on it.</a:t>
            </a:r>
            <a:endParaRPr lang="en-US" sz="1100" dirty="0"/>
          </a:p>
        </p:txBody>
      </p:sp>
      <p:sp>
        <p:nvSpPr>
          <p:cNvPr id="17" name="Shape 13"/>
          <p:cNvSpPr/>
          <p:nvPr/>
        </p:nvSpPr>
        <p:spPr>
          <a:xfrm>
            <a:off x="4846320" y="2267712"/>
            <a:ext cx="164592" cy="182880"/>
          </a:xfrm>
          <a:prstGeom prst="rightArrow">
            <a:avLst/>
          </a:prstGeom>
          <a:solidFill>
            <a:srgbClr val="2F6DB5"/>
          </a:solidFill>
          <a:ln w="12700">
            <a:solidFill>
              <a:srgbClr val="2F6DB5"/>
            </a:solidFill>
            <a:prstDash val="solid"/>
          </a:ln>
        </p:spPr>
      </p:sp>
      <p:sp>
        <p:nvSpPr>
          <p:cNvPr id="18" name="Future box 2"/>
          <p:cNvSpPr/>
          <p:nvPr/>
        </p:nvSpPr>
        <p:spPr>
          <a:xfrm>
            <a:off x="5020056" y="896112"/>
            <a:ext cx="2167128" cy="2926080"/>
          </a:xfrm>
          <a:prstGeom prst="roundRect">
            <a:avLst>
              <a:gd name="adj" fmla="val 4219"/>
            </a:avLst>
          </a:prstGeom>
          <a:solidFill>
            <a:schemeClr val="tx2">
              <a:lumMod val="20000"/>
              <a:lumOff val="80000"/>
            </a:schemeClr>
          </a:solidFill>
          <a:ln w="15875">
            <a:solidFill>
              <a:schemeClr val="tx2">
                <a:lumMod val="40000"/>
                <a:lumOff val="60000"/>
              </a:schemeClr>
            </a:solidFill>
            <a:prstDash val="dash"/>
          </a:ln>
        </p:spPr>
      </p:sp>
      <p:sp>
        <p:nvSpPr>
          <p:cNvPr id="19" name="Shape 15"/>
          <p:cNvSpPr/>
          <p:nvPr/>
        </p:nvSpPr>
        <p:spPr>
          <a:xfrm>
            <a:off x="5148072" y="1024128"/>
            <a:ext cx="420624" cy="420624"/>
          </a:xfrm>
          <a:prstGeom prst="ellipse">
            <a:avLst/>
          </a:prstGeom>
          <a:solidFill>
            <a:schemeClr val="bg2">
              <a:lumMod val="50000"/>
            </a:schemeClr>
          </a:solidFill>
          <a:ln w="12700">
            <a:solidFill>
              <a:schemeClr val="bg2">
                <a:lumMod val="50000"/>
              </a:schemeClr>
            </a:solidFill>
            <a:prstDash val="solid"/>
          </a:ln>
        </p:spPr>
      </p:sp>
      <p:pic>
        <p:nvPicPr>
          <p:cNvPr id="20" name="Image 2" descr="preencoded.png"/>
          <p:cNvPicPr>
            <a:picLocks noChangeAspect="1"/>
          </p:cNvPicPr>
          <p:nvPr/>
        </p:nvPicPr>
        <p:blipFill>
          <a:blip r:embed="rId5"/>
          <a:stretch>
            <a:fillRect/>
          </a:stretch>
        </p:blipFill>
        <p:spPr>
          <a:xfrm>
            <a:off x="5240609" y="1116665"/>
            <a:ext cx="235549" cy="235549"/>
          </a:xfrm>
          <a:prstGeom prst="rect">
            <a:avLst/>
          </a:prstGeom>
        </p:spPr>
      </p:pic>
      <p:sp>
        <p:nvSpPr>
          <p:cNvPr id="22" name="Text 17"/>
          <p:cNvSpPr txBox="1"/>
          <p:nvPr/>
        </p:nvSpPr>
        <p:spPr>
          <a:xfrm>
            <a:off x="5148072" y="1517904"/>
            <a:ext cx="1929384" cy="566928"/>
          </a:xfrm>
          <a:prstGeom prst="rect">
            <a:avLst/>
          </a:prstGeom>
          <a:noFill/>
          <a:ln/>
        </p:spPr>
        <p:txBody>
          <a:bodyPr wrap="square" lIns="0" tIns="0" rIns="0" bIns="0" rtlCol="0" anchor="ctr"/>
          <a:lstStyle/>
          <a:p>
            <a:pPr marL="0" indent="0">
              <a:buNone/>
            </a:pPr>
            <a:r>
              <a:rPr lang="en-US" sz="1350" b="1" dirty="0">
                <a:solidFill>
                  <a:srgbClr val="1B3A5C"/>
                </a:solidFill>
                <a:latin typeface="Calibri" pitchFamily="34" charset="0"/>
                <a:ea typeface="Calibri" pitchFamily="34" charset="-122"/>
                <a:cs typeface="Calibri" pitchFamily="34" charset="-120"/>
              </a:rPr>
              <a:t>Test with more devices</a:t>
            </a:r>
            <a:endParaRPr lang="en-US" sz="1350" dirty="0"/>
          </a:p>
        </p:txBody>
      </p:sp>
      <p:sp>
        <p:nvSpPr>
          <p:cNvPr id="23" name="Text 18"/>
          <p:cNvSpPr txBox="1"/>
          <p:nvPr/>
        </p:nvSpPr>
        <p:spPr>
          <a:xfrm>
            <a:off x="5148072" y="2139696"/>
            <a:ext cx="1929384" cy="1600200"/>
          </a:xfrm>
          <a:prstGeom prst="rect">
            <a:avLst/>
          </a:prstGeom>
          <a:noFill/>
          <a:ln/>
        </p:spPr>
        <p:txBody>
          <a:bodyPr wrap="square" lIns="0" tIns="0" rIns="0" bIns="0" rtlCol="0" anchor="t"/>
          <a:lstStyle/>
          <a:p>
            <a:pPr marL="0" indent="0">
              <a:buNone/>
            </a:pPr>
            <a:r>
              <a:rPr lang="en-US" sz="1100" dirty="0">
                <a:solidFill>
                  <a:srgbClr val="1F2A37"/>
                </a:solidFill>
                <a:latin typeface="Calibri" pitchFamily="34" charset="0"/>
                <a:ea typeface="Calibri" pitchFamily="34" charset="-122"/>
                <a:cs typeface="Calibri" pitchFamily="34" charset="-120"/>
              </a:rPr>
              <a:t>Try the twin with more sugar sensors (Dexcom and others), smartwatches and home BP machines.</a:t>
            </a:r>
            <a:endParaRPr lang="en-US" sz="1100" dirty="0"/>
          </a:p>
          <a:p>
            <a:pPr marL="0" indent="0">
              <a:buNone/>
            </a:pPr>
            <a:r>
              <a:rPr lang="en-US" sz="600" dirty="0">
                <a:solidFill>
                  <a:srgbClr val="1F2A37"/>
                </a:solidFill>
                <a:latin typeface="Calibri" pitchFamily="34" charset="0"/>
                <a:ea typeface="Calibri" pitchFamily="34" charset="-122"/>
                <a:cs typeface="Calibri" pitchFamily="34" charset="-120"/>
              </a:rPr>
              <a:t> </a:t>
            </a:r>
            <a:endParaRPr lang="en-US" sz="1100" dirty="0"/>
          </a:p>
          <a:p>
            <a:pPr marL="0" indent="0">
              <a:buNone/>
            </a:pPr>
            <a:r>
              <a:rPr lang="en-US" sz="1100" b="1" dirty="0">
                <a:solidFill>
                  <a:srgbClr val="E9712F"/>
                </a:solidFill>
                <a:latin typeface="Calibri" pitchFamily="34" charset="0"/>
                <a:ea typeface="Calibri" pitchFamily="34" charset="-122"/>
                <a:cs typeface="Calibri" pitchFamily="34" charset="-120"/>
              </a:rPr>
              <a:t>Helps: </a:t>
            </a:r>
            <a:r>
              <a:rPr lang="en-US" sz="1100" dirty="0">
                <a:solidFill>
                  <a:srgbClr val="1B3A5C"/>
                </a:solidFill>
                <a:latin typeface="Calibri" pitchFamily="34" charset="0"/>
                <a:ea typeface="Calibri" pitchFamily="34" charset="-122"/>
                <a:cs typeface="Calibri" pitchFamily="34" charset="-120"/>
              </a:rPr>
              <a:t>Patients type nothing, and clinics see one picture whatever device the patient owns.</a:t>
            </a:r>
            <a:endParaRPr lang="en-US" sz="1100" dirty="0"/>
          </a:p>
        </p:txBody>
      </p:sp>
      <p:sp>
        <p:nvSpPr>
          <p:cNvPr id="24" name="Shape 19"/>
          <p:cNvSpPr/>
          <p:nvPr/>
        </p:nvSpPr>
        <p:spPr>
          <a:xfrm>
            <a:off x="7196328" y="2267712"/>
            <a:ext cx="164592" cy="182880"/>
          </a:xfrm>
          <a:prstGeom prst="rightArrow">
            <a:avLst/>
          </a:prstGeom>
          <a:solidFill>
            <a:srgbClr val="2F6DB5"/>
          </a:solidFill>
          <a:ln w="12700">
            <a:solidFill>
              <a:srgbClr val="2F6DB5"/>
            </a:solidFill>
            <a:prstDash val="solid"/>
          </a:ln>
        </p:spPr>
      </p:sp>
      <p:sp>
        <p:nvSpPr>
          <p:cNvPr id="25" name="Future box 3"/>
          <p:cNvSpPr/>
          <p:nvPr/>
        </p:nvSpPr>
        <p:spPr>
          <a:xfrm>
            <a:off x="7370064" y="896112"/>
            <a:ext cx="2167128" cy="2926080"/>
          </a:xfrm>
          <a:prstGeom prst="roundRect">
            <a:avLst>
              <a:gd name="adj" fmla="val 4219"/>
            </a:avLst>
          </a:prstGeom>
          <a:solidFill>
            <a:schemeClr val="tx2">
              <a:lumMod val="20000"/>
              <a:lumOff val="80000"/>
            </a:schemeClr>
          </a:solidFill>
          <a:ln w="15875">
            <a:solidFill>
              <a:srgbClr val="8DBBE6"/>
            </a:solidFill>
            <a:prstDash val="dash"/>
          </a:ln>
        </p:spPr>
      </p:sp>
      <p:sp>
        <p:nvSpPr>
          <p:cNvPr id="26" name="Shape 21"/>
          <p:cNvSpPr/>
          <p:nvPr/>
        </p:nvSpPr>
        <p:spPr>
          <a:xfrm>
            <a:off x="7498080" y="1024128"/>
            <a:ext cx="420624" cy="420624"/>
          </a:xfrm>
          <a:prstGeom prst="ellipse">
            <a:avLst/>
          </a:prstGeom>
          <a:solidFill>
            <a:srgbClr val="2F6DB5"/>
          </a:solidFill>
          <a:ln w="12700">
            <a:solidFill>
              <a:srgbClr val="2F6DB5"/>
            </a:solidFill>
            <a:prstDash val="solid"/>
          </a:ln>
        </p:spPr>
      </p:sp>
      <p:sp>
        <p:nvSpPr>
          <p:cNvPr id="29" name="Text 23"/>
          <p:cNvSpPr txBox="1"/>
          <p:nvPr/>
        </p:nvSpPr>
        <p:spPr>
          <a:xfrm>
            <a:off x="7498080" y="1517904"/>
            <a:ext cx="1929384" cy="566928"/>
          </a:xfrm>
          <a:prstGeom prst="rect">
            <a:avLst/>
          </a:prstGeom>
          <a:noFill/>
          <a:ln/>
        </p:spPr>
        <p:txBody>
          <a:bodyPr wrap="square" lIns="0" tIns="0" rIns="0" bIns="0" rtlCol="0" anchor="ctr"/>
          <a:lstStyle/>
          <a:p>
            <a:pPr marL="0" indent="0">
              <a:buNone/>
            </a:pPr>
            <a:r>
              <a:rPr lang="en-US" sz="1350" b="1" dirty="0">
                <a:solidFill>
                  <a:srgbClr val="1B3A5C"/>
                </a:solidFill>
                <a:latin typeface="Calibri" pitchFamily="34" charset="0"/>
                <a:ea typeface="Calibri" pitchFamily="34" charset="-122"/>
                <a:cs typeface="Calibri" pitchFamily="34" charset="-120"/>
              </a:rPr>
              <a:t>WhatsApp and SMS alerts in Indian languages</a:t>
            </a:r>
            <a:endParaRPr lang="en-US" sz="1350" dirty="0"/>
          </a:p>
        </p:txBody>
      </p:sp>
      <p:sp>
        <p:nvSpPr>
          <p:cNvPr id="30" name="Text 24"/>
          <p:cNvSpPr txBox="1"/>
          <p:nvPr/>
        </p:nvSpPr>
        <p:spPr>
          <a:xfrm>
            <a:off x="7498080" y="2139696"/>
            <a:ext cx="1929384" cy="1600200"/>
          </a:xfrm>
          <a:prstGeom prst="rect">
            <a:avLst/>
          </a:prstGeom>
          <a:noFill/>
          <a:ln/>
        </p:spPr>
        <p:txBody>
          <a:bodyPr wrap="square" lIns="0" tIns="0" rIns="0" bIns="0" rtlCol="0" anchor="t"/>
          <a:lstStyle/>
          <a:p>
            <a:pPr marL="0" indent="0">
              <a:buNone/>
            </a:pPr>
            <a:r>
              <a:rPr lang="en-US" sz="1100" dirty="0">
                <a:solidFill>
                  <a:srgbClr val="1F2A37"/>
                </a:solidFill>
                <a:latin typeface="Calibri" pitchFamily="34" charset="0"/>
                <a:ea typeface="Calibri" pitchFamily="34" charset="-122"/>
                <a:cs typeface="Calibri" pitchFamily="34" charset="-120"/>
              </a:rPr>
              <a:t>Reminders and alerts on WhatsApp and SMS, in Hindi and other Indian languages.</a:t>
            </a:r>
            <a:endParaRPr lang="en-US" sz="1100" dirty="0"/>
          </a:p>
          <a:p>
            <a:pPr marL="0" indent="0">
              <a:buNone/>
            </a:pPr>
            <a:r>
              <a:rPr lang="en-US" sz="600" dirty="0">
                <a:solidFill>
                  <a:srgbClr val="1F2A37"/>
                </a:solidFill>
                <a:latin typeface="Calibri" pitchFamily="34" charset="0"/>
                <a:ea typeface="Calibri" pitchFamily="34" charset="-122"/>
                <a:cs typeface="Calibri" pitchFamily="34" charset="-120"/>
              </a:rPr>
              <a:t> </a:t>
            </a:r>
            <a:endParaRPr lang="en-US" sz="1100" dirty="0"/>
          </a:p>
          <a:p>
            <a:pPr marL="0" indent="0">
              <a:buNone/>
            </a:pPr>
            <a:r>
              <a:rPr lang="en-US" sz="1100" b="1" dirty="0">
                <a:solidFill>
                  <a:srgbClr val="E9712F"/>
                </a:solidFill>
                <a:latin typeface="Calibri" pitchFamily="34" charset="0"/>
                <a:ea typeface="Calibri" pitchFamily="34" charset="-122"/>
                <a:cs typeface="Calibri" pitchFamily="34" charset="-120"/>
              </a:rPr>
              <a:t>Helps: </a:t>
            </a:r>
            <a:r>
              <a:rPr lang="en-US" sz="1100" dirty="0">
                <a:solidFill>
                  <a:srgbClr val="1B3A5C"/>
                </a:solidFill>
                <a:latin typeface="Calibri" pitchFamily="34" charset="0"/>
                <a:ea typeface="Calibri" pitchFamily="34" charset="-122"/>
                <a:cs typeface="Calibri" pitchFamily="34" charset="-120"/>
              </a:rPr>
              <a:t>Reaches patients who don't use apps, in small towns and villages.</a:t>
            </a:r>
            <a:endParaRPr lang="en-US" sz="1100" dirty="0"/>
          </a:p>
        </p:txBody>
      </p:sp>
      <p:sp>
        <p:nvSpPr>
          <p:cNvPr id="31" name="Shape 25"/>
          <p:cNvSpPr/>
          <p:nvPr/>
        </p:nvSpPr>
        <p:spPr>
          <a:xfrm>
            <a:off x="9546336" y="2267712"/>
            <a:ext cx="164592" cy="182880"/>
          </a:xfrm>
          <a:prstGeom prst="rightArrow">
            <a:avLst/>
          </a:prstGeom>
          <a:solidFill>
            <a:srgbClr val="2F6DB5"/>
          </a:solidFill>
          <a:ln w="12700">
            <a:solidFill>
              <a:srgbClr val="2F6DB5"/>
            </a:solidFill>
            <a:prstDash val="solid"/>
          </a:ln>
        </p:spPr>
      </p:sp>
      <p:sp>
        <p:nvSpPr>
          <p:cNvPr id="32" name="Future box 4"/>
          <p:cNvSpPr/>
          <p:nvPr/>
        </p:nvSpPr>
        <p:spPr>
          <a:xfrm>
            <a:off x="9720072" y="896112"/>
            <a:ext cx="2167128" cy="2926080"/>
          </a:xfrm>
          <a:prstGeom prst="roundRect">
            <a:avLst>
              <a:gd name="adj" fmla="val 4219"/>
            </a:avLst>
          </a:prstGeom>
          <a:solidFill>
            <a:schemeClr val="tx2">
              <a:lumMod val="20000"/>
              <a:lumOff val="80000"/>
            </a:schemeClr>
          </a:solidFill>
          <a:ln w="15875">
            <a:solidFill>
              <a:schemeClr val="tx2">
                <a:lumMod val="40000"/>
                <a:lumOff val="60000"/>
              </a:schemeClr>
            </a:solidFill>
            <a:prstDash val="dash"/>
          </a:ln>
        </p:spPr>
      </p:sp>
      <p:sp>
        <p:nvSpPr>
          <p:cNvPr id="33" name="Shape 27"/>
          <p:cNvSpPr/>
          <p:nvPr/>
        </p:nvSpPr>
        <p:spPr>
          <a:xfrm>
            <a:off x="9848088" y="1024128"/>
            <a:ext cx="420624" cy="420624"/>
          </a:xfrm>
          <a:prstGeom prst="ellipse">
            <a:avLst/>
          </a:prstGeom>
          <a:solidFill>
            <a:schemeClr val="bg2">
              <a:lumMod val="50000"/>
            </a:schemeClr>
          </a:solidFill>
          <a:ln w="12700">
            <a:solidFill>
              <a:schemeClr val="bg2">
                <a:lumMod val="50000"/>
              </a:schemeClr>
            </a:solidFill>
            <a:prstDash val="solid"/>
          </a:ln>
        </p:spPr>
      </p:sp>
      <p:pic>
        <p:nvPicPr>
          <p:cNvPr id="34" name="Image 4" descr="preencoded.png"/>
          <p:cNvPicPr>
            <a:picLocks noChangeAspect="1"/>
          </p:cNvPicPr>
          <p:nvPr/>
        </p:nvPicPr>
        <p:blipFill>
          <a:blip r:embed="rId6"/>
          <a:stretch>
            <a:fillRect/>
          </a:stretch>
        </p:blipFill>
        <p:spPr>
          <a:xfrm>
            <a:off x="9940625" y="1116665"/>
            <a:ext cx="235549" cy="235549"/>
          </a:xfrm>
          <a:prstGeom prst="rect">
            <a:avLst/>
          </a:prstGeom>
        </p:spPr>
      </p:pic>
      <p:sp>
        <p:nvSpPr>
          <p:cNvPr id="36" name="Text 29"/>
          <p:cNvSpPr txBox="1"/>
          <p:nvPr/>
        </p:nvSpPr>
        <p:spPr>
          <a:xfrm>
            <a:off x="9848088" y="1517904"/>
            <a:ext cx="1929384" cy="566928"/>
          </a:xfrm>
          <a:prstGeom prst="rect">
            <a:avLst/>
          </a:prstGeom>
          <a:noFill/>
          <a:ln/>
        </p:spPr>
        <p:txBody>
          <a:bodyPr wrap="square" lIns="0" tIns="0" rIns="0" bIns="0" rtlCol="0" anchor="ctr"/>
          <a:lstStyle/>
          <a:p>
            <a:pPr marL="0" indent="0">
              <a:buNone/>
            </a:pPr>
            <a:r>
              <a:rPr lang="en-US" sz="1350" b="1" dirty="0">
                <a:solidFill>
                  <a:srgbClr val="1B3A5C"/>
                </a:solidFill>
                <a:latin typeface="Calibri" pitchFamily="34" charset="0"/>
                <a:ea typeface="Calibri" pitchFamily="34" charset="-122"/>
                <a:cs typeface="Calibri" pitchFamily="34" charset="-120"/>
              </a:rPr>
              <a:t>Get approved and grow</a:t>
            </a:r>
            <a:endParaRPr lang="en-US" sz="1350" dirty="0"/>
          </a:p>
        </p:txBody>
      </p:sp>
      <p:sp>
        <p:nvSpPr>
          <p:cNvPr id="37" name="Text 30"/>
          <p:cNvSpPr txBox="1"/>
          <p:nvPr/>
        </p:nvSpPr>
        <p:spPr>
          <a:xfrm>
            <a:off x="9848088" y="2139696"/>
            <a:ext cx="1929384" cy="1600200"/>
          </a:xfrm>
          <a:prstGeom prst="rect">
            <a:avLst/>
          </a:prstGeom>
          <a:noFill/>
          <a:ln/>
        </p:spPr>
        <p:txBody>
          <a:bodyPr wrap="square" lIns="0" tIns="0" rIns="0" bIns="0" rtlCol="0" anchor="t"/>
          <a:lstStyle/>
          <a:p>
            <a:pPr marL="0" indent="0">
              <a:buNone/>
            </a:pPr>
            <a:r>
              <a:rPr lang="en-US" sz="1100" dirty="0">
                <a:solidFill>
                  <a:srgbClr val="1F2A37"/>
                </a:solidFill>
                <a:latin typeface="Calibri" pitchFamily="34" charset="0"/>
                <a:ea typeface="Calibri" pitchFamily="34" charset="-122"/>
                <a:cs typeface="Calibri" pitchFamily="34" charset="-120"/>
              </a:rPr>
              <a:t>Apply for CDSCO medical-device approval and keep patient data in India under the DPDP Act.</a:t>
            </a:r>
            <a:endParaRPr lang="en-US" sz="1100" dirty="0"/>
          </a:p>
          <a:p>
            <a:pPr marL="0" indent="0">
              <a:buNone/>
            </a:pPr>
            <a:r>
              <a:rPr lang="en-US" sz="600" dirty="0">
                <a:solidFill>
                  <a:srgbClr val="1F2A37"/>
                </a:solidFill>
                <a:latin typeface="Calibri" pitchFamily="34" charset="0"/>
                <a:ea typeface="Calibri" pitchFamily="34" charset="-122"/>
                <a:cs typeface="Calibri" pitchFamily="34" charset="-120"/>
              </a:rPr>
              <a:t> </a:t>
            </a:r>
            <a:endParaRPr lang="en-US" sz="1100" dirty="0"/>
          </a:p>
          <a:p>
            <a:pPr marL="0" indent="0">
              <a:buNone/>
            </a:pPr>
            <a:r>
              <a:rPr lang="en-US" sz="1100" b="1" dirty="0">
                <a:solidFill>
                  <a:srgbClr val="E9712F"/>
                </a:solidFill>
                <a:latin typeface="Calibri" pitchFamily="34" charset="0"/>
                <a:ea typeface="Calibri" pitchFamily="34" charset="-122"/>
                <a:cs typeface="Calibri" pitchFamily="34" charset="-120"/>
              </a:rPr>
              <a:t>Helps: </a:t>
            </a:r>
            <a:r>
              <a:rPr lang="en-US" sz="1100" dirty="0">
                <a:solidFill>
                  <a:srgbClr val="1B3A5C"/>
                </a:solidFill>
                <a:latin typeface="Calibri" pitchFamily="34" charset="0"/>
                <a:ea typeface="Calibri" pitchFamily="34" charset="-122"/>
                <a:cs typeface="Calibri" pitchFamily="34" charset="-120"/>
              </a:rPr>
              <a:t>Hospitals, insurers and government health programmes can adopt it safely.</a:t>
            </a:r>
            <a:endParaRPr lang="en-US" sz="1100" dirty="0"/>
          </a:p>
        </p:txBody>
      </p:sp>
      <p:sp>
        <p:nvSpPr>
          <p:cNvPr id="38" name="Text 31"/>
          <p:cNvSpPr txBox="1"/>
          <p:nvPr/>
        </p:nvSpPr>
        <p:spPr>
          <a:xfrm>
            <a:off x="365760" y="3986784"/>
            <a:ext cx="5486400" cy="256032"/>
          </a:xfrm>
          <a:prstGeom prst="rect">
            <a:avLst/>
          </a:prstGeom>
          <a:noFill/>
          <a:ln/>
        </p:spPr>
        <p:txBody>
          <a:bodyPr wrap="square" lIns="0" tIns="0" rIns="0" bIns="0" rtlCol="0" anchor="t"/>
          <a:lstStyle/>
          <a:p>
            <a:pPr marL="0" indent="0">
              <a:buNone/>
            </a:pPr>
            <a:r>
              <a:rPr lang="en-US" sz="1200" b="1" kern="0" spc="100" dirty="0">
                <a:solidFill>
                  <a:srgbClr val="1B3A5C"/>
                </a:solidFill>
                <a:latin typeface="Calibri" pitchFamily="34" charset="0"/>
                <a:ea typeface="Calibri" pitchFamily="34" charset="-122"/>
                <a:cs typeface="Calibri" pitchFamily="34" charset="-120"/>
              </a:rPr>
              <a:t>HOW IT HELPS ORGANISATIONS</a:t>
            </a:r>
            <a:endParaRPr lang="en-US" sz="1200" dirty="0"/>
          </a:p>
        </p:txBody>
      </p:sp>
      <p:sp>
        <p:nvSpPr>
          <p:cNvPr id="39" name="Hospitals and clinics"/>
          <p:cNvSpPr/>
          <p:nvPr/>
        </p:nvSpPr>
        <p:spPr>
          <a:xfrm>
            <a:off x="320040" y="4279392"/>
            <a:ext cx="2770632" cy="1417320"/>
          </a:xfrm>
          <a:prstGeom prst="roundRect">
            <a:avLst>
              <a:gd name="adj" fmla="val 6452"/>
            </a:avLst>
          </a:prstGeom>
          <a:solidFill>
            <a:srgbClr val="FFFFFF"/>
          </a:solidFill>
          <a:ln w="19050">
            <a:solidFill>
              <a:srgbClr val="E9712F"/>
            </a:solidFill>
            <a:prstDash val="solid"/>
          </a:ln>
          <a:effectLst>
            <a:outerShdw blurRad="50800" dist="25400" dir="3600000" algn="bl" rotWithShape="0">
              <a:srgbClr val="000000">
                <a:alpha val="12000"/>
              </a:srgbClr>
            </a:outerShdw>
          </a:effectLst>
        </p:spPr>
      </p:sp>
      <p:sp>
        <p:nvSpPr>
          <p:cNvPr id="40" name="Shape 33"/>
          <p:cNvSpPr/>
          <p:nvPr/>
        </p:nvSpPr>
        <p:spPr>
          <a:xfrm>
            <a:off x="438912" y="4416552"/>
            <a:ext cx="457200" cy="457200"/>
          </a:xfrm>
          <a:prstGeom prst="ellipse">
            <a:avLst/>
          </a:prstGeom>
          <a:solidFill>
            <a:srgbClr val="E9712F"/>
          </a:solidFill>
          <a:ln w="12700">
            <a:solidFill>
              <a:srgbClr val="E9712F"/>
            </a:solidFill>
            <a:prstDash val="solid"/>
          </a:ln>
        </p:spPr>
      </p:sp>
      <p:pic>
        <p:nvPicPr>
          <p:cNvPr id="41" name="Image 5" descr="preencoded.png"/>
          <p:cNvPicPr>
            <a:picLocks noChangeAspect="1"/>
          </p:cNvPicPr>
          <p:nvPr/>
        </p:nvPicPr>
        <p:blipFill>
          <a:blip r:embed="rId4"/>
          <a:stretch>
            <a:fillRect/>
          </a:stretch>
        </p:blipFill>
        <p:spPr>
          <a:xfrm>
            <a:off x="539496" y="4517136"/>
            <a:ext cx="256032" cy="256032"/>
          </a:xfrm>
          <a:prstGeom prst="rect">
            <a:avLst/>
          </a:prstGeom>
        </p:spPr>
      </p:pic>
      <p:sp>
        <p:nvSpPr>
          <p:cNvPr id="42" name="Text 34"/>
          <p:cNvSpPr txBox="1"/>
          <p:nvPr/>
        </p:nvSpPr>
        <p:spPr>
          <a:xfrm>
            <a:off x="1005840" y="4370832"/>
            <a:ext cx="1993392" cy="548640"/>
          </a:xfrm>
          <a:prstGeom prst="rect">
            <a:avLst/>
          </a:prstGeom>
          <a:noFill/>
          <a:ln/>
        </p:spPr>
        <p:txBody>
          <a:bodyPr wrap="square" lIns="0" tIns="0" rIns="0" bIns="0" rtlCol="0" anchor="ctr"/>
          <a:lstStyle/>
          <a:p>
            <a:pPr marL="0" indent="0">
              <a:buNone/>
            </a:pPr>
            <a:r>
              <a:rPr lang="en-US" sz="1250" b="1" dirty="0">
                <a:solidFill>
                  <a:srgbClr val="1B3A5C"/>
                </a:solidFill>
                <a:latin typeface="Calibri" pitchFamily="34" charset="0"/>
                <a:ea typeface="Calibri" pitchFamily="34" charset="-122"/>
                <a:cs typeface="Calibri" pitchFamily="34" charset="-120"/>
              </a:rPr>
              <a:t>Hospitals and clinics</a:t>
            </a:r>
            <a:endParaRPr lang="en-US" sz="1250" dirty="0"/>
          </a:p>
        </p:txBody>
      </p:sp>
      <p:sp>
        <p:nvSpPr>
          <p:cNvPr id="43" name="Text 35"/>
          <p:cNvSpPr txBox="1"/>
          <p:nvPr/>
        </p:nvSpPr>
        <p:spPr>
          <a:xfrm>
            <a:off x="457200" y="4974336"/>
            <a:ext cx="2514600" cy="658368"/>
          </a:xfrm>
          <a:prstGeom prst="rect">
            <a:avLst/>
          </a:prstGeom>
          <a:noFill/>
          <a:ln/>
        </p:spPr>
        <p:txBody>
          <a:bodyPr wrap="square" lIns="0" tIns="0" rIns="0" bIns="0" rtlCol="0" anchor="t"/>
          <a:lstStyle/>
          <a:p>
            <a:pPr marL="0" indent="0">
              <a:buNone/>
            </a:pPr>
            <a:r>
              <a:rPr lang="en-US" sz="1150" dirty="0">
                <a:solidFill>
                  <a:srgbClr val="1F2A37"/>
                </a:solidFill>
                <a:latin typeface="Calibri" pitchFamily="34" charset="0"/>
                <a:ea typeface="Calibri" pitchFamily="34" charset="-122"/>
                <a:cs typeface="Calibri" pitchFamily="34" charset="-120"/>
              </a:rPr>
              <a:t>Spot high risk patients early and plan follow-ups before problems turn into emergencies.</a:t>
            </a:r>
            <a:endParaRPr lang="en-US" sz="1150" dirty="0"/>
          </a:p>
        </p:txBody>
      </p:sp>
      <p:sp>
        <p:nvSpPr>
          <p:cNvPr id="44" name="Health insurers and company health plans"/>
          <p:cNvSpPr/>
          <p:nvPr/>
        </p:nvSpPr>
        <p:spPr>
          <a:xfrm>
            <a:off x="3236976" y="4279392"/>
            <a:ext cx="2770632" cy="1417320"/>
          </a:xfrm>
          <a:prstGeom prst="roundRect">
            <a:avLst>
              <a:gd name="adj" fmla="val 6452"/>
            </a:avLst>
          </a:prstGeom>
          <a:solidFill>
            <a:srgbClr val="FFFFFF"/>
          </a:solidFill>
          <a:ln w="19050">
            <a:solidFill>
              <a:srgbClr val="2F6DB5"/>
            </a:solidFill>
            <a:prstDash val="solid"/>
          </a:ln>
          <a:effectLst>
            <a:outerShdw blurRad="50800" dist="25400" dir="3600000" algn="bl" rotWithShape="0">
              <a:srgbClr val="000000">
                <a:alpha val="12000"/>
              </a:srgbClr>
            </a:outerShdw>
          </a:effectLst>
        </p:spPr>
      </p:sp>
      <p:sp>
        <p:nvSpPr>
          <p:cNvPr id="45" name="Shape 37"/>
          <p:cNvSpPr/>
          <p:nvPr/>
        </p:nvSpPr>
        <p:spPr>
          <a:xfrm>
            <a:off x="3355848" y="4416552"/>
            <a:ext cx="457200" cy="457200"/>
          </a:xfrm>
          <a:prstGeom prst="ellipse">
            <a:avLst/>
          </a:prstGeom>
          <a:solidFill>
            <a:srgbClr val="2F6DB5"/>
          </a:solidFill>
          <a:ln w="12700">
            <a:solidFill>
              <a:srgbClr val="2F6DB5"/>
            </a:solidFill>
            <a:prstDash val="solid"/>
          </a:ln>
        </p:spPr>
      </p:sp>
      <p:pic>
        <p:nvPicPr>
          <p:cNvPr id="46" name="Image 6" descr="preencoded.png"/>
          <p:cNvPicPr>
            <a:picLocks noChangeAspect="1"/>
          </p:cNvPicPr>
          <p:nvPr/>
        </p:nvPicPr>
        <p:blipFill>
          <a:blip r:embed="rId7"/>
          <a:stretch>
            <a:fillRect/>
          </a:stretch>
        </p:blipFill>
        <p:spPr>
          <a:xfrm>
            <a:off x="3456432" y="4517136"/>
            <a:ext cx="256032" cy="256032"/>
          </a:xfrm>
          <a:prstGeom prst="rect">
            <a:avLst/>
          </a:prstGeom>
        </p:spPr>
      </p:pic>
      <p:sp>
        <p:nvSpPr>
          <p:cNvPr id="47" name="Text 38"/>
          <p:cNvSpPr txBox="1"/>
          <p:nvPr/>
        </p:nvSpPr>
        <p:spPr>
          <a:xfrm>
            <a:off x="3922776" y="4370832"/>
            <a:ext cx="1993392" cy="548640"/>
          </a:xfrm>
          <a:prstGeom prst="rect">
            <a:avLst/>
          </a:prstGeom>
          <a:noFill/>
          <a:ln/>
        </p:spPr>
        <p:txBody>
          <a:bodyPr wrap="square" lIns="0" tIns="0" rIns="0" bIns="0" rtlCol="0" anchor="ctr"/>
          <a:lstStyle/>
          <a:p>
            <a:pPr marL="0" indent="0">
              <a:buNone/>
            </a:pPr>
            <a:r>
              <a:rPr lang="en-US" sz="1250" b="1" dirty="0">
                <a:solidFill>
                  <a:srgbClr val="1B3A5C"/>
                </a:solidFill>
                <a:latin typeface="Calibri" pitchFamily="34" charset="0"/>
                <a:ea typeface="Calibri" pitchFamily="34" charset="-122"/>
                <a:cs typeface="Calibri" pitchFamily="34" charset="-120"/>
              </a:rPr>
              <a:t>Health insurers and company health plans</a:t>
            </a:r>
            <a:endParaRPr lang="en-US" sz="1250" dirty="0"/>
          </a:p>
        </p:txBody>
      </p:sp>
      <p:sp>
        <p:nvSpPr>
          <p:cNvPr id="48" name="Text 39"/>
          <p:cNvSpPr txBox="1"/>
          <p:nvPr/>
        </p:nvSpPr>
        <p:spPr>
          <a:xfrm>
            <a:off x="3374136" y="4974336"/>
            <a:ext cx="2514600" cy="658368"/>
          </a:xfrm>
          <a:prstGeom prst="rect">
            <a:avLst/>
          </a:prstGeom>
          <a:noFill/>
          <a:ln/>
        </p:spPr>
        <p:txBody>
          <a:bodyPr wrap="square" lIns="0" tIns="0" rIns="0" bIns="0" rtlCol="0" anchor="t"/>
          <a:lstStyle/>
          <a:p>
            <a:pPr marL="0" indent="0">
              <a:buNone/>
            </a:pPr>
            <a:r>
              <a:rPr lang="en-US" sz="1150" dirty="0">
                <a:solidFill>
                  <a:srgbClr val="1F2A37"/>
                </a:solidFill>
                <a:latin typeface="Calibri" pitchFamily="34" charset="0"/>
                <a:ea typeface="Calibri" pitchFamily="34" charset="-122"/>
                <a:cs typeface="Calibri" pitchFamily="34" charset="-120"/>
              </a:rPr>
              <a:t>Catch kidney decline early, while it is still cheaper to treat.</a:t>
            </a:r>
            <a:endParaRPr lang="en-US" sz="1150" dirty="0"/>
          </a:p>
        </p:txBody>
      </p:sp>
      <p:sp>
        <p:nvSpPr>
          <p:cNvPr id="49" name="Pharma companies and researchers"/>
          <p:cNvSpPr/>
          <p:nvPr/>
        </p:nvSpPr>
        <p:spPr>
          <a:xfrm>
            <a:off x="6153912" y="4279392"/>
            <a:ext cx="2770632" cy="1417320"/>
          </a:xfrm>
          <a:prstGeom prst="roundRect">
            <a:avLst>
              <a:gd name="adj" fmla="val 6452"/>
            </a:avLst>
          </a:prstGeom>
          <a:solidFill>
            <a:srgbClr val="FFFFFF"/>
          </a:solidFill>
          <a:ln w="19050">
            <a:solidFill>
              <a:srgbClr val="0F5B66"/>
            </a:solidFill>
            <a:prstDash val="solid"/>
          </a:ln>
          <a:effectLst>
            <a:outerShdw blurRad="50800" dist="25400" dir="3600000" algn="bl" rotWithShape="0">
              <a:srgbClr val="000000">
                <a:alpha val="12000"/>
              </a:srgbClr>
            </a:outerShdw>
          </a:effectLst>
        </p:spPr>
      </p:sp>
      <p:sp>
        <p:nvSpPr>
          <p:cNvPr id="50" name="Shape 41"/>
          <p:cNvSpPr/>
          <p:nvPr/>
        </p:nvSpPr>
        <p:spPr>
          <a:xfrm>
            <a:off x="6272784" y="4416552"/>
            <a:ext cx="457200" cy="457200"/>
          </a:xfrm>
          <a:prstGeom prst="ellipse">
            <a:avLst/>
          </a:prstGeom>
          <a:solidFill>
            <a:srgbClr val="0F5B66"/>
          </a:solidFill>
          <a:ln w="12700">
            <a:solidFill>
              <a:srgbClr val="0F5B66"/>
            </a:solidFill>
            <a:prstDash val="solid"/>
          </a:ln>
        </p:spPr>
      </p:sp>
      <p:pic>
        <p:nvPicPr>
          <p:cNvPr id="51" name="Image 7" descr="preencoded.png"/>
          <p:cNvPicPr>
            <a:picLocks noChangeAspect="1"/>
          </p:cNvPicPr>
          <p:nvPr/>
        </p:nvPicPr>
        <p:blipFill>
          <a:blip r:embed="rId8"/>
          <a:stretch>
            <a:fillRect/>
          </a:stretch>
        </p:blipFill>
        <p:spPr>
          <a:xfrm>
            <a:off x="6373368" y="4517136"/>
            <a:ext cx="256032" cy="256032"/>
          </a:xfrm>
          <a:prstGeom prst="rect">
            <a:avLst/>
          </a:prstGeom>
        </p:spPr>
      </p:pic>
      <p:sp>
        <p:nvSpPr>
          <p:cNvPr id="52" name="Text 42"/>
          <p:cNvSpPr txBox="1"/>
          <p:nvPr/>
        </p:nvSpPr>
        <p:spPr>
          <a:xfrm>
            <a:off x="6839712" y="4370832"/>
            <a:ext cx="1993392" cy="548640"/>
          </a:xfrm>
          <a:prstGeom prst="rect">
            <a:avLst/>
          </a:prstGeom>
          <a:noFill/>
          <a:ln/>
        </p:spPr>
        <p:txBody>
          <a:bodyPr wrap="square" lIns="0" tIns="0" rIns="0" bIns="0" rtlCol="0" anchor="ctr"/>
          <a:lstStyle/>
          <a:p>
            <a:pPr marL="0" indent="0">
              <a:buNone/>
            </a:pPr>
            <a:r>
              <a:rPr lang="en-US" sz="1250" b="1" dirty="0">
                <a:solidFill>
                  <a:srgbClr val="1B3A5C"/>
                </a:solidFill>
                <a:latin typeface="Calibri" pitchFamily="34" charset="0"/>
                <a:ea typeface="Calibri" pitchFamily="34" charset="-122"/>
                <a:cs typeface="Calibri" pitchFamily="34" charset="-120"/>
              </a:rPr>
              <a:t>Pharma companies and researchers</a:t>
            </a:r>
            <a:endParaRPr lang="en-US" sz="1250" dirty="0"/>
          </a:p>
        </p:txBody>
      </p:sp>
      <p:sp>
        <p:nvSpPr>
          <p:cNvPr id="53" name="Text 43"/>
          <p:cNvSpPr txBox="1"/>
          <p:nvPr/>
        </p:nvSpPr>
        <p:spPr>
          <a:xfrm>
            <a:off x="6291072" y="4974336"/>
            <a:ext cx="2514600" cy="658368"/>
          </a:xfrm>
          <a:prstGeom prst="rect">
            <a:avLst/>
          </a:prstGeom>
          <a:noFill/>
          <a:ln/>
        </p:spPr>
        <p:txBody>
          <a:bodyPr wrap="square" lIns="0" tIns="0" rIns="0" bIns="0" rtlCol="0" anchor="t"/>
          <a:lstStyle/>
          <a:p>
            <a:pPr marL="0" indent="0">
              <a:buNone/>
            </a:pPr>
            <a:r>
              <a:rPr lang="en-US" sz="1150" dirty="0">
                <a:solidFill>
                  <a:srgbClr val="1F2A37"/>
                </a:solidFill>
                <a:latin typeface="Calibri" pitchFamily="34" charset="0"/>
                <a:ea typeface="Calibri" pitchFamily="34" charset="-122"/>
                <a:cs typeface="Calibri" pitchFamily="34" charset="-120"/>
              </a:rPr>
              <a:t>Test treatment ideas on virtual patients before planning costly studies.</a:t>
            </a:r>
            <a:endParaRPr lang="en-US" sz="1150" dirty="0"/>
          </a:p>
        </p:txBody>
      </p:sp>
      <p:sp>
        <p:nvSpPr>
          <p:cNvPr id="54" name="Public health programmes"/>
          <p:cNvSpPr/>
          <p:nvPr/>
        </p:nvSpPr>
        <p:spPr>
          <a:xfrm>
            <a:off x="9070848" y="4279392"/>
            <a:ext cx="2770632" cy="1417320"/>
          </a:xfrm>
          <a:prstGeom prst="roundRect">
            <a:avLst>
              <a:gd name="adj" fmla="val 6452"/>
            </a:avLst>
          </a:prstGeom>
          <a:solidFill>
            <a:srgbClr val="FFFFFF"/>
          </a:solidFill>
          <a:ln w="19050">
            <a:solidFill>
              <a:srgbClr val="1B3A5C"/>
            </a:solidFill>
            <a:prstDash val="solid"/>
          </a:ln>
          <a:effectLst>
            <a:outerShdw blurRad="50800" dist="25400" dir="3600000" algn="bl" rotWithShape="0">
              <a:srgbClr val="000000">
                <a:alpha val="12000"/>
              </a:srgbClr>
            </a:outerShdw>
          </a:effectLst>
        </p:spPr>
      </p:sp>
      <p:sp>
        <p:nvSpPr>
          <p:cNvPr id="55" name="Shape 45"/>
          <p:cNvSpPr/>
          <p:nvPr/>
        </p:nvSpPr>
        <p:spPr>
          <a:xfrm>
            <a:off x="9189720" y="4416552"/>
            <a:ext cx="457200" cy="457200"/>
          </a:xfrm>
          <a:prstGeom prst="ellipse">
            <a:avLst/>
          </a:prstGeom>
          <a:solidFill>
            <a:srgbClr val="1B3A5C"/>
          </a:solidFill>
          <a:ln w="12700">
            <a:solidFill>
              <a:srgbClr val="1B3A5C"/>
            </a:solidFill>
            <a:prstDash val="solid"/>
          </a:ln>
        </p:spPr>
      </p:sp>
      <p:pic>
        <p:nvPicPr>
          <p:cNvPr id="56" name="Image 8" descr="preencoded.png"/>
          <p:cNvPicPr>
            <a:picLocks noChangeAspect="1"/>
          </p:cNvPicPr>
          <p:nvPr/>
        </p:nvPicPr>
        <p:blipFill>
          <a:blip r:embed="rId9"/>
          <a:stretch>
            <a:fillRect/>
          </a:stretch>
        </p:blipFill>
        <p:spPr>
          <a:xfrm>
            <a:off x="9290304" y="4517136"/>
            <a:ext cx="256032" cy="256032"/>
          </a:xfrm>
          <a:prstGeom prst="rect">
            <a:avLst/>
          </a:prstGeom>
        </p:spPr>
      </p:pic>
      <p:sp>
        <p:nvSpPr>
          <p:cNvPr id="57" name="Text 46"/>
          <p:cNvSpPr txBox="1"/>
          <p:nvPr/>
        </p:nvSpPr>
        <p:spPr>
          <a:xfrm>
            <a:off x="9756648" y="4370832"/>
            <a:ext cx="1993392" cy="548640"/>
          </a:xfrm>
          <a:prstGeom prst="rect">
            <a:avLst/>
          </a:prstGeom>
          <a:noFill/>
          <a:ln/>
        </p:spPr>
        <p:txBody>
          <a:bodyPr wrap="square" lIns="0" tIns="0" rIns="0" bIns="0" rtlCol="0" anchor="ctr"/>
          <a:lstStyle/>
          <a:p>
            <a:pPr marL="0" indent="0">
              <a:buNone/>
            </a:pPr>
            <a:r>
              <a:rPr lang="en-US" sz="1250" b="1" dirty="0">
                <a:solidFill>
                  <a:srgbClr val="1B3A5C"/>
                </a:solidFill>
                <a:latin typeface="Calibri" pitchFamily="34" charset="0"/>
                <a:ea typeface="Calibri" pitchFamily="34" charset="-122"/>
                <a:cs typeface="Calibri" pitchFamily="34" charset="-120"/>
              </a:rPr>
              <a:t>Public health programmes</a:t>
            </a:r>
            <a:endParaRPr lang="en-US" sz="1250" dirty="0"/>
          </a:p>
        </p:txBody>
      </p:sp>
      <p:sp>
        <p:nvSpPr>
          <p:cNvPr id="58" name="Text 47"/>
          <p:cNvSpPr txBox="1"/>
          <p:nvPr/>
        </p:nvSpPr>
        <p:spPr>
          <a:xfrm>
            <a:off x="9208008" y="4974336"/>
            <a:ext cx="2514600" cy="658368"/>
          </a:xfrm>
          <a:prstGeom prst="rect">
            <a:avLst/>
          </a:prstGeom>
          <a:noFill/>
          <a:ln/>
        </p:spPr>
        <p:txBody>
          <a:bodyPr wrap="square" lIns="0" tIns="0" rIns="0" bIns="0" rtlCol="0" anchor="t"/>
          <a:lstStyle/>
          <a:p>
            <a:pPr marL="0" indent="0">
              <a:buNone/>
            </a:pPr>
            <a:r>
              <a:rPr lang="en-US" sz="1150" dirty="0">
                <a:solidFill>
                  <a:srgbClr val="1F2A37"/>
                </a:solidFill>
                <a:latin typeface="Calibri" pitchFamily="34" charset="0"/>
                <a:ea typeface="Calibri" pitchFamily="34" charset="-122"/>
                <a:cs typeface="Calibri" pitchFamily="34" charset="-120"/>
              </a:rPr>
              <a:t>Track diabetes and kidney risk across a district and plan outreach for the areas at highest risk.</a:t>
            </a:r>
            <a:endParaRPr lang="en-US" sz="1150" dirty="0"/>
          </a:p>
        </p:txBody>
      </p:sp>
      <p:sp>
        <p:nvSpPr>
          <p:cNvPr id="59" name="Text 48"/>
          <p:cNvSpPr txBox="1"/>
          <p:nvPr/>
        </p:nvSpPr>
        <p:spPr>
          <a:xfrm>
            <a:off x="8686800" y="5815584"/>
            <a:ext cx="3200400" cy="411480"/>
          </a:xfrm>
          <a:prstGeom prst="rect">
            <a:avLst/>
          </a:prstGeom>
          <a:noFill/>
          <a:ln/>
        </p:spPr>
        <p:txBody>
          <a:bodyPr wrap="square" lIns="0" tIns="0" rIns="0" bIns="0" rtlCol="0" anchor="ctr"/>
          <a:lstStyle/>
          <a:p>
            <a:pPr marL="0" indent="0" algn="r">
              <a:buNone/>
            </a:pPr>
            <a:r>
              <a:rPr lang="en-US" sz="2200" b="1" dirty="0">
                <a:solidFill>
                  <a:srgbClr val="E9712F"/>
                </a:solidFill>
                <a:latin typeface="Calibri" pitchFamily="34" charset="0"/>
                <a:ea typeface="Calibri" pitchFamily="34" charset="-122"/>
                <a:cs typeface="Calibri" pitchFamily="34" charset="-120"/>
              </a:rPr>
              <a:t>Thank you</a:t>
            </a:r>
            <a:endParaRPr lang="en-US" sz="2200" dirty="0"/>
          </a:p>
        </p:txBody>
      </p:sp>
      <p:sp>
        <p:nvSpPr>
          <p:cNvPr id="61" name="Text 10">
            <a:extLst>
              <a:ext uri="{FF2B5EF4-FFF2-40B4-BE49-F238E27FC236}">
                <a16:creationId xmlns:a16="http://schemas.microsoft.com/office/drawing/2014/main" id="{4ECCB408-EDED-DD13-65AD-702FC5C732C6}"/>
              </a:ext>
            </a:extLst>
          </p:cNvPr>
          <p:cNvSpPr txBox="1"/>
          <p:nvPr/>
        </p:nvSpPr>
        <p:spPr>
          <a:xfrm>
            <a:off x="5696712" y="1006493"/>
            <a:ext cx="1435608" cy="420624"/>
          </a:xfrm>
          <a:prstGeom prst="rect">
            <a:avLst/>
          </a:prstGeom>
          <a:noFill/>
          <a:ln/>
        </p:spPr>
        <p:txBody>
          <a:bodyPr wrap="square" lIns="0" tIns="0" rIns="0" bIns="0" rtlCol="0" anchor="ctr"/>
          <a:lstStyle/>
          <a:p>
            <a:pPr marL="0" indent="0">
              <a:buNone/>
            </a:pPr>
            <a:r>
              <a:rPr lang="en-US" sz="1200" b="1" kern="0" spc="100" dirty="0">
                <a:solidFill>
                  <a:srgbClr val="52606D"/>
                </a:solidFill>
                <a:ea typeface="Calibri" pitchFamily="34" charset="-122"/>
                <a:cs typeface="Calibri" pitchFamily="34" charset="-120"/>
              </a:rPr>
              <a:t>Scope 2</a:t>
            </a:r>
            <a:endParaRPr lang="en-US" sz="1200" dirty="0"/>
          </a:p>
        </p:txBody>
      </p:sp>
      <p:pic>
        <p:nvPicPr>
          <p:cNvPr id="63" name="Image 2" descr="preencoded.png">
            <a:extLst>
              <a:ext uri="{FF2B5EF4-FFF2-40B4-BE49-F238E27FC236}">
                <a16:creationId xmlns:a16="http://schemas.microsoft.com/office/drawing/2014/main" id="{E08BBE06-0D92-1002-9249-7E049C545A0D}"/>
              </a:ext>
            </a:extLst>
          </p:cNvPr>
          <p:cNvPicPr>
            <a:picLocks noChangeAspect="1"/>
          </p:cNvPicPr>
          <p:nvPr/>
        </p:nvPicPr>
        <p:blipFill>
          <a:blip r:embed="rId5"/>
          <a:stretch>
            <a:fillRect/>
          </a:stretch>
        </p:blipFill>
        <p:spPr>
          <a:xfrm>
            <a:off x="7600205" y="1096862"/>
            <a:ext cx="235549" cy="235549"/>
          </a:xfrm>
          <a:prstGeom prst="rect">
            <a:avLst/>
          </a:prstGeom>
        </p:spPr>
      </p:pic>
      <p:sp>
        <p:nvSpPr>
          <p:cNvPr id="65" name="Text 10">
            <a:extLst>
              <a:ext uri="{FF2B5EF4-FFF2-40B4-BE49-F238E27FC236}">
                <a16:creationId xmlns:a16="http://schemas.microsoft.com/office/drawing/2014/main" id="{8FD160FC-7E8A-A4A8-18CB-D21CA58DC5F5}"/>
              </a:ext>
            </a:extLst>
          </p:cNvPr>
          <p:cNvSpPr txBox="1"/>
          <p:nvPr/>
        </p:nvSpPr>
        <p:spPr>
          <a:xfrm>
            <a:off x="7991856" y="1021189"/>
            <a:ext cx="1435608" cy="420624"/>
          </a:xfrm>
          <a:prstGeom prst="rect">
            <a:avLst/>
          </a:prstGeom>
          <a:noFill/>
          <a:ln/>
        </p:spPr>
        <p:txBody>
          <a:bodyPr wrap="square" lIns="0" tIns="0" rIns="0" bIns="0" rtlCol="0" anchor="ctr"/>
          <a:lstStyle/>
          <a:p>
            <a:pPr marL="0" indent="0">
              <a:buNone/>
            </a:pPr>
            <a:r>
              <a:rPr lang="en-US" sz="1200" b="1" kern="0" spc="100" dirty="0">
                <a:solidFill>
                  <a:srgbClr val="52606D"/>
                </a:solidFill>
                <a:ea typeface="Calibri" pitchFamily="34" charset="-122"/>
                <a:cs typeface="Calibri" pitchFamily="34" charset="-120"/>
              </a:rPr>
              <a:t>Scope 3</a:t>
            </a:r>
            <a:endParaRPr lang="en-US" sz="1200" dirty="0"/>
          </a:p>
        </p:txBody>
      </p:sp>
      <p:sp>
        <p:nvSpPr>
          <p:cNvPr id="67" name="Text 10">
            <a:extLst>
              <a:ext uri="{FF2B5EF4-FFF2-40B4-BE49-F238E27FC236}">
                <a16:creationId xmlns:a16="http://schemas.microsoft.com/office/drawing/2014/main" id="{ABF8DFA0-1AF1-3AE4-B457-27CEC3D5FDFF}"/>
              </a:ext>
            </a:extLst>
          </p:cNvPr>
          <p:cNvSpPr txBox="1"/>
          <p:nvPr/>
        </p:nvSpPr>
        <p:spPr>
          <a:xfrm>
            <a:off x="10396728" y="1021189"/>
            <a:ext cx="1435608" cy="420624"/>
          </a:xfrm>
          <a:prstGeom prst="rect">
            <a:avLst/>
          </a:prstGeom>
          <a:noFill/>
          <a:ln/>
        </p:spPr>
        <p:txBody>
          <a:bodyPr wrap="square" lIns="0" tIns="0" rIns="0" bIns="0" rtlCol="0" anchor="ctr"/>
          <a:lstStyle/>
          <a:p>
            <a:pPr marL="0" indent="0">
              <a:buNone/>
            </a:pPr>
            <a:r>
              <a:rPr lang="en-US" sz="1200" b="1" kern="0" spc="100" dirty="0">
                <a:solidFill>
                  <a:srgbClr val="52606D"/>
                </a:solidFill>
                <a:ea typeface="Calibri" pitchFamily="34" charset="-122"/>
                <a:cs typeface="Calibri" pitchFamily="34" charset="-120"/>
              </a:rPr>
              <a:t>Scope 4</a:t>
            </a:r>
            <a:endParaRPr lang="en-US" sz="1200" dirty="0"/>
          </a:p>
        </p:txBody>
      </p:sp>
    </p:spTree>
  </p:cSld>
  <p:clrMapOvr>
    <a:masterClrMapping/>
  </p:clrMapOvr>
</p:sld>
</file>

<file path=ppt/theme/theme1.xml><?xml version="1.0" encoding="utf-8"?>
<a:theme xmlns:a="http://schemas.openxmlformats.org/drawingml/2006/main" name="GlycoRenal Twin">
  <a:themeElements>
    <a:clrScheme name="GlycoRenal Twin">
      <a:dk1>
        <a:srgbClr val="1F2A37"/>
      </a:dk1>
      <a:lt1>
        <a:srgbClr val="FFFFFF"/>
      </a:lt1>
      <a:dk2>
        <a:srgbClr val="1B3A5C"/>
      </a:dk2>
      <a:lt2>
        <a:srgbClr val="F4F7FB"/>
      </a:lt2>
      <a:accent1>
        <a:srgbClr val="E9712F"/>
      </a:accent1>
      <a:accent2>
        <a:srgbClr val="2F6DB5"/>
      </a:accent2>
      <a:accent3>
        <a:srgbClr val="0F5B66"/>
      </a:accent3>
      <a:accent4>
        <a:srgbClr val="2F9A5A"/>
      </a:accent4>
      <a:accent5>
        <a:srgbClr val="E5B92E"/>
      </a:accent5>
      <a:accent6>
        <a:srgbClr val="C6363A"/>
      </a:accent6>
      <a:hlink>
        <a:srgbClr val="2F6DB5"/>
      </a:hlink>
      <a:folHlink>
        <a:srgbClr val="6B4FA0"/>
      </a:folHlink>
    </a:clrScheme>
    <a:fontScheme name="GlycoRenal Twin">
      <a:majorFont>
        <a:latin typeface="Calibri"/>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emplate>Glycorenal twin</Template>
  <TotalTime>4</TotalTime>
  <Words>3179</Words>
  <Application>Microsoft Office PowerPoint</Application>
  <PresentationFormat>Widescreen</PresentationFormat>
  <Paragraphs>370</Paragraphs>
  <Slides>11</Slides>
  <Notes>11</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11</vt:i4>
      </vt:variant>
    </vt:vector>
  </HeadingPairs>
  <TitlesOfParts>
    <vt:vector size="15" baseType="lpstr">
      <vt:lpstr>Arial</vt:lpstr>
      <vt:lpstr>Calibri</vt:lpstr>
      <vt:lpstr>Courier New</vt:lpstr>
      <vt:lpstr>GlycoRenal Twin</vt:lpstr>
      <vt:lpstr>PowerPoint Presentation</vt:lpstr>
      <vt:lpstr>Problem &amp; Approach</vt:lpstr>
      <vt:lpstr>Our USPs</vt:lpstr>
      <vt:lpstr>Architecture</vt:lpstr>
      <vt:lpstr>Methodology</vt:lpstr>
      <vt:lpstr>Personal, Progressive Twin</vt:lpstr>
      <vt:lpstr>Treatment Advisor</vt:lpstr>
      <vt:lpstr>Models, Training &amp; Evaluation</vt:lpstr>
      <vt:lpstr>Doctor Portal &amp; Patient App</vt:lpstr>
      <vt:lpstr>AI Assistant, Safety &amp; Engineering</vt:lpstr>
      <vt:lpstr>Future Scope</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Digital Twin Challenge 2026</dc:subject>
  <dc:creator>Shiwangi Singh</dc:creator>
  <cp:lastModifiedBy>Shiwangi Singh</cp:lastModifiedBy>
  <cp:revision>2</cp:revision>
  <dcterms:created xsi:type="dcterms:W3CDTF">2026-10-19T18:45:03Z</dcterms:created>
  <dcterms:modified xsi:type="dcterms:W3CDTF">2026-10-25T21:13:47Z</dcterms:modified>
</cp:coreProperties>
</file>